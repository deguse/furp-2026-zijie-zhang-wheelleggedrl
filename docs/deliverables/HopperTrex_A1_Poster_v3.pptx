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21383625" cy="302752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" d="100"/>
          <a:sy n="20" d="100"/>
        </p:scale>
        <p:origin x="1797" y="-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4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Station drift: −83.68%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64593698175788"/>
          <c:y val="0.25033757716049382"/>
          <c:w val="0.52916666666666667"/>
          <c:h val="0.43458757716049384"/>
        </c:manualLayout>
      </c:layout>
      <c:scatterChart>
        <c:scatterStyle val="lineMarker"/>
        <c:varyColors val="1"/>
        <c:ser>
          <c:idx val="0"/>
          <c:order val="0"/>
          <c:tx>
            <c:v>Before h=0.3024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4.5166760683059699E-2</c:v>
                </c:pt>
                <c:pt idx="1">
                  <c:v>1.5953615307807902E-2</c:v>
                </c:pt>
                <c:pt idx="2">
                  <c:v>-1.2893886305391801E-2</c:v>
                </c:pt>
                <c:pt idx="3">
                  <c:v>-4.1737437248230001E-2</c:v>
                </c:pt>
                <c:pt idx="4">
                  <c:v>-7.0510409772396102E-2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AC7-4B2E-A638-2A904175F9F7}"/>
            </c:ext>
          </c:extLst>
        </c:ser>
        <c:ser>
          <c:idx val="1"/>
          <c:order val="1"/>
          <c:tx>
            <c:v>Before h=0.3085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Data'!$D$2:$D$6</c:f>
              <c:numCache>
                <c:formatCode>0.00</c:formatCode>
                <c:ptCount val="5"/>
                <c:pt idx="0">
                  <c:v>4.5472349971532801E-2</c:v>
                </c:pt>
                <c:pt idx="1">
                  <c:v>1.6064113005995799E-2</c:v>
                </c:pt>
                <c:pt idx="2">
                  <c:v>-1.23117920011282E-2</c:v>
                </c:pt>
                <c:pt idx="3">
                  <c:v>-4.1218604892492301E-2</c:v>
                </c:pt>
                <c:pt idx="4">
                  <c:v>-7.0468522608280196E-2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AC7-4B2E-A638-2A904175F9F7}"/>
            </c:ext>
          </c:extLst>
        </c:ser>
        <c:ser>
          <c:idx val="2"/>
          <c:order val="2"/>
          <c:tx>
            <c:v>Before h=0.3146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Data'!$F$2:$F$6</c:f>
              <c:numCache>
                <c:formatCode>0.00</c:formatCode>
                <c:ptCount val="5"/>
                <c:pt idx="0">
                  <c:v>4.5883148908615098E-2</c:v>
                </c:pt>
                <c:pt idx="1">
                  <c:v>1.6123753041029001E-2</c:v>
                </c:pt>
                <c:pt idx="2">
                  <c:v>-1.23498747125268E-2</c:v>
                </c:pt>
                <c:pt idx="3">
                  <c:v>-4.1733469814062098E-2</c:v>
                </c:pt>
                <c:pt idx="4">
                  <c:v>-7.0449784398078905E-2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AC7-4B2E-A638-2A904175F9F7}"/>
            </c:ext>
          </c:extLst>
        </c:ser>
        <c:ser>
          <c:idx val="3"/>
          <c:order val="3"/>
          <c:tx>
            <c:v>Before h=0.3206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Data'!$H$2:$H$6</c:f>
              <c:numCache>
                <c:formatCode>0.00</c:formatCode>
                <c:ptCount val="5"/>
                <c:pt idx="0">
                  <c:v>4.5523285865783698E-2</c:v>
                </c:pt>
                <c:pt idx="1">
                  <c:v>1.6368433833122299E-2</c:v>
                </c:pt>
                <c:pt idx="2">
                  <c:v>-1.2368792667985001E-2</c:v>
                </c:pt>
                <c:pt idx="3">
                  <c:v>-4.1688725352287299E-2</c:v>
                </c:pt>
                <c:pt idx="4">
                  <c:v>-7.0818208158016205E-2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DAC7-4B2E-A638-2A904175F9F7}"/>
            </c:ext>
          </c:extLst>
        </c:ser>
        <c:ser>
          <c:idx val="4"/>
          <c:order val="4"/>
          <c:tx>
            <c:v>Before h=0.3267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Data'!$I$2:$I$6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Data'!$J$2:$J$6</c:f>
              <c:numCache>
                <c:formatCode>0.00</c:formatCode>
                <c:ptCount val="5"/>
                <c:pt idx="0">
                  <c:v>4.5277591794729198E-2</c:v>
                </c:pt>
                <c:pt idx="1">
                  <c:v>1.63174774497747E-2</c:v>
                </c:pt>
                <c:pt idx="2">
                  <c:v>-1.27725135535002E-2</c:v>
                </c:pt>
                <c:pt idx="3">
                  <c:v>-4.22107949852943E-2</c:v>
                </c:pt>
                <c:pt idx="4">
                  <c:v>-7.1028359234332997E-2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AC7-4B2E-A638-2A904175F9F7}"/>
            </c:ext>
          </c:extLst>
        </c:ser>
        <c:ser>
          <c:idx val="5"/>
          <c:order val="5"/>
          <c:tx>
            <c:v>After h=0.3024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-7.6298052445054098E-3</c:v>
                </c:pt>
                <c:pt idx="1">
                  <c:v>-2.4557590950280402E-3</c:v>
                </c:pt>
                <c:pt idx="2">
                  <c:v>1.60477613098919E-3</c:v>
                </c:pt>
                <c:pt idx="3">
                  <c:v>6.3251256942748997E-3</c:v>
                </c:pt>
                <c:pt idx="4">
                  <c:v>1.13534340634942E-2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DAC7-4B2E-A638-2A904175F9F7}"/>
            </c:ext>
          </c:extLst>
        </c:ser>
        <c:ser>
          <c:idx val="6"/>
          <c:order val="6"/>
          <c:tx>
            <c:v>After h=0.3085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-7.7438564039766797E-3</c:v>
                </c:pt>
                <c:pt idx="1">
                  <c:v>-2.4650860577821701E-3</c:v>
                </c:pt>
                <c:pt idx="2">
                  <c:v>2.0972939673811202E-3</c:v>
                </c:pt>
                <c:pt idx="3">
                  <c:v>6.99933338910341E-3</c:v>
                </c:pt>
                <c:pt idx="4">
                  <c:v>1.15892617031932E-2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DAC7-4B2E-A638-2A904175F9F7}"/>
            </c:ext>
          </c:extLst>
        </c:ser>
        <c:ser>
          <c:idx val="7"/>
          <c:order val="7"/>
          <c:tx>
            <c:v>After h=0.3146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-7.0896209217608001E-3</c:v>
                </c:pt>
                <c:pt idx="1">
                  <c:v>-2.68154684454203E-3</c:v>
                </c:pt>
                <c:pt idx="2">
                  <c:v>2.36732815392315E-3</c:v>
                </c:pt>
                <c:pt idx="3">
                  <c:v>6.9160596467554604E-3</c:v>
                </c:pt>
                <c:pt idx="4">
                  <c:v>1.13984439522028E-2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DAC7-4B2E-A638-2A904175F9F7}"/>
            </c:ext>
          </c:extLst>
        </c:ser>
        <c:ser>
          <c:idx val="8"/>
          <c:order val="8"/>
          <c:tx>
            <c:v>After h=0.3206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Data'!$Q$2:$Q$6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Data'!$R$2:$R$6</c:f>
              <c:numCache>
                <c:formatCode>0.00</c:formatCode>
                <c:ptCount val="5"/>
                <c:pt idx="0">
                  <c:v>-7.1378988213837103E-3</c:v>
                </c:pt>
                <c:pt idx="1">
                  <c:v>-2.48770019970834E-3</c:v>
                </c:pt>
                <c:pt idx="2">
                  <c:v>1.5672380104661001E-3</c:v>
                </c:pt>
                <c:pt idx="3">
                  <c:v>6.9372295401990396E-3</c:v>
                </c:pt>
                <c:pt idx="4">
                  <c:v>1.1227017268538499E-2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DAC7-4B2E-A638-2A904175F9F7}"/>
            </c:ext>
          </c:extLst>
        </c:ser>
        <c:ser>
          <c:idx val="9"/>
          <c:order val="9"/>
          <c:tx>
            <c:v>After h=0.3267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Data'!$S$2:$S$6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Data'!$T$2:$T$6</c:f>
              <c:numCache>
                <c:formatCode>0.00</c:formatCode>
                <c:ptCount val="5"/>
                <c:pt idx="0">
                  <c:v>-7.7213221229612801E-3</c:v>
                </c:pt>
                <c:pt idx="1">
                  <c:v>-2.5435301940888201E-3</c:v>
                </c:pt>
                <c:pt idx="2">
                  <c:v>1.8619117327034499E-3</c:v>
                </c:pt>
                <c:pt idx="3">
                  <c:v>6.6144876182079298E-3</c:v>
                </c:pt>
                <c:pt idx="4">
                  <c:v>1.13133192062378E-2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DAC7-4B2E-A638-2A904175F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.04"/>
          <c:min val="-0.08"/>
        </c:scaling>
        <c:delete val="0"/>
        <c:axPos val="l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7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Mean vx (m/s)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04"/>
      </c:valAx>
      <c:valAx>
        <c:axId val="48650112"/>
        <c:scaling>
          <c:orientation val="minMax"/>
          <c:max val="0.08"/>
          <c:min val="-0.08"/>
        </c:scaling>
        <c:delete val="0"/>
        <c:axPos val="b"/>
        <c:title>
          <c:tx>
            <c:rich>
              <a:bodyPr/>
              <a:lstStyle/>
              <a:p>
                <a:r>
                  <a:rPr lang="en-US" sz="17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Commanded pitch (rad)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0.08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4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Speed peak: −94.44%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Worst of 12 transitions</c:v>
          </c:tx>
          <c:spPr>
            <a:ln w="31750">
              <a:solidFill>
                <a:srgbClr val="087F8C"/>
              </a:solidFill>
            </a:ln>
          </c:spPr>
          <c:marker>
            <c:symbol val="circle"/>
            <c:size val="9"/>
            <c:spPr>
              <a:solidFill>
                <a:srgbClr val="087F8C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Step</c:v>
                </c:pt>
                <c:pt idx="1">
                  <c:v>0.5 s</c:v>
                </c:pt>
                <c:pt idx="2">
                  <c:v>1.0 s</c:v>
                </c:pt>
                <c:pt idx="3">
                  <c:v>2.0 s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0.99557447433471702</c:v>
                </c:pt>
                <c:pt idx="1">
                  <c:v>0.219160676002502</c:v>
                </c:pt>
                <c:pt idx="2">
                  <c:v>8.52367728948593E-2</c:v>
                </c:pt>
                <c:pt idx="3">
                  <c:v>5.5334124714136103E-2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C2-42A4-9626-42BD79D23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7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Peak |vx| (m/s)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3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Classical vs Hybrid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Mean recovery time (s)</c:v>
          </c:tx>
          <c:spPr>
            <a:solidFill>
              <a:srgbClr val="6B7E91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87F8C"/>
              </a:solidFill>
            </c:spPr>
            <c:extLst>
              <c:ext xmlns:c16="http://schemas.microsoft.com/office/drawing/2014/chart" uri="{C3380CC4-5D6E-409C-BE32-E72D297353CC}">
                <c16:uniqueId val="{00000001-46B0-4CD6-A06D-AEDC4761B03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6B0-4CD6-A06D-AEDC4761B0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00" b="1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Hybrid</c:v>
                </c:pt>
                <c:pt idx="1">
                  <c:v>Classical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0.88718750000000002</c:v>
                </c:pt>
                <c:pt idx="1">
                  <c:v>1.01296875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6B0-4CD6-A06D-AEDC4761B0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b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7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Mean recovery time (s)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4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3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Leg-channel ablation</a:t>
            </a:r>
          </a:p>
        </c:rich>
      </c:tx>
      <c:layout>
        <c:manualLayout>
          <c:xMode val="edge"/>
          <c:yMode val="edge"/>
          <c:x val="9.8875918720276706E-2"/>
          <c:y val="3.9197530864197534E-2"/>
        </c:manualLayout>
      </c:layout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Gain vs matched baseline</c:v>
          </c:tx>
          <c:spPr>
            <a:solidFill>
              <a:srgbClr val="087F8C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C77917"/>
              </a:solidFill>
            </c:spPr>
            <c:extLst>
              <c:ext xmlns:c16="http://schemas.microsoft.com/office/drawing/2014/chart" uri="{C3380CC4-5D6E-409C-BE32-E72D297353CC}">
                <c16:uniqueId val="{00000001-9B20-4FF6-A44A-D6EA115EF20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B20-4FF6-A44A-D6EA115EF2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00" b="1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Legs masked</c:v>
                </c:pt>
                <c:pt idx="1">
                  <c:v>Full residual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3.8214565387627401E-2</c:v>
                </c:pt>
                <c:pt idx="1">
                  <c:v>0.124170908530001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B20-4FF6-A44A-D6EA115EF2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5"/>
          <c:min val="0"/>
        </c:scaling>
        <c:delete val="0"/>
        <c:axPos val="b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7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Recovery improvement</a:t>
                </a:r>
              </a:p>
            </c:rich>
          </c:tx>
          <c:overlay val="0"/>
        </c:title>
        <c:numFmt formatCode="0.00%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7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6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Station drift: −83.68%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64593698175788"/>
          <c:y val="0.25033757716049382"/>
          <c:w val="0.5"/>
          <c:h val="0.43458757716049384"/>
        </c:manualLayout>
      </c:layout>
      <c:scatterChart>
        <c:scatterStyle val="lineMarker"/>
        <c:varyColors val="1"/>
        <c:ser>
          <c:idx val="0"/>
          <c:order val="0"/>
          <c:tx>
            <c:v>Before h=0.3024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4.5166760683059699E-2</c:v>
                </c:pt>
                <c:pt idx="1">
                  <c:v>1.5953615307807902E-2</c:v>
                </c:pt>
                <c:pt idx="2">
                  <c:v>-1.2893886305391801E-2</c:v>
                </c:pt>
                <c:pt idx="3">
                  <c:v>-4.1737437248230001E-2</c:v>
                </c:pt>
                <c:pt idx="4">
                  <c:v>-7.0510409772396102E-2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AC7-4B2E-A638-2A904175F9F7}"/>
            </c:ext>
          </c:extLst>
        </c:ser>
        <c:ser>
          <c:idx val="1"/>
          <c:order val="1"/>
          <c:tx>
            <c:v>Before h=0.3085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Data'!$D$2:$D$6</c:f>
              <c:numCache>
                <c:formatCode>0.00</c:formatCode>
                <c:ptCount val="5"/>
                <c:pt idx="0">
                  <c:v>4.5472349971532801E-2</c:v>
                </c:pt>
                <c:pt idx="1">
                  <c:v>1.6064113005995799E-2</c:v>
                </c:pt>
                <c:pt idx="2">
                  <c:v>-1.23117920011282E-2</c:v>
                </c:pt>
                <c:pt idx="3">
                  <c:v>-4.1218604892492301E-2</c:v>
                </c:pt>
                <c:pt idx="4">
                  <c:v>-7.0468522608280196E-2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AC7-4B2E-A638-2A904175F9F7}"/>
            </c:ext>
          </c:extLst>
        </c:ser>
        <c:ser>
          <c:idx val="2"/>
          <c:order val="2"/>
          <c:tx>
            <c:v>Before h=0.3146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Data'!$F$2:$F$6</c:f>
              <c:numCache>
                <c:formatCode>0.00</c:formatCode>
                <c:ptCount val="5"/>
                <c:pt idx="0">
                  <c:v>4.5883148908615098E-2</c:v>
                </c:pt>
                <c:pt idx="1">
                  <c:v>1.6123753041029001E-2</c:v>
                </c:pt>
                <c:pt idx="2">
                  <c:v>-1.23498747125268E-2</c:v>
                </c:pt>
                <c:pt idx="3">
                  <c:v>-4.1733469814062098E-2</c:v>
                </c:pt>
                <c:pt idx="4">
                  <c:v>-7.0449784398078905E-2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AC7-4B2E-A638-2A904175F9F7}"/>
            </c:ext>
          </c:extLst>
        </c:ser>
        <c:ser>
          <c:idx val="3"/>
          <c:order val="3"/>
          <c:tx>
            <c:v>Before h=0.3206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Data'!$H$2:$H$6</c:f>
              <c:numCache>
                <c:formatCode>0.00</c:formatCode>
                <c:ptCount val="5"/>
                <c:pt idx="0">
                  <c:v>4.5523285865783698E-2</c:v>
                </c:pt>
                <c:pt idx="1">
                  <c:v>1.6368433833122299E-2</c:v>
                </c:pt>
                <c:pt idx="2">
                  <c:v>-1.2368792667985001E-2</c:v>
                </c:pt>
                <c:pt idx="3">
                  <c:v>-4.1688725352287299E-2</c:v>
                </c:pt>
                <c:pt idx="4">
                  <c:v>-7.0818208158016205E-2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DAC7-4B2E-A638-2A904175F9F7}"/>
            </c:ext>
          </c:extLst>
        </c:ser>
        <c:ser>
          <c:idx val="4"/>
          <c:order val="4"/>
          <c:tx>
            <c:v>Before h=0.3267</c:v>
          </c:tx>
          <c:spPr>
            <a:ln w="31750">
              <a:solidFill>
                <a:srgbClr val="6B7E91"/>
              </a:solidFill>
              <a:prstDash val="dash"/>
            </a:ln>
          </c:spPr>
          <c:marker>
            <c:symbol val="square"/>
            <c:size val="7"/>
            <c:spPr>
              <a:solidFill>
                <a:srgbClr val="6B7E91"/>
              </a:solidFill>
            </c:spPr>
          </c:marker>
          <c:xVal>
            <c:numRef>
              <c:f>'Chart Data'!$I$2:$I$6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Data'!$J$2:$J$6</c:f>
              <c:numCache>
                <c:formatCode>0.00</c:formatCode>
                <c:ptCount val="5"/>
                <c:pt idx="0">
                  <c:v>4.5277591794729198E-2</c:v>
                </c:pt>
                <c:pt idx="1">
                  <c:v>1.63174774497747E-2</c:v>
                </c:pt>
                <c:pt idx="2">
                  <c:v>-1.27725135535002E-2</c:v>
                </c:pt>
                <c:pt idx="3">
                  <c:v>-4.22107949852943E-2</c:v>
                </c:pt>
                <c:pt idx="4">
                  <c:v>-7.1028359234332997E-2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DAC7-4B2E-A638-2A904175F9F7}"/>
            </c:ext>
          </c:extLst>
        </c:ser>
        <c:ser>
          <c:idx val="5"/>
          <c:order val="5"/>
          <c:tx>
            <c:v>After h=0.3024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-7.6298052445054098E-3</c:v>
                </c:pt>
                <c:pt idx="1">
                  <c:v>-2.4557590950280402E-3</c:v>
                </c:pt>
                <c:pt idx="2">
                  <c:v>1.60477613098919E-3</c:v>
                </c:pt>
                <c:pt idx="3">
                  <c:v>6.3251256942748997E-3</c:v>
                </c:pt>
                <c:pt idx="4">
                  <c:v>1.13534340634942E-2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DAC7-4B2E-A638-2A904175F9F7}"/>
            </c:ext>
          </c:extLst>
        </c:ser>
        <c:ser>
          <c:idx val="6"/>
          <c:order val="6"/>
          <c:tx>
            <c:v>After h=0.3085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-7.7438564039766797E-3</c:v>
                </c:pt>
                <c:pt idx="1">
                  <c:v>-2.4650860577821701E-3</c:v>
                </c:pt>
                <c:pt idx="2">
                  <c:v>2.0972939673811202E-3</c:v>
                </c:pt>
                <c:pt idx="3">
                  <c:v>6.99933338910341E-3</c:v>
                </c:pt>
                <c:pt idx="4">
                  <c:v>1.15892617031932E-2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DAC7-4B2E-A638-2A904175F9F7}"/>
            </c:ext>
          </c:extLst>
        </c:ser>
        <c:ser>
          <c:idx val="7"/>
          <c:order val="7"/>
          <c:tx>
            <c:v>After h=0.3146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-7.0896209217608001E-3</c:v>
                </c:pt>
                <c:pt idx="1">
                  <c:v>-2.68154684454203E-3</c:v>
                </c:pt>
                <c:pt idx="2">
                  <c:v>2.36732815392315E-3</c:v>
                </c:pt>
                <c:pt idx="3">
                  <c:v>6.9160596467554604E-3</c:v>
                </c:pt>
                <c:pt idx="4">
                  <c:v>1.13984439522028E-2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DAC7-4B2E-A638-2A904175F9F7}"/>
            </c:ext>
          </c:extLst>
        </c:ser>
        <c:ser>
          <c:idx val="8"/>
          <c:order val="8"/>
          <c:tx>
            <c:v>After h=0.3206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Data'!$Q$2:$Q$6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Data'!$R$2:$R$6</c:f>
              <c:numCache>
                <c:formatCode>0.00</c:formatCode>
                <c:ptCount val="5"/>
                <c:pt idx="0">
                  <c:v>-7.1378988213837103E-3</c:v>
                </c:pt>
                <c:pt idx="1">
                  <c:v>-2.48770019970834E-3</c:v>
                </c:pt>
                <c:pt idx="2">
                  <c:v>1.5672380104661001E-3</c:v>
                </c:pt>
                <c:pt idx="3">
                  <c:v>6.9372295401990396E-3</c:v>
                </c:pt>
                <c:pt idx="4">
                  <c:v>1.1227017268538499E-2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DAC7-4B2E-A638-2A904175F9F7}"/>
            </c:ext>
          </c:extLst>
        </c:ser>
        <c:ser>
          <c:idx val="9"/>
          <c:order val="9"/>
          <c:tx>
            <c:v>After h=0.3267</c:v>
          </c:tx>
          <c:spPr>
            <a:ln w="31750">
              <a:solidFill>
                <a:srgbClr val="087F8C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87F8C"/>
              </a:solidFill>
            </c:spPr>
          </c:marker>
          <c:xVal>
            <c:numRef>
              <c:f>'Chart Data'!$S$2:$S$6</c:f>
              <c:numCache>
                <c:formatCode>General</c:formatCode>
                <c:ptCount val="5"/>
                <c:pt idx="0">
                  <c:v>-7.9140027919641004E-2</c:v>
                </c:pt>
                <c:pt idx="1">
                  <c:v>-4.0354653665737497E-2</c:v>
                </c:pt>
                <c:pt idx="2">
                  <c:v>-1.5692794118340001E-3</c:v>
                </c:pt>
                <c:pt idx="3">
                  <c:v>3.7216094842069503E-2</c:v>
                </c:pt>
                <c:pt idx="4">
                  <c:v>7.6001469095972995E-2</c:v>
                </c:pt>
              </c:numCache>
            </c:numRef>
          </c:xVal>
          <c:yVal>
            <c:numRef>
              <c:f>'Chart Data'!$T$2:$T$6</c:f>
              <c:numCache>
                <c:formatCode>0.00</c:formatCode>
                <c:ptCount val="5"/>
                <c:pt idx="0">
                  <c:v>-7.7213221229612801E-3</c:v>
                </c:pt>
                <c:pt idx="1">
                  <c:v>-2.5435301940888201E-3</c:v>
                </c:pt>
                <c:pt idx="2">
                  <c:v>1.8619117327034499E-3</c:v>
                </c:pt>
                <c:pt idx="3">
                  <c:v>6.6144876182079298E-3</c:v>
                </c:pt>
                <c:pt idx="4">
                  <c:v>1.13133192062378E-2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DAC7-4B2E-A638-2A904175F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0.04"/>
          <c:min val="-0.08"/>
        </c:scaling>
        <c:delete val="0"/>
        <c:axPos val="l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20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Mean vx (m/s)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20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0.04"/>
      </c:valAx>
      <c:valAx>
        <c:axId val="48650112"/>
        <c:scaling>
          <c:orientation val="minMax"/>
          <c:max val="0.08"/>
          <c:min val="-0.08"/>
        </c:scaling>
        <c:delete val="0"/>
        <c:axPos val="b"/>
        <c:title>
          <c:tx>
            <c:rich>
              <a:bodyPr/>
              <a:lstStyle/>
              <a:p>
                <a:r>
                  <a:rPr lang="en-US" sz="20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Commanded pitch (rad)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20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0.08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6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Speed peak: −94.44%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Worst of 12 transitions</c:v>
          </c:tx>
          <c:spPr>
            <a:ln w="31750">
              <a:solidFill>
                <a:srgbClr val="087F8C"/>
              </a:solidFill>
            </a:ln>
          </c:spPr>
          <c:marker>
            <c:symbol val="circle"/>
            <c:size val="9"/>
            <c:spPr>
              <a:solidFill>
                <a:srgbClr val="087F8C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Step (unshaped)</c:v>
                </c:pt>
                <c:pt idx="1">
                  <c:v>0.5 s</c:v>
                </c:pt>
                <c:pt idx="2">
                  <c:v>1.0 s</c:v>
                </c:pt>
                <c:pt idx="3">
                  <c:v>2.0 s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0.99557447433471702</c:v>
                </c:pt>
                <c:pt idx="1">
                  <c:v>0.219160676002502</c:v>
                </c:pt>
                <c:pt idx="2">
                  <c:v>8.52367728948593E-2</c:v>
                </c:pt>
                <c:pt idx="3">
                  <c:v>5.5334124714136103E-2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C2-42A4-9626-42BD79D23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000" b="0"/>
                </a:pPr>
                <a:r>
                  <a:rPr lang="en-US" sz="2000" b="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Command shaping duration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20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20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Peak |vx| (m/s)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20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6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Classical vs Hybrid (lower is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Mean recovery time (s)</c:v>
          </c:tx>
          <c:spPr>
            <a:solidFill>
              <a:srgbClr val="6B7E91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87F8C"/>
              </a:solidFill>
            </c:spPr>
            <c:extLst>
              <c:ext xmlns:c16="http://schemas.microsoft.com/office/drawing/2014/chart" uri="{C3380CC4-5D6E-409C-BE32-E72D297353CC}">
                <c16:uniqueId val="{00000001-46B0-4CD6-A06D-AEDC4761B03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6B0-4CD6-A06D-AEDC4761B0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Hybrid</c:v>
                </c:pt>
                <c:pt idx="1">
                  <c:v>Classical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0.88718750000000002</c:v>
                </c:pt>
                <c:pt idx="1">
                  <c:v>1.01296875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6B0-4CD6-A06D-AEDC4761B0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tickLblSkip val="1"/>
        <c:noMultiLvlLbl val="1"/>
      </c:catAx>
      <c:valAx>
        <c:axId val="48672768"/>
        <c:scaling>
          <c:orientation val="minMax"/>
          <c:max val="1.2"/>
          <c:min val="0"/>
        </c:scaling>
        <c:delete val="0"/>
        <c:axPos val="b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Mean recovery time (s)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4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26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Leg-channel ablation</a:t>
            </a:r>
          </a:p>
        </c:rich>
      </c:tx>
      <c:layout>
        <c:manualLayout>
          <c:xMode val="edge"/>
          <c:yMode val="edge"/>
          <c:x val="9.8875918720276706E-2"/>
          <c:y val="3.9197530864197534E-2"/>
        </c:manualLayout>
      </c:layout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Gain vs matched baseline</c:v>
          </c:tx>
          <c:spPr>
            <a:solidFill>
              <a:srgbClr val="087F8C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C77917"/>
              </a:solidFill>
            </c:spPr>
            <c:extLst>
              <c:ext xmlns:c16="http://schemas.microsoft.com/office/drawing/2014/chart" uri="{C3380CC4-5D6E-409C-BE32-E72D297353CC}">
                <c16:uniqueId val="{00000001-9B20-4FF6-A44A-D6EA115EF20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B20-4FF6-A44A-D6EA115EF2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Legs masked</c:v>
                </c:pt>
                <c:pt idx="1">
                  <c:v>Full residual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3.8214565387627401E-2</c:v>
                </c:pt>
                <c:pt idx="1">
                  <c:v>0.124170908530001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B20-4FF6-A44A-D6EA115EF2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tickLblSkip val="1"/>
        <c:noMultiLvlLbl val="1"/>
      </c:catAx>
      <c:valAx>
        <c:axId val="48672768"/>
        <c:scaling>
          <c:orientation val="minMax"/>
          <c:max val="0.15"/>
          <c:min val="0"/>
        </c:scaling>
        <c:delete val="0"/>
        <c:axPos val="b"/>
        <c:majorGridlines>
          <c:spPr>
            <a:ln w="7620">
              <a:solidFill>
                <a:srgbClr val="D5E0E7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solidFill>
                      <a:srgbClr val="173149"/>
                    </a:solidFill>
                    <a:latin typeface="Arial"/>
                    <a:ea typeface="Arial"/>
                    <a:cs typeface="Arial"/>
                  </a:rPr>
                  <a:t>Recovery improvement</a:t>
                </a:r>
              </a:p>
            </c:rich>
          </c:tx>
          <c:overlay val="0"/>
        </c:title>
        <c:numFmt formatCode="0.00%" sourceLinked="1"/>
        <c:majorTickMark val="none"/>
        <c:minorTickMark val="none"/>
        <c:tickLblPos val="low"/>
        <c:spPr>
          <a:ln w="8890">
            <a:solidFill>
              <a:srgbClr val="D5E0E7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Revision 3. Supplied illustration: C:/Users/Jack/Downloads/Annotated Robotic Rover Chassis.png. Label cleanup uses deterministic local interpolation; CoM is schematic, not a computed mass centroid. Diagram reflects Stage5 historical action interface. 40 ms is a simulation probe result, not a validated physical safety bound. Policy has no verified transient-only gate; legs-masked means residual masking, not disabling leg actuation. ~70% is (12.42-3.82)/12.42 = 69.2% of relative improvement across own matched baselines, not a direct causal decomposition. QR supplied by user; target https://qrco.de/bh2NyL, previously resolved to https://www.youtube.com/watch?v=dLVX1cyY2kQ. Source deck and data remain unchanged. DATA {"title":"Residual Reinforcement Learning on a Classical Control Backbone for a Two-Wheeled Legged Robot","status":"Rendered and verified first-review poster delivered; identity fields and video link intentionally pending.","historical_revision":"2fb98ee534cb66a51049feab4256a7c16c3e5d65","checkpoint":"48a053f0d1acaa799b105c20bce29d5f4a738da36fd9117d4bdf5f03f2c63937","recovery":[{"label":"Full residual","baseline_s":1.01296875,"candidate_s":0.8871875,"gain_percent":12.417090853000145},{"label":"Leg residuals masked","baseline_s":0.99765625,"candidate_s":0.95953125,"gain_percent":3.8214565387627353}],"shaping":[{"setting":"Step","peak_vx":0.9955744743347168,"settling":0.78375,"source":"posture_transition_qualification_seed1.json"},{"setting":"0.5 s","peak_vx":0.21916067600250244,"settling":0.47000000000000003,"source":"posture_transition_shaped_t05_seed1.json"},{"setting":"1.0 s","peak_vx":0.08523677289485931,"settling":0.8925,"source":"posture_transition_shaped_t10_seed1.json"},{"setting":"2.0 s","peak_vx":0.055334124714136124,"settling":1.7425,"source":"posture_transition_shaped_t20_seed1.json"}],"station_before":[{"height_rmse":0.00017385387036483735,"lin_x_abs_mean":0.04516676068305969,"mean_actual_lin_x":0.04516676068305969,"non_wheel_contact_rate":0,"pitch_error_abs_p95":0.007941698655486107,"pitch_rate_abs_p99":0.1975330114364624,"pitch_rmse":0.0042284708470106125,"target_height":0.30244420501302,"target_pitch":-0.079140027919641,"terminated_events":0,"vx_command":0},{"height_rmse":0.00016950022836681455,"lin_x_abs_mean":0.016387034207582474,"mean_actual_lin_x":0.015953615307807922,"non_wheel_contact_rate":0,"pitch_error_abs_p95":0.0075715878047049046,"pitch_rate_abs_p99":0.2044893354177475,"pitch_rmse":0.004059132654219866,"target_height":0.30244420501302,"target_pitch":-0.040354653665737504,"terminated_events":0,"vx_command":0},{"height_rmse":0.0002190444793086499,"lin_x_abs_mean":0.013527041301131248,"mean_actual_lin_x":-0.012893886305391788,"non_wheel_contact_rate":0,"pitch_error_abs_p95":0.007800807245075703,"pitch_rate_abs_p99":0.21737553179264069,"pitch_rmse":0.0042506493628025055,"target_height":0.30244420501302,"target_pitch":-0.0015692794118340042,"terminated_events":0,"vx_command":0},{"height_rmse":0.00025124524836428463,"lin_x_abs_mean":0.041738223284482956,"mean_actual_lin_x":-0.04173743724822998,"non_wheel_contact_rate":0,"pitch_error_abs_p95":0.008263783529400826,"pitch_rate_abs_p99":0.21111318469047546,"pitch_rmse":0.004379974212497473,"target_height":0.30244420501302,"target_pitch":0.0372160948420695,"terminated_events":0,"vx_command":0},{"height_rmse":0.00012361383414827287,"lin_x_abs_mean":0.07051040977239609,"mean_actual_lin_x":-0.07051040977239609,"non_wheel_contact_rate":0,"pitch_error_abs_p95":0.008213899098336697,"pitch_rate_abs_p99":0.23708240687847137,"pitch_rmse":0.00420512305572629,"target_height":0.30244420501302,"target_pitch":0.076001469095973,"terminated_events":0,"vx_command":0},{"height_rmse":0.00020439868967514485,"lin_x_abs_mean":0.04547234997153282,"mean_actual_lin_x":0.04547234997153282,"non_wheel_contact_rate":0,"pitch_error_abs_p95":0.007408831734210253,"pitch_rate_abs_p99":0.1821223646402359,"pitch_rmse":0.003934911452233791,"target_height":0.30850143536142827,"target_pitch":-0.079140027919641,"terminated_events":0,"vx_command":0},{"height_rmse":0.0002044815046247095,"lin_x_abs_mean":0.016463523730635643,"mean_actual_lin_x":0.01606411300599575,"non_wheel_contact_rate":0,"pitch_error_abs_p95":0.007676324341446161,"pitch_rate_abs_p99":0.19183140993118286,"pitch_rmse":0.004113319795578718,"target_height":0.30850143536142827,"target_pitch":-0.040354653665737504,"terminated_events":0,"vx_command":0},{"height_rmse":0.0002807713462971151,"lin_x_abs_mean":0.013071474619209766,"mean_actual_lin_x":-0.012311792001128197,"non_wheel_contact_rate":0,"pitch_error_abs_p95":0.00834136176854372,"pitch_rate_abs_p99":0.21071505546569824,"pitch_rmse":0.004382982850074768,"target_height":0.30850143536142827,"target_pitch":-0.0015692794118340042,"terminated_events":0,"vx_command":0},{"height_rmse":0.0003242002858314663,"lin_x_abs_mean":0.041218604892492294,"mean_actual_lin_x":-0.041218604892492294,"non_wheel_contact_rate":0,"pitch_error_abs_p95":0.008125711232423782,"pitch_rate_abs_p99":0.2135004699230194,"pitch_rmse":0.004269670695066452,"target_height":0.30850143536142827,"target_pitch":0.0372160948420695,"terminated_events":0,"vx_command":0},{"height_rmse":0.00017513742204755545,"lin_x_abs_mean":0.07046852260828018,"mean_actual_lin_x":-0.07046852260828018,"non_wheel_contact_rate":0,"pitch_error_abs_p95":0.007953270338475704,"pitch_rate_abs_p99":0.21340548992156982,"pitch_rmse":0.0040899720042943954,"target_height":0.30850143536142827,"target_pitch":0.076001469095973,"terminated_events":0,"vx_command":0},{"height_rmse":0.00018234059098176658,"lin_x_abs_mean":0.04588314890861511,"mean_actual_lin_x":0.04588314890861511,"non_wheel_contact_rate":0,"pitch_error_abs_p95":0.007326836697757244,"pitch_rate_abs_p99":0.18348178267478943,"pitch_rmse":0.0037384971510618925,"target_height":0.3145586657098365,"target_pitch":-0.079140027919641,"terminated_events":0,"vx_command":0},{"height_rmse":0.00019932020222768188,"lin_x_abs_mean":0.016416501253843307,"mean_actual_lin_x":0.016123753041028976,"non_wheel_contact_rate":0,"pitch_error_abs_p95":0.007082863710820675,"pitch_rate_abs_p99":0.18997536599636078,"pitch_rmse":0.003805150045081973,"target_height":0.3145586657098365,"target_pitch":-0.040354653665737504,"terminated_events":0,"vx_command":0},{"height_rmse":0.00030643981881439686,"lin_x_abs_mean":0.012883249670267105,"mean_actual_lin_x":-0.012349874712526798,"non_wheel_contact_rate":0,"pitch_error_abs_p95":0.00778412027284503,"pitch_rate_abs_p99":0.19443291425704956,"pitch_rmse":0.004132171627134085,"target_height":0.3145586657098365,"target_pitch":-0.0015692794118340042,"terminated_events":0,"vx_command":0},{"height_rmse":0.00039231308619491756,"lin_x_abs_mean":0.04173346981406212,"mean_actual_lin_x":-0.04173346981406212,"non_wheel_contact_rate":0,"pitch_error_abs_p95":0.008038573898375034,"pitch_rate_abs_p99":0.2182641327381134,"pitch_rmse":0.004222610499709845,"target_height":0.3145586657098365,"target_pitch":0.0372160948420695,"terminated_events":0,"vx_command":0},{"height_rmse":0.00024297492927871644,"lin_x_abs_mean":0.07044978439807892,"mean_actual_lin_x":-0.07044978439807892,"non_wheel_contact_rate":0,"pitch_error_abs_p95":0.007743865251541138,"pitch_rate_abs_p99":0.22858718037605286,"pitch_rmse":0.00405929796397686,"target_height":0.3145586657098365,"target_pitch":0.076001469095973,"terminated_events":0,"vx_command":0},{"height_rmse":0.00011429170262999833,"lin_x_abs_mean":0.04552328586578369,"mean_actual_lin_x":0.04552328586578369,"non_wheel_contact_rate":0,"pitch_error_abs_p95":0.006947821006178856,"pitch_rate_abs_p99":0.17653749883174896,"pitch_rmse":0.0035983207635581493,"target_height":0.32061589605824475,"target_pitch":-0.079140027919641,"terminated_events":0,"vx_command":0},{"height_rmse":0.00015984063793439418,"lin_x_abs_mean":0.016651656478643417,"mean_actual_lin_x":0.016368433833122253,"non_wheel_contact_rate":0,"pitch_error_abs_p95":0.007048408500850201,"pitch_rate_abs_p99":0.19500163197517395,"pitch_rmse":0.003707015188410878,"target_height":0.32061589605824475,"target_pitch":-0.040354653665737504,"terminated_events":0,"vx_command":0},{"height_rmse":0.0002975034003611654,"lin_x_abs_mean":0.012835723347961903,"mean_actual_lin_x":-0.012368792667984962,"non_wheel_contact_rate":0,"pitch_error_abs_p95":0.007994560524821281,"pitch_rate_abs_p99":0.21461619436740875,"pitch_rmse":0.004130638670176268,"target_height":0.32061589605824475,"target_pitch":-0.0015692794118340042,"terminated_events":0,"vx_command":0},{"height_rmse":0.0003847567131742835,"lin_x_abs_mean":0.04168872535228729,"mean_actual_lin_x":-0.04168872535228729,"non_wheel_contact_rate":0,"pitch_error_abs_p95":0.008054209873080254,"pitch_rate_abs_p99":0.20985572040081024,"pitch_rmse":0.00416987668722868,"target_height":0.32061589605824475,"target_pitch":0.0372160948420695,"terminated_events":0,"vx_command":0},{"height_rmse":0.00027684008819051087,"lin_x_abs_mean":0.0708182081580162,"mean_actual_lin_x":-0.0708182081580162,"non_wheel_contact_rate":0,"pitch_error_abs_p95":0.008592686615884304,"pitch_rate_abs_p99":0.21707859635353088,"pitch_rmse":0.004361956380307674,"target_height":0.32061589605824475,"target_pitch":0.076001469095973,"terminated_events":0,"vx_command":0},{"height_rmse":0.00015256401093211025,"lin_x_abs_mean":0.04527759179472923,"mean_actual_lin_x":0.04527759179472923,"non_wheel_contact_rate":0,"pitch_error_abs_p95":0.007391609717160463,"pitch_rate_abs_p99":0.19880294799804688,"pitch_rmse":0.0037242660764604807,"target_height":0.326673126406653,"target_pitch":-0.079140027919641,"terminated_events":0,"vx_command":0},{"height_rmse":0.00010641425615176558,"lin_x_abs_mean":0.0166200939565897,"mean_actual_lin_x":0.016317477449774742,"non_wheel_contact_rate":0,"pitch_error_abs_p95":0.007474322337657213,"pitch_rate_abs_p99":0.19395294785499573,"pitch_rmse":0.0038800628390163183,"target_height":0.326673126406653,"target_pitch":-0.040354653665737504,"terminated_events":0,"vx_command":0},{"height_rmse":0.00023220789444167167,"lin_x_abs_mean":0.013193544931709766,"mean_actual_lin_x":-0.012772513553500175,"non_wheel_contact_rate":0,"pitch_error_abs_p95":0.006912520155310631,"pitch_rate_abs_p99":0.20353606343269348,"pitch_rmse":0.003761588828638196,"target_height":0.326673126406653,"target_pitch":-0.0015692794118340042,"terminated_events":0,"vx_command":0},{"height_rmse":0.00033165805507451296,"lin_x_abs_mean":0.04221079498529434,"mean_actual_lin_x":-0.04221079498529434,"non_wheel_contact_rate":0,"pitch_error_abs_p95":0.007439782842993736,"pitch_rate_abs_p99":0.2059984803199768,"pitch_rmse":0.0038227203767746687,"target_height":0.326673126406653,"target_pitch":0.0372160948420695,"terminated_events":0,"vx_command":0},{"height_rmse":0.00027032537036575377,"lin_x_abs_mean":0.07102835923433304,"mean_actual_lin_x":-0.07102835923433304,"non_wheel_contact_rate":0,"pitch_error_abs_p95":0.007872702553868294,"pitch_rate_abs_p99":0.19918079674243927,"pitch_rmse":0.0039871130138635635,"target_height":0.326673126406653,"target_pitch":0.076001469095973,"terminated_events":0,"vx_command":0}],"station_after":[{"height_rmse":0.00011422487295931205,"lin_x_abs_mean":0.009485120885074139,"mean_actual_lin_x":-0.007629805244505405,"non_wheel_contact_rate":0,"pitch_error_abs_p95":0.010666525922715664,"pitch_rate_abs_p99":0.19738774001598358,"pitch_rmse":0.005824975669384003,"target_height":0.30244420501302,"target_pitch":-0.079140027919641,"terminated_events":0,"vx_command":0},{"height_rmse":0.00017753987049218267,"lin_x_abs_mean":0.007060606963932514,"mean_actual_lin_x":-0.002455759095028043,"non_wheel_contact_rate":0,"pitch_error_abs_p95":0.00831653643399477,"pitch_rate_abs_p99":0.19310256838798523,"pitch_rmse":0.004381893202662468,"target_height":0.30244420501302,"target_pitch":-0.040354653665737504,"terminated_events":0,"vx_command":0},{"height_rmse":0.00020133302314206958,"lin_x_abs_mean":0.007019440643489361,"mean_actual_lin_x":0.001604776130989194,"non_wheel_contact_rate":0,"pitch_error_abs_p95":0.008012312464416027,"pitch_rate_abs_p99":0.21166177093982697,"pitch_rmse":0.004190211184322834,"target_height":0.30244420501302,"target_pitch":-0.0015692794118340042,"terminated_events":0,"vx_command":0},{"height_rmse":0.00015717488713562489,"lin_x_abs_mean":0.009027182124555111,"mean_actual_lin_x":0.006325125694274902,"non_wheel_contact_rate":0,"pitch_error_abs_p95":0.010737927630543709,"pitch_rate_abs_p99":0.22538073360919952,"pitch_rmse":0.0055274395272135735,"target_height":0.30244420501302,"target_pitch":0.0372160948420695,"terminated_events":0,"vx_command":0},{"height_rmse":0.00012926847557537258,"lin_x_abs_mean":0.01242983341217041,"mean_actual_lin_x":0.011353434063494205,"non_wheel_contact_rate":0,"pitch_error_abs_p95":0.012048491276800632,"pitch_rate_abs_p99":0.23213443160057068,"pitch_rmse":0.006944906897842884,"target_height":0.30244420501302,"target_pitch":0.076001469095973,"terminated_events":0,"vx_command":0},{"height_rmse":0.00012568464444484562,"lin_x_abs_mean":0.009485222399234772,"mean_actual_lin_x":-0.007743856403976679,"non_wheel_contact_rate":0,"pitch_error_abs_p95":0.011004761792719364,"pitch_rate_abs_p99":0.19528062641620636,"pitch_rmse":0.006141350604593754,"target_height":0.30850143536142827,"target_pitch":-0.079140027919641,"terminated_events":0,"vx_command":0},{"height_rmse":0.00020549038890749216,"lin_x_abs_mean":0.00725272111594677,"mean_actual_lin_x":-0.002465086057782173,"non_wheel_contact_rate":0,"pitch_error_abs_p95":0.008215098641812801,"pitch_rate_abs_p99":0.1966637820005417,"pitch_rmse":0.0043594371527433395,"target_height":0.30850143536142827,"target_pitch":-0.040354653665737504,"terminated_events":0,"vx_command":0},{"height_rmse":0.00026068216538988054,"lin_x_abs_mean":0.007244644686579704,"mean_actual_lin_x":0.0020972939673811197,"non_wheel_contact_rate":0,"pitch_error_abs_p95":0.0075866589322686195,"pitch_rate_abs_p99":0.20680899918079376,"pitch_rmse":0.004231896251440048,"target_height":0.30850143536142827,"target_pitch":-0.0015692794118340042,"terminated_events":0,"vx_command":0},{"height_rmse":0.00021906426991336048,"lin_x_abs_mean":0.009111982770264149,"mean_actual_lin_x":0.006999333389103413,"non_wheel_contact_rate":0,"pitch_error_abs_p95":0.009786408394575119,"pitch_rate_abs_p99":0.2177172303199768,"pitch_rmse":0.005188972223550081,"target_height":0.30850143536142827,"target_pitch":0.0372160948420695,"terminated_events":0,"vx_command":0},{"height_rmse":0.00013491036952473223,"lin_x_abs_mean":0.01271043997257948,"mean_actual_lin_x":0.011589261703193188,"non_wheel_contact_rate":0,"pitch_error_abs_p95":0.011163453571498394,"pitch_rate_abs_p99":0.25299277901649475,"pitch_rmse":0.006489579100161791,"target_height":0.30850143536142827,"target_pitch":0.076001469095973,"terminated_events":0,"vx_command":0},{"height_rmse":0.00010744819155661389,"lin_x_abs_mean":0.008638516999781132,"mean_actual_lin_x":-0.0070896209217607975,"non_wheel_contact_rate":0,"pitch_error_abs_p95":0.011002922430634499,"pitch_rate_abs_p99":0.19213919341564178,"pitch_rmse":0.006156035698950291,"target_height":0.3145586657098365,"target_pitch":-0.079140027919641,"terminated_events":0,"vx_command":0},{"height_rmse":0.00020254874834790826,"lin_x_abs_mean":0.006960600148886442,"mean_actual_lin_x":-0.0026815468445420265,"non_wheel_contact_rate":0,"pitch_error_abs_p95":0.008341909386217594,"pitch_rate_abs_p99":0.20080962777137756,"pitch_rmse":0.0043068393133580685,"target_height":0.3145586657098365,"target_pitch":-0.040354653665737504,"terminated_events":0,"vx_command":0},{"height_rmse":0.00027750778826884925,"lin_x_abs_mean":0.0071690804325044155,"mean_actual_lin_x":0.002367328153923154,"non_wheel_contact_rate":0,"pitch_error_abs_p95":0.007725246716290712,"pitch_rate_abs_p99":0.19581986963748932,"pitch_rmse":0.004219655878841877,"target_height":0.3145586657098365,"target_pitch":-0.0015692794118340042,"terminated_events":0,"vx_command":0},{"height_rmse":0.0002904982538893819,"lin_x_abs_mean":0.008898716419935226,"mean_actual_lin_x":0.006916059646755457,"non_wheel_contact_rate":0,"pitch_error_abs_p95":0.009638802148401737,"pitch_rate_abs_p99":0.2054133117198944,"pitch_rmse":0.0051255011931061745,"target_height":0.3145586657098365,"target_pitch":0.0372160948420695,"terminated_events":0,"vx_command":0},{"height_rmse":0.00019373034592717886,"lin_x_abs_mean":0.0122893201187253,"mean_actual_lin_x":0.011398443952202797,"non_wheel_contact_rate":0,"pitch_error_abs_p95":0.010842766612768173,"pitch_rate_abs_p99":0.22365739941596985,"pitch_rmse":0.006231054197996855,"target_height":0.3145586657098365,"target_pitch":0.076001469095973,"terminated_events":0,"vx_command":0},{"height_rmse":0.00011218861618544906,"lin_x_abs_mean":0.008709180168807507,"mean_actual_lin_x":-0.007137898821383715,"non_wheel_contact_rate":0,"pitch_error_abs_p95":0.010955187492072582,"pitch_rate_abs_p99":0.1973436176776886,"pitch_rmse":0.0061577362939715385,"target_height":0.32061589605824475,"target_pitch":-0.079140027919641,"terminated_events":0,"vx_command":0},{"height_rmse":0.00016890361439436674,"lin_x_abs_mean":0.0069791697897017,"mean_actual_lin_x":-0.0024877001997083426,"non_wheel_contact_rate":0,"pitch_error_abs_p95":0.008550627157092094,"pitch_rate_abs_p99":0.19760197401046753,"pitch_rmse":0.004442795645445585,"target_height":0.32061589605824475,"target_pitch":-0.040354653665737504,"terminated_events":0,"vx_command":0},{"height_rmse":0.00026882870588451624,"lin_x_abs_mean":0.006823875475674868,"mean_actual_lin_x":0.0015672380104660988,"non_wheel_contact_rate":0,"pitch_error_abs_p95":0.007626565173268318,"pitch_rate_abs_p99":0.2056138664484024,"pitch_rmse":0.003999816719442606,"target_height":0.32061589605824475,"target_pitch":-0.0015692794118340042,"terminated_events":0,"vx_command":0},{"height_rmse":0.00028351243236102164,"lin_x_abs_mean":0.008918791078031063,"mean_actual_lin_x":0.006937229540199041,"non_wheel_contact_rate":0,"pitch_error_abs_p95":0.00932585820555687,"pitch_rate_abs_p99":0.20580443739891052,"pitch_rmse":0.005009614862501621,"target_height":0.32061589605824475,"target_pitch":0.0372160948420695,"terminated_events":0,"vx_command":0},{"height_rmse":0.00022225864813663065,"lin_x_abs_mean":0.012313591316342354,"mean_actual_lin_x":0.011227017268538475,"non_wheel_contact_rate":0,"pitch_error_abs_p95":0.011337549425661564,"pitch_rate_abs_p99":0.24478933215141296,"pitch_rmse":0.0066415490582585335,"target_height":0.32061589605824475,"target_pitch":0.076001469095973,"terminated_events":0,"vx_command":0},{"height_rmse":0.0002104254817822948,"lin_x_abs_mean":0.009115445427596569,"mean_actual_lin_x":-0.007721322122961283,"non_wheel_contact_rate":0,"pitch_error_abs_p95":0.010264570824801922,"pitch_rate_abs_p99":0.18918564915657043,"pitch_rmse":0.0055488101206719875,"target_height":0.326673126406653,"target_pitch":-0.079140027919641,"terminated_events":0,"vx_command":0},{"height_rmse":0.00011169620847795159,"lin_x_abs_mean":0.006535099353641272,"mean_actual_lin_x":-0.0025435301940888166,"non_wheel_contact_rate":0,"pitch_error_abs_p95":0.008128964342176914,"pitch_rate_abs_p99":0.1946735382080078,"pitch_rmse":0.004189266823232174,"target_height":0.326673126406653,"target_pitch":-0.040354653665737504,"terminated_events":0,"vx_command":0},{"height_rmse":0.0002033898636000231,"lin_x_abs_mean":0.006897625979036093,"mean_actual_lin_x":0.0018619117327034473,"non_wheel_contact_rate":0,"pitch_error_abs_p95":0.007795293815433979,"pitch_rate_abs_p99":0.20958605408668518,"pitch_rmse":0.004247201606631279,"target_height":0.326673126406653,"target_pitch":-0.0015692794118340042,"terminated_events":0,"vx_command":0},{"height_rmse":0.00024582105106674135,"lin_x_abs_mean":0.008536030538380146,"mean_actual_lin_x":0.0066144876182079315,"non_wheel_contact_rate":0,"pitch_error_abs_p95":0.009855748154222965,"pitch_rate_abs_p99":0.19476854801177979,"pitch_rmse":0.005127625539898872,"target_height":0.326673126406653,"target_pitch":0.0372160948420695,"terminated_events":0,"vx_command":0},{"height_rmse":0.0002240820467704907,"lin_x_abs_mean":0.012142687104642391,"mean_actual_lin_x":0.011313319206237793,"non_wheel_contact_rate":0,"pitch_error_abs_p95":0.011474156752228737,"pitch_rate_abs_p99":0.20383119583129883,"pitch_rmse":0.00683866161853075,"target_height":0.326673126406653,"target_pitch":0.076001469095973,"terminated_events":0,"vx_command":0}],"latency_cells":[{"delay_ms":0,"delay_steps":0,"kick_event_count":64,"noise_tier":"none","non_wheel_contact_rate":0,"pitch_abs_p95":0.011043879203498363,"policy":"zero_residual","post_kick_lin_x_abs_max":0.1307574063539505,"recovery_time_s":0.1,"standing_abs_vx_mean":0.006987220607697964,"terminated_events":0,"tracking_abs_error_mean":0.00720513891428709,"tracking_abs_error_p95":0.01852722093462944},{"delay_ms":20,"delay_steps":1,"kick_event_count":64,"noise_tier":"none","non_wheel_contact_rate":0,"pitch_abs_p95":0.012163268402218819,"policy":"zero_residual","post_kick_lin_x_abs_max":0.11997531354427338,"recovery_time_s":0.18,"standing_abs_vx_mean":0.007109735161066055,"terminated_events":0,"tracking_abs_error_mean":0.008248977363109589,"tracking_abs_error_p95":0.020016200840473175},{"delay_ms":40,"delay_steps":2,"kick_event_count":64,"noise_tier":"none","non_wheel_contact_rate":0,"pitch_abs_p95":0.013558503240346909,"policy":"zero_residual","post_kick_lin_x_abs_max":0.12098667770624161,"recovery_time_s":0.26,"standing_abs_vx_mean":0.008761467412114143,"terminated_events":0,"tracking_abs_error_mean":0.008709645830094814,"tracking_abs_error_p95":0.021766146644949913},{"delay_ms":60,"delay_steps":3,"kick_event_count":64,"noise_tier":"none","non_wheel_contact_rate":0,"pitch_abs_p95":0.017446143552660942,"policy":"zero_residual","post_kick_lin_x_abs_max":0.13287465274333954,"recovery_time_s":0.4,"standing_abs_vx_mean":0.010456238873302937,"terminated_events":0,"tracking_abs_error_mean":0.0116716418415308,"tracking_abs_error_p95":0.027849527075886726},{"delay_ms":80,"delay_steps":4,"kick_event_count":64,"noise_tier":"none","non_wheel_contact_rate":0,"pitch_abs_p95":0.02760768122971058,"policy":"zero_residual","post_kick_lin_x_abs_max":0.1461997777223587,"recovery_time_s":0.92,"standing_abs_vx_mean":0.01839355006814003,"terminated_events":0,"tracking_abs_error_mean":0.020391298457980156,"tracking_abs_error_p95":0.04236597567796707},{"delay_ms":0,"delay_steps":0,"kick_event_count":64,"noise_tier":"encoder","non_wheel_contact_rate":0,"pitch_abs_p95":0.010844380594789982,"policy":"zero_residual","post_kick_lin_x_abs_max":0.11990196257829666,"recovery_time_s":0.08,"standing_abs_vx_mean":0.006949808448553085,"terminated_events":0,"tracking_abs_error_mean":0.007256990298628807,"tracking_abs_error_p95":0.01863228529691696},{"delay_ms":20,"delay_steps":1,"kick_event_count":64,"noise_tier":"encoder","non_wheel_contact_rate":0,"pitch_abs_p95":0.011869456619024277,"policy":"zero_residual","post_kick_lin_x_abs_max":0.12309412658214569,"recovery_time_s":0.18,"standing_abs_vx_mean":0.007007367443293333,"terminated_events":0,"tracking_abs_error_mean":0.007992643862962723,"tracking_abs_error_p95":0.020468534901738167},{"delay_ms":40,"delay_steps":2,"kick_event_count":64,"noise_tier":"encoder","non_wheel_contact_rate":0,"pitch_abs_p95":0.013673351146280766,"policy":"zero_residual","post_kick_lin_x_abs_max":0.12961448729038239,"recovery_time_s":0.28,"standing_abs_vx_mean":0.00862827431410551,"terminated_events":0,"tracking_abs_error_mean":0.009000776335597038,"tracking_abs_error_p95":0.022732291370630264},{"delay_ms":60,"delay_steps":3,"kick_event_count":64,"noise_tier":"encoder","non_wheel_contact_rate":0,"pitch_abs_p95":0.017853394150733948,"policy":"zero_residual","post_kick_lin_x_abs_max":0.1293426901102066,"recovery_time_s":0.3,"standing_abs_vx_mean":0.010524452663958073,"terminated_events":0,"tracking_abs_error_mean":0.012121072970330715,"tracking_abs_error_p95":0.02783133089542389},{"delay_ms":80,"delay_steps":4,"kick_event_count":64,"noise_tier":"encoder","non_wheel_contact_rate":0,"pitch_abs_p95":0.028069453313946724,"policy":"zero_residual","post_kick_lin_x_abs_max":0.150909423828125,"recovery_time_s":1.26,"standing_abs_vx_mean":0.018602658063173294,"terminated_events":0,"tracking_abs_error_mean":0.02049054391682148,"tracking_abs_error_p95":0.0429089218378067},{"delay_ms":0,"delay_steps":0,"kick_event_count":64,"noise_tier":"mems_imu","non_wheel_contact_rate":0,"pitch_abs_p95":0.01314107608050108,"policy":"zero_residual","post_kick_lin_x_abs_max":0.1414753943681717,"recovery_time_s":0.18,"standing_abs_vx_mean":0.014406519010663033,"terminated_events":0,"tracking_abs_error_mean":0.014303396455943584,"tracking_abs_error_p95":0.038086310029029846},{"delay_ms":20,"delay_steps":1,"kick_event_count":64,"noise_tier":"mems_imu","non_wheel_contact_rate":0,"pitch_abs_p95":0.014085836708545685,"policy":"zero_residual","post_kick_lin_x_abs_max":0.12586554884910583,"recovery_time_s":0.22,"standing_abs_vx_mean":0.014244974590837955,"terminated_events":0,"tracking_abs_error_mean":0.014384638518095016,"tracking_abs_error_p95":0.03695063665509224},{"delay_ms":40,"delay_steps":2,"kick_event_count":64,"noise_tier":"mems_imu","non_wheel_contact_rate":0,"pitch_abs_p95":0.01747898943722248,"policy":"zero_residual","post_kick_lin_x_abs_max":0.1387210190296173,"recovery_time_s":0.28,"standing_abs_vx_mean":0.015932835638523102,"terminated_events":0,"tracking_abs_error_mean":0.015655843541026115,"tracking_abs_error_p95":0.04021057114005089},{"delay_ms":60,"delay_steps":3,"kick_event_count":64,"noise_tier":"mems_imu","non_wheel_contact_rate":0,"pitch_abs_p95":0.021695401519536972,"policy":"zero_residual","post_kick_lin_x_abs_max":0.14992760121822357,"recovery_time_s":0.44,"standing_abs_vx_mean":0.017228471115231514,"terminated_events":0,"tracking_abs_error_mean":0.017300719395279884,"tracking_abs_error_p95":0.04270332679152489},{"delay_ms":80,"delay_steps":4,"kick_event_count":64,"noise_tier":"mems_imu","non_wheel_contact_rate":0,"pitch_abs_p95":0.03229844570159912,"policy":"zero_residual","post_kick_lin_x_abs_max":0.20006190240383148,"recovery_time_s":1.34,"standing_abs_vx_mean":0.02235904522240162,"terminated_events":1,"tracking_abs_error_mean":0.02192194014787674,"tracking_abs_error_p95":0.0547175295650959},{"delay_ms":0,"delay_steps":0,"kick_event_count":64,"noise_tier":"mems_imu_2x","non_wheel_contact_rate":0,"pitch_abs_p95":0.020785534754395485,"policy":"zero_residual","post_kick_lin_x_abs_max":0.1483522653579712,"recovery_time_s":0.34,"standing_abs_vx_mean":0.02334274724125862,"terminated_events":0,"tracking_abs_error_mean":0.02241542376577854,"tracking_abs_error_p95":0.054450251162052155},{"delay_ms":20,"delay_steps":1,"kick_event_count":64,"noise_tier":"mems_imu_2x","non_wheel_contact_rate":0,"pitch_abs_p95":0.02451029047369957,"policy":"zero_residual","post_kick_lin_x_abs_max":0.1624964475631714,"recovery_time_s":0.44,"standing_abs_vx_mean":0.025096632540225983,"terminated_events":0,"tracking_abs_error_mean":0.02479550987482071,"tracking_abs_error_p95":0.06114121526479721},{"delay_ms":40,"delay_steps":2,"kick_event_count":64,"noise_tier":"mems_imu_2x","non_wheel_contact_rate":0,"pitch_abs_p95":0.03026701882481575,"policy":"zero_residual","post_kick_lin_x_abs_max":0.1623184084892273,"recovery_time_s":0.56,"standing_abs_vx_mean":0.027675826102495193,"terminated_events":0,"tracking_abs_error_mean":0.02679629996418953,"tracking_abs_error_p95":0.06524382531642914},{"delay_ms":60,"delay_steps":3,"kick_event_count":64,"noise_tier":"mems_imu_2x","non_wheel_contact_rate":0,"pitch_abs_p95":0.038258396089076996,"policy":"zero_residual","post_kick_lin_x_abs_max":0.17828451097011566,"recovery_time_s":0.74,"standing_abs_vx_mean":0.0303372610360384,"terminated_events":0,"tracking_abs_error_mean":0.02987164817750454,"tracking_abs_error_p95":0.07334631681442261},{"delay_ms":80,"delay_steps":4,"kick_event_count":64,"noise_tier":"mems_imu_2x","non_wheel_contact_rate":0,"pitch_abs_p95":0.0708014965057373,"policy":"zero_residual","post_kick_lin_x_abs_max":0.2983553111553192,"recovery_time_s":3.58,"standing_abs_vx_mean":0.04753377288579941,"terminated_events":2,"tracking_abs_error_mean":0.04053782299160957,"tracking_abs_error_p95":0.10227109491825104},{"delay_ms":0,"delay_steps":0,"kick_event_count":64,"noise_tier":"none","non_wheel_contact_rate":0,"pitch_abs_p95":0.011351809836924076,"policy":"candidate","post_kick_lin_x_abs_max":0.11191771924495697,"recovery_time_s":0.08,"standing_abs_vx_mean":0.006497347727417946,"terminated_events":0,"tracking_abs_error_mean":0.006531170569360256,"tracking_abs_error_p95":0.01671610213816166},{"delay_ms":20,"delay_steps":1,"kick_event_count":64,"noise_tier":"none","non_wheel_contact_rate":0,"pitch_abs_p95":0.011603688821196556,"policy":"candidate","post_kick_lin_x_abs_max":0.14142851531505585,"recovery_time_s":0.22,"standing_abs_vx_mean":0.00858239084482193,"terminated_events":0,"tracking_abs_error_mean":0.008699791505932808,"tracking_abs_error_p95":0.021975353360176086},{"delay_ms":40,"delay_steps":2,"kick_event_count":64,"noise_tier":"none","non_wheel_contact_rate":0,"pitch_abs_p95":0.013165956363081932,"policy":"candidate","post_kick_lin_x_abs_max":0.12976570427417755,"recovery_time_s":0.24,"standing_abs_vx_mean":0.009301927872002125,"terminated_events":0,"tracking_abs_error_mean":0.01005501952022314,"tracking_abs_error_p95":0.02599981613457203},{"delay_ms":60,"delay_steps":3,"kick_event_count":64,"noise_tier":"none","non_wheel_contact_rate":0,"pitch_abs_p95":0.016171107068657875,"policy":"candidate","post_kick_lin_x_abs_max":0.132547527551651,"recovery_time_s":0.3,"standing_abs_vx_mean":0.010480305179953575,"terminated_events":2,"tracking_abs_error_mean":0.011140689253807068,"tracking_abs_error_p95":0.027021288871765137},{"delay_ms":80,"delay_steps":4,"kick_event_count":64,"noise_tier":"none","non_wheel_contact_rate":0,"pitch_abs_p95":0.030529405921697617,"policy":"candidate","post_kick_lin_x_abs_max":0.2935265600681305,"recovery_time_s":2.1,"standing_abs_vx_mean":0.019155452027916908,"terminated_events":6,"tracking_abs_error_mean":0.020555447787046432,"tracking_abs_error_p95":0.04886236786842346},{"delay_ms":0,"delay_steps":0,"kick_event_count":64,"noise_tier":"encoder","non_wheel_contact_rate":0,"pitch_abs_p95":0.011157880537211895,"policy":"candidate","post_kick_lin_x_abs_max":0.11497818678617477,"recovery_time_s":0.08,"standing_abs_vx_mean":0.006153447553515434,"terminated_events":0,"tracking_abs_error_mean":0.006454714108258486,"tracking_abs_error_p95":0.016684992238879204},{"delay_ms":20,"delay_steps":1,"kick_event_count":64,"noise_tier":"encoder","non_wheel_contact_rate":0,"pitch_abs_p95":0.011300064623355865,"policy":"candidate","post_kick_lin_x_abs_max":0.12796908617019653,"recovery_time_s":0.16,"standing_abs_vx_mean":0.008384688757359982,"terminated_events":0,"tracking_abs_error_mean":0.008600873872637749,"tracking_abs_error_p95":0.022157354280352592},{"delay_ms":40,"delay_steps":2,"kick_event_count":64,"noise_tier":"encoder","non_wheel_contact_rate":0,"pitch_abs_p95":0.013002783991396427,"policy":"candidate","post_kick_lin_x_abs_max":0.13947659730911255,"recovery_time_s":0.24,"standing_abs_vx_mean":0.009780127555131912,"terminated_events":0,"tracking_abs_error_mean":0.009976571425795555,"tracking_abs_error_p95":0.02580813691020012},{"delay_ms":60,"delay_steps":3,"kick_event_count":64,"noise_tier":"encoder","non_wheel_contact_rate":0,"pitch_abs_p95":0.01647009328007698,"policy":"candidate","post_kick_lin_x_abs_max":0.13268159329891205,"recovery_time_s":0.36,"standing_abs_vx_mean":0.010261217132210732,"terminated_events":0,"tracking_abs_error_mean":0.011237612925469875,"tracking_abs_error_p95":0.027789568528532982},{"delay_ms":80,"delay_steps":4,"kick_event_count":64,"noise_tier":"encoder","non_wheel_contact_rate":0,"pitch_abs_p95":0.02985461615025997,"policy":"candidate","post_kick_lin_x_abs_max":0.15648983418941498,"recovery_time_s":1.18,"standing_abs_vx_mean":0.02020798623561859,"terminated_events":3,"tracking_abs_error_mean":0.019325407221913338,"tracking_abs_error_p95":0.045518577098846436},{"delay_ms":0,"delay_steps":0,"kick_event_count":64,"noise_tier":"mems_imu","non_wheel_contact_rate":0,"pitch_abs_p95":0.01311526820063591,"policy":"candidate","post_kick_lin_x_abs_max":0.11053044348955154,"recovery_time_s":0.1,"standing_abs_vx_mean":0.013527307659387589,"terminated_events":0,"tracking_abs_error_mean":0.013584049418568611,"tracking_abs_error_p95":0.03556500002741814},{"delay_ms":20,"delay_steps":1,"kick_event_count":64,"noise_tier":"mems_imu","non_wheel_contact_rate":0,"pitch_abs_p95":0.015923790633678436,"policy":"candidate","post_kick_lin_x_abs_max":0.14582562446594238,"recovery_time_s":0.26,"standing_abs_vx_mean":0.016116809099912643,"terminated_events":0,"tracking_abs_error_mean":0.015706516802310944,"tracking_abs_error_p95":0.04001062363386154},{"delay_ms":40,"delay_steps":2,"kick_event_count":64,"noise_tier":"mems_imu","non_wheel_contact_rate":0,"pitch_abs_p95":0.019215052947402,"policy":"candidate","post_kick_lin_x_abs_max":0.15189579129219055,"recovery_time_s":0.3,"standing_abs_vx_mean":0.016692815348505974,"terminated_events":0,"tracking_abs_error_mean":0.016871217638254166,"tracking_abs_error_p95":0.04197467118501663},{"delay_ms":60,"delay_steps":3,"kick_event_count":64,"noise_tier":"mems_imu","non_wheel_contact_rate":0,"pitch_abs_p95":0.02352210506796837,"policy":"candidate","post_kick_lin_x_abs_max":0.1679765284061432,"recovery_time_s":0.52,"standing_abs_vx_mean":0.018342306837439537,"terminated_events":0,"tracking_abs_error_mean":0.018747352063655853,"tracking_abs_error_p95":0.0467117503285408},{"delay_ms":80,"delay_steps":4,"kick_event_count":64,"noise_tier":"mems_imu","non_wheel_contact_rate":0,"pitch_abs_p95":0.0492582730948925,"policy":"candidate","post_kick_lin_x_abs_max":0.2198176383972168,"recovery_time_s":1.66,"standing_abs_vx_mean":0.0349641889333725,"terminated_events":10,"tracking_abs_error_mean":0.028445031493902206,"tracking_abs_error_p95":0.07210559397935867},{"delay_ms":0,"delay_steps":0,"kick_event_count":64,"noise_tier":"mems_imu_2x","non_wheel_contact_rate":0,"pitch_abs_p95":0.020040947943925858,"policy":"candidate","post_kick_lin_x_abs_max":0.14655670523643494,"recovery_time_s":0.14,"standing_abs_vx_mean":0.022375021129846573,"terminated_events":0,"tracking_abs_error_mean":0.022285910323262215,"tracking_abs_error_p95":0.053159549832344055},{"delay_ms":20,"delay_steps":1,"kick_event_count":64,"noise_tier":"mems_imu_2x","non_wheel_contact_rate":0,"pitch_abs_p95":0.026711465790867805,"policy":"candidate","post_kick_lin_x_abs_max":0.157490074634552,"recovery_time_s":0.36,"standing_abs_vx_mean":0.025624293833971024,"terminated_events":0,"tracking_abs_error_mean":0.025862382724881172,"tracking_abs_error_p95":0.06469564884901047},{"delay_ms":40,"delay_steps":2,"kick_event_count":64,"noise_tier":"mems_imu_2x","non_wheel_contact_rate":0,"pitch_abs_p95":0.03461362048983574,"policy":"candidate","post_kick_lin_x_abs_max":0.20025943219661713,"recovery_time_s":0.56,"standing_abs_vx_mean":0.029068009927868843,"terminated_events":0,"tracking_abs_error_mean":0.02860417775809765,"tracking_abs_error_p95":0.07147517055273056},{"delay_ms":60,"delay_steps":3,"kick_event_count":64,"noise_tier":"mems_imu_2x","non_wheel_contact_rate":0,"pitch_abs_p95":0.043304260820150375,"policy":"candidate","post_kick_lin_x_abs_max":0.1822700798511505,"recovery_time_s":0.62,"standing_abs_vx_mean":0.0323825441300869,"terminated_events":0,"tracking_abs_error_mean":0.03217266872525215,"tracking_abs_error_p95":0.07953979820013046},{"delay_ms":80,"delay_steps":4,"kick_event_count":64,"noise_tier":"mems_imu_2x","non_wheel_contact_rate":0,"pitch_abs_p95":0.12649685144424438,"policy":"candidate","post_kick_lin_x_abs_max":1.6340394020080566,"recovery_time_s":5.04,"standing_abs_vx_mean":0.07934746146202087,"terminated_events":22,"tracking_abs_error_mean":0.06326030939817429,"tracking_abs_error_p95":0.16573189198970795}],"interface":{"policy":"clip(raw, -1, 1) -&gt; mask -&gt; scale","wheels":"classical + mapped balance/yaw residual -&gt; slew limit -&gt; velocity clip","legs":"posture map + four leg residuals -&gt; soft joint-position clip -&gt; encoder bias correction","outputs":["2 wheel velocity targets (rad/s)","4 leg position targets (rad)"],"posture_reference":"height/pitch slew is upstream; no separate final leg slew in this historical action implementation"}}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Revision 3. Supplied illustration: C:/Users/Jack/Downloads/Annotated Robotic Rover Chassis.png. Label cleanup uses deterministic local interpolation; CoM is schematic, not a computed mass centroid. Diagram reflects Stage5 historical action interface. 40 ms is a simulation probe result, not a validated physical safety bound. Policy has no verified transient-only gate; legs-masked means residual masking, not disabling leg actuation. ~70% is (12.42-3.82)/12.42 = 69.2% of relative improvement across own matched baselines, not a direct causal decomposition. QR supplied by user; target https://qrco.de/bh2NyL, previously resolved to https://www.youtube.com/watch?v=dLVX1cyY2kQ. Source deck and data remain unchanged. DATA {"title":"Residual Reinforcement Learning on a Classical Control Backbone for a Two-Wheeled Legged Robot","status":"Rendered and verified first-review poster delivered; identity fields and video link intentionally pending.","historical_revision":"2fb98ee534cb66a51049feab4256a7c16c3e5d65","checkpoint":"48a053f0d1acaa799b105c20bce29d5f4a738da36fd9117d4bdf5f03f2c63937","recovery":[{"label":"Full residual","baseline_s":1.01296875,"candidate_s":0.8871875,"gain_percent":12.417090853000145},{"label":"Leg residuals masked","baseline_s":0.99765625,"candidate_s":0.95953125,"gain_percent":3.8214565387627353}],"shaping":[{"setting":"Step","peak_vx":0.9955744743347168,"settling":0.78375,"source":"posture_transition_qualification_seed1.json"},{"setting":"0.5 s","peak_vx":0.21916067600250244,"settling":0.47000000000000003,"source":"posture_transition_shaped_t05_seed1.json"},{"setting":"1.0 s","peak_vx":0.08523677289485931,"settling":0.8925,"source":"posture_transition_shaped_t10_seed1.json"},{"setting":"2.0 s","peak_vx":0.055334124714136124,"settling":1.7425,"source":"posture_transition_shaped_t20_seed1.json"}],"station_before":[{"height_rmse":0.00017385387036483735,"lin_x_abs_mean":0.04516676068305969,"mean_actual_lin_x":0.04516676068305969,"non_wheel_contact_rate":0,"pitch_error_abs_p95":0.007941698655486107,"pitch_rate_abs_p99":0.1975330114364624,"pitch_rmse":0.0042284708470106125,"target_height":0.30244420501302,"target_pitch":-0.079140027919641,"terminated_events":0,"vx_command":0},{"height_rmse":0.00016950022836681455,"lin_x_abs_mean":0.016387034207582474,"mean_actual_lin_x":0.015953615307807922,"non_wheel_contact_rate":0,"pitch_error_abs_p95":0.0075715878047049046,"pitch_rate_abs_p99":0.2044893354177475,"pitch_rmse":0.004059132654219866,"target_height":0.30244420501302,"target_pitch":-0.040354653665737504,"terminated_events":0,"vx_command":0},{"height_rmse":0.0002190444793086499,"lin_x_abs_mean":0.013527041301131248,"mean_actual_lin_x":-0.012893886305391788,"non_wheel_contact_rate":0,"pitch_error_abs_p95":0.007800807245075703,"pitch_rate_abs_p99":0.21737553179264069,"pitch_rmse":0.0042506493628025055,"target_height":0.30244420501302,"target_pitch":-0.0015692794118340042,"terminated_events":0,"vx_command":0},{"height_rmse":0.00025124524836428463,"lin_x_abs_mean":0.041738223284482956,"mean_actual_lin_x":-0.04173743724822998,"non_wheel_contact_rate":0,"pitch_error_abs_p95":0.008263783529400826,"pitch_rate_abs_p99":0.21111318469047546,"pitch_rmse":0.004379974212497473,"target_height":0.30244420501302,"target_pitch":0.0372160948420695,"terminated_events":0,"vx_command":0},{"height_rmse":0.00012361383414827287,"lin_x_abs_mean":0.07051040977239609,"mean_actual_lin_x":-0.07051040977239609,"non_wheel_contact_rate":0,"pitch_error_abs_p95":0.008213899098336697,"pitch_rate_abs_p99":0.23708240687847137,"pitch_rmse":0.00420512305572629,"target_height":0.30244420501302,"target_pitch":0.076001469095973,"terminated_events":0,"vx_command":0},{"height_rmse":0.00020439868967514485,"lin_x_abs_mean":0.04547234997153282,"mean_actual_lin_x":0.04547234997153282,"non_wheel_contact_rate":0,"pitch_error_abs_p95":0.007408831734210253,"pitch_rate_abs_p99":0.1821223646402359,"pitch_rmse":0.003934911452233791,"target_height":0.30850143536142827,"target_pitch":-0.079140027919641,"terminated_events":0,"vx_command":0},{"height_rmse":0.0002044815046247095,"lin_x_abs_mean":0.016463523730635643,"mean_actual_lin_x":0.01606411300599575,"non_wheel_contact_rate":0,"pitch_error_abs_p95":0.007676324341446161,"pitch_rate_abs_p99":0.19183140993118286,"pitch_rmse":0.004113319795578718,"target_height":0.30850143536142827,"target_pitch":-0.040354653665737504,"terminated_events":0,"vx_command":0},{"height_rmse":0.0002807713462971151,"lin_x_abs_mean":0.013071474619209766,"mean_actual_lin_x":-0.012311792001128197,"non_wheel_contact_rate":0,"pitch_error_abs_p95":0.00834136176854372,"pitch_rate_abs_p99":0.21071505546569824,"pitch_rmse":0.004382982850074768,"target_height":0.30850143536142827,"target_pitch":-0.0015692794118340042,"terminated_events":0,"vx_command":0},{"height_rmse":0.0003242002858314663,"lin_x_abs_mean":0.041218604892492294,"mean_actual_lin_x":-0.041218604892492294,"non_wheel_contact_rate":0,"pitch_error_abs_p95":0.008125711232423782,"pitch_rate_abs_p99":0.2135004699230194,"pitch_rmse":0.004269670695066452,"target_height":0.30850143536142827,"target_pitch":0.0372160948420695,"terminated_events":0,"vx_command":0},{"height_rmse":0.00017513742204755545,"lin_x_abs_mean":0.07046852260828018,"mean_actual_lin_x":-0.07046852260828018,"non_wheel_contact_rate":0,"pitch_error_abs_p95":0.007953270338475704,"pitch_rate_abs_p99":0.21340548992156982,"pitch_rmse":0.0040899720042943954,"target_height":0.30850143536142827,"target_pitch":0.076001469095973,"terminated_events":0,"vx_command":0},{"height_rmse":0.00018234059098176658,"lin_x_abs_mean":0.04588314890861511,"mean_actual_lin_x":0.04588314890861511,"non_wheel_contact_rate":0,"pitch_error_abs_p95":0.007326836697757244,"pitch_rate_abs_p99":0.18348178267478943,"pitch_rmse":0.0037384971510618925,"target_height":0.3145586657098365,"target_pitch":-0.079140027919641,"terminated_events":0,"vx_command":0},{"height_rmse":0.00019932020222768188,"lin_x_abs_mean":0.016416501253843307,"mean_actual_lin_x":0.016123753041028976,"non_wheel_contact_rate":0,"pitch_error_abs_p95":0.007082863710820675,"pitch_rate_abs_p99":0.18997536599636078,"pitch_rmse":0.003805150045081973,"target_height":0.3145586657098365,"target_pitch":-0.040354653665737504,"terminated_events":0,"vx_command":0},{"height_rmse":0.00030643981881439686,"lin_x_abs_mean":0.012883249670267105,"mean_actual_lin_x":-0.012349874712526798,"non_wheel_contact_rate":0,"pitch_error_abs_p95":0.00778412027284503,"pitch_rate_abs_p99":0.19443291425704956,"pitch_rmse":0.004132171627134085,"target_height":0.3145586657098365,"target_pitch":-0.0015692794118340042,"terminated_events":0,"vx_command":0},{"height_rmse":0.00039231308619491756,"lin_x_abs_mean":0.04173346981406212,"mean_actual_lin_x":-0.04173346981406212,"non_wheel_contact_rate":0,"pitch_error_abs_p95":0.008038573898375034,"pitch_rate_abs_p99":0.2182641327381134,"pitch_rmse":0.004222610499709845,"target_height":0.3145586657098365,"target_pitch":0.0372160948420695,"terminated_events":0,"vx_command":0},{"height_rmse":0.00024297492927871644,"lin_x_abs_mean":0.07044978439807892,"mean_actual_lin_x":-0.07044978439807892,"non_wheel_contact_rate":0,"pitch_error_abs_p95":0.007743865251541138,"pitch_rate_abs_p99":0.22858718037605286,"pitch_rmse":0.00405929796397686,"target_height":0.3145586657098365,"target_pitch":0.076001469095973,"terminated_events":0,"vx_command":0},{"height_rmse":0.00011429170262999833,"lin_x_abs_mean":0.04552328586578369,"mean_actual_lin_x":0.04552328586578369,"non_wheel_contact_rate":0,"pitch_error_abs_p95":0.006947821006178856,"pitch_rate_abs_p99":0.17653749883174896,"pitch_rmse":0.0035983207635581493,"target_height":0.32061589605824475,"target_pitch":-0.079140027919641,"terminated_events":0,"vx_command":0},{"height_rmse":0.00015984063793439418,"lin_x_abs_mean":0.016651656478643417,"mean_actual_lin_x":0.016368433833122253,"non_wheel_contact_rate":0,"pitch_error_abs_p95":0.007048408500850201,"pitch_rate_abs_p99":0.19500163197517395,"pitch_rmse":0.003707015188410878,"target_height":0.32061589605824475,"target_pitch":-0.040354653665737504,"terminated_events":0,"vx_command":0},{"height_rmse":0.0002975034003611654,"lin_x_abs_mean":0.012835723347961903,"mean_actual_lin_x":-0.012368792667984962,"non_wheel_contact_rate":0,"pitch_error_abs_p95":0.007994560524821281,"pitch_rate_abs_p99":0.21461619436740875,"pitch_rmse":0.004130638670176268,"target_height":0.32061589605824475,"target_pitch":-0.0015692794118340042,"terminated_events":0,"vx_command":0},{"height_rmse":0.0003847567131742835,"lin_x_abs_mean":0.04168872535228729,"mean_actual_lin_x":-0.04168872535228729,"non_wheel_contact_rate":0,"pitch_error_abs_p95":0.008054209873080254,"pitch_rate_abs_p99":0.20985572040081024,"pitch_rmse":0.00416987668722868,"target_height":0.32061589605824475,"target_pitch":0.0372160948420695,"terminated_events":0,"vx_command":0},{"height_rmse":0.00027684008819051087,"lin_x_abs_mean":0.0708182081580162,"mean_actual_lin_x":-0.0708182081580162,"non_wheel_contact_rate":0,"pitch_error_abs_p95":0.008592686615884304,"pitch_rate_abs_p99":0.21707859635353088,"pitch_rmse":0.004361956380307674,"target_height":0.32061589605824475,"target_pitch":0.076001469095973,"terminated_events":0,"vx_command":0},{"height_rmse":0.00015256401093211025,"lin_x_abs_mean":0.04527759179472923,"mean_actual_lin_x":0.04527759179472923,"non_wheel_contact_rate":0,"pitch_error_abs_p95":0.007391609717160463,"pitch_rate_abs_p99":0.19880294799804688,"pitch_rmse":0.0037242660764604807,"target_height":0.326673126406653,"target_pitch":-0.079140027919641,"terminated_events":0,"vx_command":0},{"height_rmse":0.00010641425615176558,"lin_x_abs_mean":0.0166200939565897,"mean_actual_lin_x":0.016317477449774742,"non_wheel_contact_rate":0,"pitch_error_abs_p95":0.007474322337657213,"pitch_rate_abs_p99":0.19395294785499573,"pitch_rmse":0.0038800628390163183,"target_height":0.326673126406653,"target_pitch":-0.040354653665737504,"terminated_events":0,"vx_command":0},{"height_rmse":0.00023220789444167167,"lin_x_abs_mean":0.013193544931709766,"mean_actual_lin_x":-0.012772513553500175,"non_wheel_contact_rate":0,"pitch_error_abs_p95":0.006912520155310631,"pitch_rate_abs_p99":0.20353606343269348,"pitch_rmse":0.003761588828638196,"target_height":0.326673126406653,"target_pitch":-0.0015692794118340042,"terminated_events":0,"vx_command":0},{"height_rmse":0.00033165805507451296,"lin_x_abs_mean":0.04221079498529434,"mean_actual_lin_x":-0.04221079498529434,"non_wheel_contact_rate":0,"pitch_error_abs_p95":0.007439782842993736,"pitch_rate_abs_p99":0.2059984803199768,"pitch_rmse":0.0038227203767746687,"target_height":0.326673126406653,"target_pitch":0.0372160948420695,"terminated_events":0,"vx_command":0},{"height_rmse":0.00027032537036575377,"lin_x_abs_mean":0.07102835923433304,"mean_actual_lin_x":-0.07102835923433304,"non_wheel_contact_rate":0,"pitch_error_abs_p95":0.007872702553868294,"pitch_rate_abs_p99":0.19918079674243927,"pitch_rmse":0.0039871130138635635,"target_height":0.326673126406653,"target_pitch":0.076001469095973,"terminated_events":0,"vx_command":0}],"station_after":[{"height_rmse":0.00011422487295931205,"lin_x_abs_mean":0.009485120885074139,"mean_actual_lin_x":-0.007629805244505405,"non_wheel_contact_rate":0,"pitch_error_abs_p95":0.010666525922715664,"pitch_rate_abs_p99":0.19738774001598358,"pitch_rmse":0.005824975669384003,"target_height":0.30244420501302,"target_pitch":-0.079140027919641,"terminated_events":0,"vx_command":0},{"height_rmse":0.00017753987049218267,"lin_x_abs_mean":0.007060606963932514,"mean_actual_lin_x":-0.002455759095028043,"non_wheel_contact_rate":0,"pitch_error_abs_p95":0.00831653643399477,"pitch_rate_abs_p99":0.19310256838798523,"pitch_rmse":0.004381893202662468,"target_height":0.30244420501302,"target_pitch":-0.040354653665737504,"terminated_events":0,"vx_command":0},{"height_rmse":0.00020133302314206958,"lin_x_abs_mean":0.007019440643489361,"mean_actual_lin_x":0.001604776130989194,"non_wheel_contact_rate":0,"pitch_error_abs_p95":0.008012312464416027,"pitch_rate_abs_p99":0.21166177093982697,"pitch_rmse":0.004190211184322834,"target_height":0.30244420501302,"target_pitch":-0.0015692794118340042,"terminated_events":0,"vx_command":0},{"height_rmse":0.00015717488713562489,"lin_x_abs_mean":0.009027182124555111,"mean_actual_lin_x":0.006325125694274902,"non_wheel_contact_rate":0,"pitch_error_abs_p95":0.010737927630543709,"pitch_rate_abs_p99":0.22538073360919952,"pitch_rmse":0.0055274395272135735,"target_height":0.30244420501302,"target_pitch":0.0372160948420695,"terminated_events":0,"vx_command":0},{"height_rmse":0.00012926847557537258,"lin_x_abs_mean":0.01242983341217041,"mean_actual_lin_x":0.011353434063494205,"non_wheel_contact_rate":0,"pitch_error_abs_p95":0.012048491276800632,"pitch_rate_abs_p99":0.23213443160057068,"pitch_rmse":0.006944906897842884,"target_height":0.30244420501302,"target_pitch":0.076001469095973,"terminated_events":0,"vx_command":0},{"height_rmse":0.00012568464444484562,"lin_x_abs_mean":0.009485222399234772,"mean_actual_lin_x":-0.007743856403976679,"non_wheel_contact_rate":0,"pitch_error_abs_p95":0.011004761792719364,"pitch_rate_abs_p99":0.19528062641620636,"pitch_rmse":0.006141350604593754,"target_height":0.30850143536142827,"target_pitch":-0.079140027919641,"terminated_events":0,"vx_command":0},{"height_rmse":0.00020549038890749216,"lin_x_abs_mean":0.00725272111594677,"mean_actual_lin_x":-0.002465086057782173,"non_wheel_contact_rate":0,"pitch_error_abs_p95":0.008215098641812801,"pitch_rate_abs_p99":0.1966637820005417,"pitch_rmse":0.0043594371527433395,"target_height":0.30850143536142827,"target_pitch":-0.040354653665737504,"terminated_events":0,"vx_command":0},{"height_rmse":0.00026068216538988054,"lin_x_abs_mean":0.007244644686579704,"mean_actual_lin_x":0.0020972939673811197,"non_wheel_contact_rate":0,"pitch_error_abs_p95":0.0075866589322686195,"pitch_rate_abs_p99":0.20680899918079376,"pitch_rmse":0.004231896251440048,"target_height":0.30850143536142827,"target_pitch":-0.0015692794118340042,"terminated_events":0,"vx_command":0},{"height_rmse":0.00021906426991336048,"lin_x_abs_mean":0.009111982770264149,"mean_actual_lin_x":0.006999333389103413,"non_wheel_contact_rate":0,"pitch_error_abs_p95":0.009786408394575119,"pitch_rate_abs_p99":0.2177172303199768,"pitch_rmse":0.005188972223550081,"target_height":0.30850143536142827,"target_pitch":0.0372160948420695,"terminated_events":0,"vx_command":0},{"height_rmse":0.00013491036952473223,"lin_x_abs_mean":0.01271043997257948,"mean_actual_lin_x":0.011589261703193188,"non_wheel_contact_rate":0,"pitch_error_abs_p95":0.011163453571498394,"pitch_rate_abs_p99":0.25299277901649475,"pitch_rmse":0.006489579100161791,"target_height":0.30850143536142827,"target_pitch":0.076001469095973,"terminated_events":0,"vx_command":0},{"height_rmse":0.00010744819155661389,"lin_x_abs_mean":0.008638516999781132,"mean_actual_lin_x":-0.0070896209217607975,"non_wheel_contact_rate":0,"pitch_error_abs_p95":0.011002922430634499,"pitch_rate_abs_p99":0.19213919341564178,"pitch_rmse":0.006156035698950291,"target_height":0.3145586657098365,"target_pitch":-0.079140027919641,"terminated_events":0,"vx_command":0},{"height_rmse":0.00020254874834790826,"lin_x_abs_mean":0.006960600148886442,"mean_actual_lin_x":-0.0026815468445420265,"non_wheel_contact_rate":0,"pitch_error_abs_p95":0.008341909386217594,"pitch_rate_abs_p99":0.20080962777137756,"pitch_rmse":0.0043068393133580685,"target_height":0.3145586657098365,"target_pitch":-0.040354653665737504,"terminated_events":0,"vx_command":0},{"height_rmse":0.00027750778826884925,"lin_x_abs_mean":0.0071690804325044155,"mean_actual_lin_x":0.002367328153923154,"non_wheel_contact_rate":0,"pitch_error_abs_p95":0.007725246716290712,"pitch_rate_abs_p99":0.19581986963748932,"pitch_rmse":0.004219655878841877,"target_height":0.3145586657098365,"target_pitch":-0.0015692794118340042,"terminated_events":0,"vx_command":0},{"height_rmse":0.0002904982538893819,"lin_x_abs_mean":0.008898716419935226,"mean_actual_lin_x":0.006916059646755457,"non_wheel_contact_rate":0,"pitch_error_abs_p95":0.009638802148401737,"pitch_rate_abs_p99":0.2054133117198944,"pitch_rmse":0.0051255011931061745,"target_height":0.3145586657098365,"target_pitch":0.0372160948420695,"terminated_events":0,"vx_command":0},{"height_rmse":0.00019373034592717886,"lin_x_abs_mean":0.0122893201187253,"mean_actual_lin_x":0.011398443952202797,"non_wheel_contact_rate":0,"pitch_error_abs_p95":0.010842766612768173,"pitch_rate_abs_p99":0.22365739941596985,"pitch_rmse":0.006231054197996855,"target_height":0.3145586657098365,"target_pitch":0.076001469095973,"terminated_events":0,"vx_command":0},{"height_rmse":0.00011218861618544906,"lin_x_abs_mean":0.008709180168807507,"mean_actual_lin_x":-0.007137898821383715,"non_wheel_contact_rate":0,"pitch_error_abs_p95":0.010955187492072582,"pitch_rate_abs_p99":0.1973436176776886,"pitch_rmse":0.0061577362939715385,"target_height":0.32061589605824475,"target_pitch":-0.079140027919641,"terminated_events":0,"vx_command":0},{"height_rmse":0.00016890361439436674,"lin_x_abs_mean":0.0069791697897017,"mean_actual_lin_x":-0.0024877001997083426,"non_wheel_contact_rate":0,"pitch_error_abs_p95":0.008550627157092094,"pitch_rate_abs_p99":0.19760197401046753,"pitch_rmse":0.004442795645445585,"target_height":0.32061589605824475,"target_pitch":-0.040354653665737504,"terminated_events":0,"vx_command":0},{"height_rmse":0.00026882870588451624,"lin_x_abs_mean":0.006823875475674868,"mean_actual_lin_x":0.0015672380104660988,"non_wheel_contact_rate":0,"pitch_error_abs_p95":0.007626565173268318,"pitch_rate_abs_p99":0.2056138664484024,"pitch_rmse":0.003999816719442606,"target_height":0.32061589605824475,"target_pitch":-0.0015692794118340042,"terminated_events":0,"vx_command":0},{"height_rmse":0.00028351243236102164,"lin_x_abs_mean":0.008918791078031063,"mean_actual_lin_x":0.006937229540199041,"non_wheel_contact_rate":0,"pitch_error_abs_p95":0.00932585820555687,"pitch_rate_abs_p99":0.20580443739891052,"pitch_rmse":0.005009614862501621,"target_height":0.32061589605824475,"target_pitch":0.0372160948420695,"terminated_events":0,"vx_command":0},{"height_rmse":0.00022225864813663065,"lin_x_abs_mean":0.012313591316342354,"mean_actual_lin_x":0.011227017268538475,"non_wheel_contact_rate":0,"pitch_error_abs_p95":0.011337549425661564,"pitch_rate_abs_p99":0.24478933215141296,"pitch_rmse":0.0066415490582585335,"target_height":0.32061589605824475,"target_pitch":0.076001469095973,"terminated_events":0,"vx_command":0},{"height_rmse":0.0002104254817822948,"lin_x_abs_mean":0.009115445427596569,"mean_actual_lin_x":-0.007721322122961283,"non_wheel_contact_rate":0,"pitch_error_abs_p95":0.010264570824801922,"pitch_rate_abs_p99":0.18918564915657043,"pitch_rmse":0.0055488101206719875,"target_height":0.326673126406653,"target_pitch":-0.079140027919641,"terminated_events":0,"vx_command":0},{"height_rmse":0.00011169620847795159,"lin_x_abs_mean":0.006535099353641272,"mean_actual_lin_x":-0.0025435301940888166,"non_wheel_contact_rate":0,"pitch_error_abs_p95":0.008128964342176914,"pitch_rate_abs_p99":0.1946735382080078,"pitch_rmse":0.004189266823232174,"target_height":0.326673126406653,"target_pitch":-0.040354653665737504,"terminated_events":0,"vx_command":0},{"height_rmse":0.0002033898636000231,"lin_x_abs_mean":0.006897625979036093,"mean_actual_lin_x":0.0018619117327034473,"non_wheel_contact_rate":0,"pitch_error_abs_p95":0.007795293815433979,"pitch_rate_abs_p99":0.20958605408668518,"pitch_rmse":0.004247201606631279,"target_height":0.326673126406653,"target_pitch":-0.0015692794118340042,"terminated_events":0,"vx_command":0},{"height_rmse":0.00024582105106674135,"lin_x_abs_mean":0.008536030538380146,"mean_actual_lin_x":0.0066144876182079315,"non_wheel_contact_rate":0,"pitch_error_abs_p95":0.009855748154222965,"pitch_rate_abs_p99":0.19476854801177979,"pitch_rmse":0.005127625539898872,"target_height":0.326673126406653,"target_pitch":0.0372160948420695,"terminated_events":0,"vx_command":0},{"height_rmse":0.0002240820467704907,"lin_x_abs_mean":0.012142687104642391,"mean_actual_lin_x":0.011313319206237793,"non_wheel_contact_rate":0,"pitch_error_abs_p95":0.011474156752228737,"pitch_rate_abs_p99":0.20383119583129883,"pitch_rmse":0.00683866161853075,"target_height":0.326673126406653,"target_pitch":0.076001469095973,"terminated_events":0,"vx_command":0}],"latency_cells":[{"delay_ms":0,"delay_steps":0,"kick_event_count":64,"noise_tier":"none","non_wheel_contact_rate":0,"pitch_abs_p95":0.011043879203498363,"policy":"zero_residual","post_kick_lin_x_abs_max":0.1307574063539505,"recovery_time_s":0.1,"standing_abs_vx_mean":0.006987220607697964,"terminated_events":0,"tracking_abs_error_mean":0.00720513891428709,"tracking_abs_error_p95":0.01852722093462944},{"delay_ms":20,"delay_steps":1,"kick_event_count":64,"noise_tier":"none","non_wheel_contact_rate":0,"pitch_abs_p95":0.012163268402218819,"policy":"zero_residual","post_kick_lin_x_abs_max":0.11997531354427338,"recovery_time_s":0.18,"standing_abs_vx_mean":0.007109735161066055,"terminated_events":0,"tracking_abs_error_mean":0.008248977363109589,"tracking_abs_error_p95":0.020016200840473175},{"delay_ms":40,"delay_steps":2,"kick_event_count":64,"noise_tier":"none","non_wheel_contact_rate":0,"pitch_abs_p95":0.013558503240346909,"policy":"zero_residual","post_kick_lin_x_abs_max":0.12098667770624161,"recovery_time_s":0.26,"standing_abs_vx_mean":0.008761467412114143,"terminated_events":0,"tracking_abs_error_mean":0.008709645830094814,"tracking_abs_error_p95":0.021766146644949913},{"delay_ms":60,"delay_steps":3,"kick_event_count":64,"noise_tier":"none","non_wheel_contact_rate":0,"pitch_abs_p95":0.017446143552660942,"policy":"zero_residual","post_kick_lin_x_abs_max":0.13287465274333954,"recovery_time_s":0.4,"standing_abs_vx_mean":0.010456238873302937,"terminated_events":0,"tracking_abs_error_mean":0.0116716418415308,"tracking_abs_error_p95":0.027849527075886726},{"delay_ms":80,"delay_steps":4,"kick_event_count":64,"noise_tier":"none","non_wheel_contact_rate":0,"pitch_abs_p95":0.02760768122971058,"policy":"zero_residual","post_kick_lin_x_abs_max":0.1461997777223587,"recovery_time_s":0.92,"standing_abs_vx_mean":0.01839355006814003,"terminated_events":0,"tracking_abs_error_mean":0.020391298457980156,"tracking_abs_error_p95":0.04236597567796707},{"delay_ms":0,"delay_steps":0,"kick_event_count":64,"noise_tier":"encoder","non_wheel_contact_rate":0,"pitch_abs_p95":0.010844380594789982,"policy":"zero_residual","post_kick_lin_x_abs_max":0.11990196257829666,"recovery_time_s":0.08,"standing_abs_vx_mean":0.006949808448553085,"terminated_events":0,"tracking_abs_error_mean":0.007256990298628807,"tracking_abs_error_p95":0.01863228529691696},{"delay_ms":20,"delay_steps":1,"kick_event_count":64,"noise_tier":"encoder","non_wheel_contact_rate":0,"pitch_abs_p95":0.011869456619024277,"policy":"zero_residual","post_kick_lin_x_abs_max":0.12309412658214569,"recovery_time_s":0.18,"standing_abs_vx_mean":0.007007367443293333,"terminated_events":0,"tracking_abs_error_mean":0.007992643862962723,"tracking_abs_error_p95":0.020468534901738167},{"delay_ms":40,"delay_steps":2,"kick_event_count":64,"noise_tier":"encoder","non_wheel_contact_rate":0,"pitch_abs_p95":0.013673351146280766,"policy":"zero_residual","post_kick_lin_x_abs_max":0.12961448729038239,"recovery_time_s":0.28,"standing_abs_vx_mean":0.00862827431410551,"terminated_events":0,"tracking_abs_error_mean":0.009000776335597038,"tracking_abs_error_p95":0.022732291370630264},{"delay_ms":60,"delay_steps":3,"kick_event_count":64,"noise_tier":"encoder","non_wheel_contact_rate":0,"pitch_abs_p95":0.017853394150733948,"policy":"zero_residual","post_kick_lin_x_abs_max":0.1293426901102066,"recovery_time_s":0.3,"standing_abs_vx_mean":0.010524452663958073,"terminated_events":0,"tracking_abs_error_mean":0.012121072970330715,"tracking_abs_error_p95":0.02783133089542389},{"delay_ms":80,"delay_steps":4,"kick_event_count":64,"noise_tier":"encoder","non_wheel_contact_rate":0,"pitch_abs_p95":0.028069453313946724,"policy":"zero_residual","post_kick_lin_x_abs_max":0.150909423828125,"recovery_time_s":1.26,"standing_abs_vx_mean":0.018602658063173294,"terminated_events":0,"tracking_abs_error_mean":0.02049054391682148,"tracking_abs_error_p95":0.0429089218378067},{"delay_ms":0,"delay_steps":0,"kick_event_count":64,"noise_tier":"mems_imu","non_wheel_contact_rate":0,"pitch_abs_p95":0.01314107608050108,"policy":"zero_residual","post_kick_lin_x_abs_max":0.1414753943681717,"recovery_time_s":0.18,"standing_abs_vx_mean":0.014406519010663033,"terminated_events":0,"tracking_abs_error_mean":0.014303396455943584,"tracking_abs_error_p95":0.038086310029029846},{"delay_ms":20,"delay_steps":1,"kick_event_count":64,"noise_tier":"mems_imu","non_wheel_contact_rate":0,"pitch_abs_p95":0.014085836708545685,"policy":"zero_residual","post_kick_lin_x_abs_max":0.12586554884910583,"recovery_time_s":0.22,"standing_abs_vx_mean":0.014244974590837955,"terminated_events":0,"tracking_abs_error_mean":0.014384638518095016,"tracking_abs_error_p95":0.03695063665509224},{"delay_ms":40,"delay_steps":2,"kick_event_count":64,"noise_tier":"mems_imu","non_wheel_contact_rate":0,"pitch_abs_p95":0.01747898943722248,"policy":"zero_residual","post_kick_lin_x_abs_max":0.1387210190296173,"recovery_time_s":0.28,"standing_abs_vx_mean":0.015932835638523102,"terminated_events":0,"tracking_abs_error_mean":0.015655843541026115,"tracking_abs_error_p95":0.04021057114005089},{"delay_ms":60,"delay_steps":3,"kick_event_count":64,"noise_tier":"mems_imu","non_wheel_contact_rate":0,"pitch_abs_p95":0.021695401519536972,"policy":"zero_residual","post_kick_lin_x_abs_max":0.14992760121822357,"recovery_time_s":0.44,"standing_abs_vx_mean":0.017228471115231514,"terminated_events":0,"tracking_abs_error_mean":0.017300719395279884,"tracking_abs_error_p95":0.04270332679152489},{"delay_ms":80,"delay_steps":4,"kick_event_count":64,"noise_tier":"mems_imu","non_wheel_contact_rate":0,"pitch_abs_p95":0.03229844570159912,"policy":"zero_residual","post_kick_lin_x_abs_max":0.20006190240383148,"recovery_time_s":1.34,"standing_abs_vx_mean":0.02235904522240162,"terminated_events":1,"tracking_abs_error_mean":0.02192194014787674,"tracking_abs_error_p95":0.0547175295650959},{"delay_ms":0,"delay_steps":0,"kick_event_count":64,"noise_tier":"mems_imu_2x","non_wheel_contact_rate":0,"pitch_abs_p95":0.020785534754395485,"policy":"zero_residual","post_kick_lin_x_abs_max":0.1483522653579712,"recovery_time_s":0.34,"standing_abs_vx_mean":0.02334274724125862,"terminated_events":0,"tracking_abs_error_mean":0.02241542376577854,"tracking_abs_error_p95":0.054450251162052155},{"delay_ms":20,"delay_steps":1,"kick_event_count":64,"noise_tier":"mems_imu_2x","non_wheel_contact_rate":0,"pitch_abs_p95":0.02451029047369957,"policy":"zero_residual","post_kick_lin_x_abs_max":0.1624964475631714,"recovery_time_s":0.44,"standing_abs_vx_mean":0.025096632540225983,"terminated_events":0,"tracking_abs_error_mean":0.02479550987482071,"tracking_abs_error_p95":0.06114121526479721},{"delay_ms":40,"delay_steps":2,"kick_event_count":64,"noise_tier":"mems_imu_2x","non_wheel_contact_rate":0,"pitch_abs_p95":0.03026701882481575,"policy":"zero_residual","post_kick_lin_x_abs_max":0.1623184084892273,"recovery_time_s":0.56,"standing_abs_vx_mean":0.027675826102495193,"terminated_events":0,"tracking_abs_error_mean":0.02679629996418953,"tracking_abs_error_p95":0.06524382531642914},{"delay_ms":60,"delay_steps":3,"kick_event_count":64,"noise_tier":"mems_imu_2x","non_wheel_contact_rate":0,"pitch_abs_p95":0.038258396089076996,"policy":"zero_residual","post_kick_lin_x_abs_max":0.17828451097011566,"recovery_time_s":0.74,"standing_abs_vx_mean":0.0303372610360384,"terminated_events":0,"tracking_abs_error_mean":0.02987164817750454,"tracking_abs_error_p95":0.07334631681442261},{"delay_ms":80,"delay_steps":4,"kick_event_count":64,"noise_tier":"mems_imu_2x","non_wheel_contact_rate":0,"pitch_abs_p95":0.0708014965057373,"policy":"zero_residual","post_kick_lin_x_abs_max":0.2983553111553192,"recovery_time_s":3.58,"standing_abs_vx_mean":0.04753377288579941,"terminated_events":2,"tracking_abs_error_mean":0.04053782299160957,"tracking_abs_error_p95":0.10227109491825104},{"delay_ms":0,"delay_steps":0,"kick_event_count":64,"noise_tier":"none","non_wheel_contact_rate":0,"pitch_abs_p95":0.011351809836924076,"policy":"candidate","post_kick_lin_x_abs_max":0.11191771924495697,"recovery_time_s":0.08,"standing_abs_vx_mean":0.006497347727417946,"terminated_events":0,"tracking_abs_error_mean":0.006531170569360256,"tracking_abs_error_p95":0.01671610213816166},{"delay_ms":20,"delay_steps":1,"kick_event_count":64,"noise_tier":"none","non_wheel_contact_rate":0,"pitch_abs_p95":0.011603688821196556,"policy":"candidate","post_kick_lin_x_abs_max":0.14142851531505585,"recovery_time_s":0.22,"standing_abs_vx_mean":0.00858239084482193,"terminated_events":0,"tracking_abs_error_mean":0.008699791505932808,"tracking_abs_error_p95":0.021975353360176086},{"delay_ms":40,"delay_steps":2,"kick_event_count":64,"noise_tier":"none","non_wheel_contact_rate":0,"pitch_abs_p95":0.013165956363081932,"policy":"candidate","post_kick_lin_x_abs_max":0.12976570427417755,"recovery_time_s":0.24,"standing_abs_vx_mean":0.009301927872002125,"terminated_events":0,"tracking_abs_error_mean":0.01005501952022314,"tracking_abs_error_p95":0.02599981613457203},{"delay_ms":60,"delay_steps":3,"kick_event_count":64,"noise_tier":"none","non_wheel_contact_rate":0,"pitch_abs_p95":0.016171107068657875,"policy":"candidate","post_kick_lin_x_abs_max":0.132547527551651,"recovery_time_s":0.3,"standing_abs_vx_mean":0.010480305179953575,"terminated_events":2,"tracking_abs_error_mean":0.011140689253807068,"tracking_abs_error_p95":0.027021288871765137},{"delay_ms":80,"delay_steps":4,"kick_event_count":64,"noise_tier":"none","non_wheel_contact_rate":0,"pitch_abs_p95":0.030529405921697617,"policy":"candidate","post_kick_lin_x_abs_max":0.2935265600681305,"recovery_time_s":2.1,"standing_abs_vx_mean":0.019155452027916908,"terminated_events":6,"tracking_abs_error_mean":0.020555447787046432,"tracking_abs_error_p95":0.04886236786842346},{"delay_ms":0,"delay_steps":0,"kick_event_count":64,"noise_tier":"encoder","non_wheel_contact_rate":0,"pitch_abs_p95":0.011157880537211895,"policy":"candidate","post_kick_lin_x_abs_max":0.11497818678617477,"recovery_time_s":0.08,"standing_abs_vx_mean":0.006153447553515434,"terminated_events":0,"tracking_abs_error_mean":0.006454714108258486,"tracking_abs_error_p95":0.016684992238879204},{"delay_ms":20,"delay_steps":1,"kick_event_count":64,"noise_tier":"encoder","non_wheel_contact_rate":0,"pitch_abs_p95":0.011300064623355865,"policy":"candidate","post_kick_lin_x_abs_max":0.12796908617019653,"recovery_time_s":0.16,"standing_abs_vx_mean":0.008384688757359982,"terminated_events":0,"tracking_abs_error_mean":0.008600873872637749,"tracking_abs_error_p95":0.022157354280352592},{"delay_ms":40,"delay_steps":2,"kick_event_count":64,"noise_tier":"encoder","non_wheel_contact_rate":0,"pitch_abs_p95":0.013002783991396427,"policy":"candidate","post_kick_lin_x_abs_max":0.13947659730911255,"recovery_time_s":0.24,"standing_abs_vx_mean":0.009780127555131912,"terminated_events":0,"tracking_abs_error_mean":0.009976571425795555,"tracking_abs_error_p95":0.02580813691020012},{"delay_ms":60,"delay_steps":3,"kick_event_count":64,"noise_tier":"encoder","non_wheel_contact_rate":0,"pitch_abs_p95":0.01647009328007698,"policy":"candidate","post_kick_lin_x_abs_max":0.13268159329891205,"recovery_time_s":0.36,"standing_abs_vx_mean":0.010261217132210732,"terminated_events":0,"tracking_abs_error_mean":0.011237612925469875,"tracking_abs_error_p95":0.027789568528532982},{"delay_ms":80,"delay_steps":4,"kick_event_count":64,"noise_tier":"encoder","non_wheel_contact_rate":0,"pitch_abs_p95":0.02985461615025997,"policy":"candidate","post_kick_lin_x_abs_max":0.15648983418941498,"recovery_time_s":1.18,"standing_abs_vx_mean":0.02020798623561859,"terminated_events":3,"tracking_abs_error_mean":0.019325407221913338,"tracking_abs_error_p95":0.045518577098846436},{"delay_ms":0,"delay_steps":0,"kick_event_count":64,"noise_tier":"mems_imu","non_wheel_contact_rate":0,"pitch_abs_p95":0.01311526820063591,"policy":"candidate","post_kick_lin_x_abs_max":0.11053044348955154,"recovery_time_s":0.1,"standing_abs_vx_mean":0.013527307659387589,"terminated_events":0,"tracking_abs_error_mean":0.013584049418568611,"tracking_abs_error_p95":0.03556500002741814},{"delay_ms":20,"delay_steps":1,"kick_event_count":64,"noise_tier":"mems_imu","non_wheel_contact_rate":0,"pitch_abs_p95":0.015923790633678436,"policy":"candidate","post_kick_lin_x_abs_max":0.14582562446594238,"recovery_time_s":0.26,"standing_abs_vx_mean":0.016116809099912643,"terminated_events":0,"tracking_abs_error_mean":0.015706516802310944,"tracking_abs_error_p95":0.04001062363386154},{"delay_ms":40,"delay_steps":2,"kick_event_count":64,"noise_tier":"mems_imu","non_wheel_contact_rate":0,"pitch_abs_p95":0.019215052947402,"policy":"candidate","post_kick_lin_x_abs_max":0.15189579129219055,"recovery_time_s":0.3,"standing_abs_vx_mean":0.016692815348505974,"terminated_events":0,"tracking_abs_error_mean":0.016871217638254166,"tracking_abs_error_p95":0.04197467118501663},{"delay_ms":60,"delay_steps":3,"kick_event_count":64,"noise_tier":"mems_imu","non_wheel_contact_rate":0,"pitch_abs_p95":0.02352210506796837,"policy":"candidate","post_kick_lin_x_abs_max":0.1679765284061432,"recovery_time_s":0.52,"standing_abs_vx_mean":0.018342306837439537,"terminated_events":0,"tracking_abs_error_mean":0.018747352063655853,"tracking_abs_error_p95":0.0467117503285408},{"delay_ms":80,"delay_steps":4,"kick_event_count":64,"noise_tier":"mems_imu","non_wheel_contact_rate":0,"pitch_abs_p95":0.0492582730948925,"policy":"candidate","post_kick_lin_x_abs_max":0.2198176383972168,"recovery_time_s":1.66,"standing_abs_vx_mean":0.0349641889333725,"terminated_events":10,"tracking_abs_error_mean":0.028445031493902206,"tracking_abs_error_p95":0.07210559397935867},{"delay_ms":0,"delay_steps":0,"kick_event_count":64,"noise_tier":"mems_imu_2x","non_wheel_contact_rate":0,"pitch_abs_p95":0.020040947943925858,"policy":"candidate","post_kick_lin_x_abs_max":0.14655670523643494,"recovery_time_s":0.14,"standing_abs_vx_mean":0.022375021129846573,"terminated_events":0,"tracking_abs_error_mean":0.022285910323262215,"tracking_abs_error_p95":0.053159549832344055},{"delay_ms":20,"delay_steps":1,"kick_event_count":64,"noise_tier":"mems_imu_2x","non_wheel_contact_rate":0,"pitch_abs_p95":0.026711465790867805,"policy":"candidate","post_kick_lin_x_abs_max":0.157490074634552,"recovery_time_s":0.36,"standing_abs_vx_mean":0.025624293833971024,"terminated_events":0,"tracking_abs_error_mean":0.025862382724881172,"tracking_abs_error_p95":0.06469564884901047},{"delay_ms":40,"delay_steps":2,"kick_event_count":64,"noise_tier":"mems_imu_2x","non_wheel_contact_rate":0,"pitch_abs_p95":0.03461362048983574,"policy":"candidate","post_kick_lin_x_abs_max":0.20025943219661713,"recovery_time_s":0.56,"standing_abs_vx_mean":0.029068009927868843,"terminated_events":0,"tracking_abs_error_mean":0.02860417775809765,"tracking_abs_error_p95":0.07147517055273056},{"delay_ms":60,"delay_steps":3,"kick_event_count":64,"noise_tier":"mems_imu_2x","non_wheel_contact_rate":0,"pitch_abs_p95":0.043304260820150375,"policy":"candidate","post_kick_lin_x_abs_max":0.1822700798511505,"recovery_time_s":0.62,"standing_abs_vx_mean":0.0323825441300869,"terminated_events":0,"tracking_abs_error_mean":0.03217266872525215,"tracking_abs_error_p95":0.07953979820013046},{"delay_ms":80,"delay_steps":4,"kick_event_count":64,"noise_tier":"mems_imu_2x","non_wheel_contact_rate":0,"pitch_abs_p95":0.12649685144424438,"policy":"candidate","post_kick_lin_x_abs_max":1.6340394020080566,"recovery_time_s":5.04,"standing_abs_vx_mean":0.07934746146202087,"terminated_events":22,"tracking_abs_error_mean":0.06326030939817429,"tracking_abs_error_p95":0.16573189198970795}],"interface":{"policy":"clip(raw, -1, 1) -&gt; mask -&gt; scale","wheels":"classical + mapped balance/yaw residual -&gt; slew limit -&gt; velocity clip","legs":"posture map + four leg residuals -&gt; soft joint-position clip -&gt; encoder bias correction","outputs":["2 wheel velocity targets (rad/s)","4 leg position targets (rad)"],"posture_reference":"height/pitch slew is upstream; no separate final leg slew in this historical action implementation"}}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4183-9F3D-49BD-B748-B706AE30E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buNone/>
              <a:defRPr sz="1403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39631-A8D8-4010-AA7D-DBC585104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FD43E-7747-4040-99E3-36646DAD85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C64F0-9DCA-4129-B9E3-11E9B9277B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EF21C-9800-4CFB-92FC-31705CA455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8749-5428-45A6-A086-3F44475C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F1D2-B824-4784-AD8A-35BE1C09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48497-1314-46A5-BDDC-6B626CC0EA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CDEB-CC11-4554-B4D3-4409790D31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711FF-3E53-4F4B-B6F1-BB6FCD54AE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277E-24DB-4C7D-8362-03F35E10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buNone/>
              <a:defRPr sz="1403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DB1E3-0D62-4F5B-83C7-1E03F1EE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97BFC-C1D3-45BE-A6D4-63B4C57EDC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71089-4106-4E2D-84FD-A5FAE93623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85155-A0E0-4AB3-99FD-7892FF19F9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059E-9043-434B-9499-86ED2D04D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C0DFB-43DC-429F-9D85-0E645E163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26BCD-AD05-47DA-97B9-A740250DFBA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460C0-A452-44C6-8AAF-14983C64E6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D0019-0CEE-4C3C-A0FE-E443391BA4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B13F9-CBFA-4DCE-A078-22B11A8786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06DD-5F3B-4065-8740-37574F2B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6C556-3327-439A-A3FD-3A30DFC8E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67765-5BAF-4086-9B93-6D864ED56A7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2F70F-612A-45EE-9307-1108A4D82D7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A1DAF-C6BF-4F17-937E-D1FDD08DEDA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8BBDD-7C56-4763-97A7-91B69B1205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EA8281-3E74-4BF2-B685-F80CCE31FA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C7657-F74A-40F6-921C-087F59EDAD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426E-881B-4C0E-91A3-23139ECC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41A67-0FBB-4AF6-9BC0-33DB6E49FB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C30B6-B3FC-4B4F-A31D-FEE8106CFE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BB91A-3A2B-46FB-9CEC-3B83054A32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A4DF7-5BF1-4B38-A033-99E51A0E3D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84A2E-C400-42D0-AE94-852DACB424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FAA7A-1901-4A94-BE3F-A5F1F7C48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1D09-96B6-4030-8BE1-C2E5537CE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buNone/>
              <a:defRPr sz="7488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B35B-8605-4511-8B1D-F4E77EBC5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buNone/>
              <a:defRPr sz="7488"/>
            </a:lvl1pPr>
            <a:lvl2pPr>
              <a:buNone/>
              <a:defRPr sz="6552"/>
            </a:lvl2pPr>
            <a:lvl3pPr>
              <a:buNone/>
              <a:defRPr sz="5616"/>
            </a:lvl3pPr>
            <a:lvl4pPr>
              <a:buNone/>
              <a:defRPr sz="4680"/>
            </a:lvl4pPr>
            <a:lvl5pPr>
              <a:buNone/>
              <a:defRPr sz="4680"/>
            </a:lvl5pPr>
            <a:lvl6pPr>
              <a:buNone/>
              <a:defRPr sz="4680"/>
            </a:lvl6pPr>
            <a:lvl7pPr>
              <a:buNone/>
              <a:defRPr sz="4680"/>
            </a:lvl7pPr>
            <a:lvl8pPr>
              <a:buNone/>
              <a:defRPr sz="4680"/>
            </a:lvl8pPr>
            <a:lvl9pPr>
              <a:buNone/>
              <a:defRPr sz="468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3190B-CF41-4E8A-8D19-30454B57CA8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3FBDA-0697-4E3A-A166-4C9A2CF7F7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DBCF3-3C1E-4FFD-AE9D-15F30CCC96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1597-4C3C-462B-BB60-05E21763F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75B0-691A-420D-BCFF-A23EAA62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buNone/>
              <a:defRPr sz="7488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CE438-426E-464E-A031-430D36181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825FF-E49D-49E9-A826-6747C605FC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55929-0416-4A23-B6EE-B5738E25E2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5BFE8-C0AB-451B-B897-D1F6669711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08099-CB54-4AAF-88E9-41D46184F8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AA38-86E5-4B80-B56C-92CDFDE30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EA74A-55F7-4A5D-A228-C0B1BCEEB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CFF3B-2639-4988-8B18-7C21540247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6952B-840E-4976-AFC8-8B8295BDC6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716A4-AC61-404F-9F59-72706FFF0A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F5868-EDC0-4D6B-94E4-9E387624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8BFB3-A952-4FFE-A9D0-34BDD4846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B1849-8CB9-4CA4-969E-8B7176BC28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CC13E-BEBB-4B7A-9E6D-527B3B8EDE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69513-DAE7-44F6-B585-20EB42E0E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281B15A-DE7C-4788-BA75-459772D4CA7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D0F2C-29F7-42BD-99E8-B9AE49AA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20E75-141F-4BA0-AEED-9474F392C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A82B0-2026-4F23-98A2-094D32C74D0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t>2026/10/2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4AADA-70D2-4C1E-B421-C1CE344EBB4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153B-34FE-4764-8116-58BBF68FC3E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9605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534901" indent="-534901" algn="l" defTabSz="2139605">
        <a:lnSpc>
          <a:spcPct val="90000"/>
        </a:lnSpc>
        <a:spcBef>
          <a:spcPts val="2340"/>
        </a:spcBef>
        <a:buFont typeface="Arial"/>
        <a:buChar char="•"/>
        <a:defRPr sz="6552" kern="1200">
          <a:solidFill>
            <a:schemeClr val="tx1"/>
          </a:solidFill>
          <a:latin typeface="+mn-lt"/>
          <a:ea typeface="+mn-lt"/>
          <a:cs typeface="+mn-lt"/>
        </a:defRPr>
      </a:lvl1pPr>
      <a:lvl2pPr marL="1604703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5616" kern="1200">
          <a:solidFill>
            <a:schemeClr val="tx1"/>
          </a:solidFill>
          <a:latin typeface="+mn-lt"/>
          <a:ea typeface="+mn-lt"/>
          <a:cs typeface="+mn-lt"/>
        </a:defRPr>
      </a:lvl2pPr>
      <a:lvl3pPr marL="2674506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680" kern="1200">
          <a:solidFill>
            <a:schemeClr val="tx1"/>
          </a:solidFill>
          <a:latin typeface="+mn-lt"/>
          <a:ea typeface="+mn-lt"/>
          <a:cs typeface="+mn-lt"/>
        </a:defRPr>
      </a:lvl3pPr>
      <a:lvl4pPr marL="3744308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4pPr>
      <a:lvl5pPr marL="4814110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5pPr>
      <a:lvl6pPr marL="5883913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6pPr>
      <a:lvl7pPr marL="6953715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7pPr>
      <a:lvl8pPr marL="8023517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8pPr>
      <a:lvl9pPr marL="9093319" indent="-534901" algn="l" defTabSz="2139605">
        <a:lnSpc>
          <a:spcPct val="90000"/>
        </a:lnSpc>
        <a:spcBef>
          <a:spcPts val="1170"/>
        </a:spcBef>
        <a:buFont typeface="Arial"/>
        <a:buChar char="•"/>
        <a:defRPr sz="4212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1pPr>
      <a:lvl2pPr marL="1069802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2pPr>
      <a:lvl3pPr marL="2139605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3pPr>
      <a:lvl4pPr marL="3209407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4pPr>
      <a:lvl5pPr marL="4279209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5pPr>
      <a:lvl6pPr marL="5349011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6pPr>
      <a:lvl7pPr marL="6418814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7pPr>
      <a:lvl8pPr marL="7488616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8pPr>
      <a:lvl9pPr marL="8558418" algn="l" defTabSz="2139605">
        <a:buNone/>
        <a:defRPr sz="4212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11" Type="http://schemas.openxmlformats.org/officeDocument/2006/relationships/image" Target="../media/image6.png"/><Relationship Id="rId5" Type="http://schemas.openxmlformats.org/officeDocument/2006/relationships/chart" Target="../charts/chart6.xml"/><Relationship Id="rId10" Type="http://schemas.openxmlformats.org/officeDocument/2006/relationships/image" Target="../media/image5.png"/><Relationship Id="rId4" Type="http://schemas.openxmlformats.org/officeDocument/2006/relationships/chart" Target="../charts/chart5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>
            <a:spLocks noGrp="1"/>
          </p:cNvSpPr>
          <p:nvPr/>
        </p:nvSpPr>
        <p:spPr>
          <a:xfrm>
            <a:off x="0" y="-34698"/>
            <a:ext cx="21384000" cy="2109247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2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3" y="401677"/>
            <a:ext cx="3532333" cy="1307733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>
            <a:spLocks noGrp="1"/>
          </p:cNvSpPr>
          <p:nvPr/>
        </p:nvSpPr>
        <p:spPr>
          <a:xfrm>
            <a:off x="0" y="28908000"/>
            <a:ext cx="21384000" cy="13680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>
            <a:spLocks noGrp="1"/>
          </p:cNvSpPr>
          <p:nvPr/>
        </p:nvSpPr>
        <p:spPr>
          <a:xfrm>
            <a:off x="6723458" y="960616"/>
            <a:ext cx="14148000" cy="7989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 u="none" cap="none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Science and Engineering</a:t>
            </a:r>
            <a:endParaRPr sz="2800" b="0" i="0" u="none" cap="none" baseline="0" dirty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>
            <a:spLocks noGrp="1"/>
          </p:cNvSpPr>
          <p:nvPr/>
        </p:nvSpPr>
        <p:spPr>
          <a:xfrm>
            <a:off x="11016000" y="29303999"/>
            <a:ext cx="9684000" cy="3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Zijie Zhang ([20721407])</a:t>
            </a:r>
          </a:p>
        </p:txBody>
      </p:sp>
      <p:sp>
        <p:nvSpPr>
          <p:cNvPr id="219" name="main-title">
            <a:extLst>
              <a:ext uri="{FF2B5EF4-FFF2-40B4-BE49-F238E27FC236}">
                <a16:creationId xmlns:a16="http://schemas.microsoft.com/office/drawing/2014/main" id="{6924D869-A0AC-4310-9BB3-7548D8CB020C}"/>
              </a:ext>
            </a:extLst>
          </p:cNvPr>
          <p:cNvSpPr>
            <a:spLocks noGrp="1"/>
          </p:cNvSpPr>
          <p:nvPr/>
        </p:nvSpPr>
        <p:spPr>
          <a:xfrm>
            <a:off x="352286" y="2510679"/>
            <a:ext cx="20247428" cy="10893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2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5200" b="1" dirty="0">
                <a:solidFill>
                  <a:srgbClr val="002244"/>
                </a:solidFill>
                <a:latin typeface="Arial"/>
                <a:ea typeface="Arial"/>
                <a:cs typeface="Arial"/>
              </a:rPr>
              <a:t>Posture-Aware Hybrid Control</a:t>
            </a:r>
            <a:r>
              <a:rPr lang="en-US" sz="5200" b="1" dirty="0">
                <a:solidFill>
                  <a:srgbClr val="002244"/>
                </a:solidFill>
                <a:latin typeface="Arial"/>
                <a:ea typeface="Arial"/>
                <a:cs typeface="Arial"/>
              </a:rPr>
              <a:t> </a:t>
            </a:r>
            <a:r>
              <a:rPr sz="5200" b="1" dirty="0">
                <a:solidFill>
                  <a:srgbClr val="002244"/>
                </a:solidFill>
                <a:latin typeface="Arial"/>
                <a:ea typeface="Arial"/>
                <a:cs typeface="Arial"/>
              </a:rPr>
              <a:t>for a Two-Wheeled Legged Robot</a:t>
            </a:r>
          </a:p>
        </p:txBody>
      </p:sp>
      <p:sp>
        <p:nvSpPr>
          <p:cNvPr id="220" name="subtitle">
            <a:extLst>
              <a:ext uri="{FF2B5EF4-FFF2-40B4-BE49-F238E27FC236}">
                <a16:creationId xmlns:a16="http://schemas.microsoft.com/office/drawing/2014/main" id="{1BC66BBF-4828-4795-AE5F-4226FEC9AC79}"/>
              </a:ext>
            </a:extLst>
          </p:cNvPr>
          <p:cNvSpPr>
            <a:spLocks noGrp="1"/>
          </p:cNvSpPr>
          <p:nvPr/>
        </p:nvSpPr>
        <p:spPr>
          <a:xfrm>
            <a:off x="352286" y="3677677"/>
            <a:ext cx="19584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700" b="0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From Analytical Compensation to Bounded Residual Recovery</a:t>
            </a:r>
          </a:p>
        </p:txBody>
      </p:sp>
      <p:sp>
        <p:nvSpPr>
          <p:cNvPr id="242" name="hero-caption">
            <a:extLst>
              <a:ext uri="{FF2B5EF4-FFF2-40B4-BE49-F238E27FC236}">
                <a16:creationId xmlns:a16="http://schemas.microsoft.com/office/drawing/2014/main" id="{413ECFB2-2026-4366-9250-CE51E8D6EBC5}"/>
              </a:ext>
            </a:extLst>
          </p:cNvPr>
          <p:cNvSpPr>
            <a:spLocks noGrp="1"/>
          </p:cNvSpPr>
          <p:nvPr/>
        </p:nvSpPr>
        <p:spPr>
          <a:xfrm>
            <a:off x="1903074" y="10456682"/>
            <a:ext cx="10008000" cy="3793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002244"/>
                </a:solidFill>
                <a:latin typeface="Arial"/>
                <a:ea typeface="Arial"/>
                <a:cs typeface="Arial"/>
              </a:rPr>
              <a:t>HopperTrex</a:t>
            </a:r>
            <a:r>
              <a:rPr sz="1800" b="1" dirty="0">
                <a:solidFill>
                  <a:srgbClr val="002244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2244"/>
                </a:solidFill>
                <a:latin typeface="Arial"/>
                <a:ea typeface="Arial"/>
                <a:cs typeface="Arial"/>
              </a:rPr>
              <a:t>Kinodynamic</a:t>
            </a:r>
            <a:r>
              <a:rPr sz="1800" b="1" dirty="0">
                <a:solidFill>
                  <a:srgbClr val="002244"/>
                </a:solidFill>
                <a:latin typeface="Arial"/>
                <a:ea typeface="Arial"/>
                <a:cs typeface="Arial"/>
              </a:rPr>
              <a:t> Model &amp; Perturbation Profile</a:t>
            </a:r>
          </a:p>
        </p:txBody>
      </p:sp>
      <p:sp>
        <p:nvSpPr>
          <p:cNvPr id="243" name="panel-15">
            <a:extLst>
              <a:ext uri="{FF2B5EF4-FFF2-40B4-BE49-F238E27FC236}">
                <a16:creationId xmlns:a16="http://schemas.microsoft.com/office/drawing/2014/main" id="{8E3CA662-EA7D-4E4A-B193-C240760930C8}"/>
              </a:ext>
            </a:extLst>
          </p:cNvPr>
          <p:cNvSpPr>
            <a:spLocks noGrp="1"/>
          </p:cNvSpPr>
          <p:nvPr/>
        </p:nvSpPr>
        <p:spPr>
          <a:xfrm>
            <a:off x="11231999" y="4903377"/>
            <a:ext cx="7705705" cy="5337306"/>
          </a:xfrm>
          <a:prstGeom prst="rect">
            <a:avLst/>
          </a:prstGeom>
          <a:solidFill>
            <a:srgbClr val="EFF8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copy-16">
            <a:extLst>
              <a:ext uri="{FF2B5EF4-FFF2-40B4-BE49-F238E27FC236}">
                <a16:creationId xmlns:a16="http://schemas.microsoft.com/office/drawing/2014/main" id="{71857753-C876-4E0E-94D3-262B31FF9744}"/>
              </a:ext>
            </a:extLst>
          </p:cNvPr>
          <p:cNvSpPr>
            <a:spLocks noGrp="1"/>
          </p:cNvSpPr>
          <p:nvPr/>
        </p:nvSpPr>
        <p:spPr>
          <a:xfrm>
            <a:off x="11772000" y="5237735"/>
            <a:ext cx="8208000" cy="5105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Key Contributions</a:t>
            </a:r>
          </a:p>
        </p:txBody>
      </p:sp>
      <p:sp>
        <p:nvSpPr>
          <p:cNvPr id="245" name="contribution-pill-01">
            <a:extLst>
              <a:ext uri="{FF2B5EF4-FFF2-40B4-BE49-F238E27FC236}">
                <a16:creationId xmlns:a16="http://schemas.microsoft.com/office/drawing/2014/main" id="{BB493FB2-B433-4DB8-A122-41E8D94018FF}"/>
              </a:ext>
            </a:extLst>
          </p:cNvPr>
          <p:cNvSpPr>
            <a:spLocks noGrp="1"/>
          </p:cNvSpPr>
          <p:nvPr/>
        </p:nvSpPr>
        <p:spPr>
          <a:xfrm>
            <a:off x="11772000" y="5933149"/>
            <a:ext cx="504000" cy="347707"/>
          </a:xfrm>
          <a:prstGeom prst="roundRect">
            <a:avLst>
              <a:gd name="adj" fmla="val 18182"/>
            </a:avLst>
          </a:prstGeom>
          <a:solidFill>
            <a:srgbClr val="087F8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copy-17">
            <a:extLst>
              <a:ext uri="{FF2B5EF4-FFF2-40B4-BE49-F238E27FC236}">
                <a16:creationId xmlns:a16="http://schemas.microsoft.com/office/drawing/2014/main" id="{60AFFDFB-0F0C-4026-A3BA-04EA21CFDECD}"/>
              </a:ext>
            </a:extLst>
          </p:cNvPr>
          <p:cNvSpPr>
            <a:spLocks noGrp="1"/>
          </p:cNvSpPr>
          <p:nvPr/>
        </p:nvSpPr>
        <p:spPr>
          <a:xfrm>
            <a:off x="11772000" y="5964759"/>
            <a:ext cx="504000" cy="312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7" name="copy-18">
            <a:extLst>
              <a:ext uri="{FF2B5EF4-FFF2-40B4-BE49-F238E27FC236}">
                <a16:creationId xmlns:a16="http://schemas.microsoft.com/office/drawing/2014/main" id="{EB765835-E22B-4EA9-A043-60AE0DFA3B2B}"/>
              </a:ext>
            </a:extLst>
          </p:cNvPr>
          <p:cNvSpPr>
            <a:spLocks noGrp="1"/>
          </p:cNvSpPr>
          <p:nvPr/>
        </p:nvSpPr>
        <p:spPr>
          <a:xfrm>
            <a:off x="12456000" y="5933149"/>
            <a:ext cx="7488000" cy="3477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Posture-aware nominal control</a:t>
            </a:r>
          </a:p>
        </p:txBody>
      </p:sp>
      <p:sp>
        <p:nvSpPr>
          <p:cNvPr id="248" name="copy-19">
            <a:extLst>
              <a:ext uri="{FF2B5EF4-FFF2-40B4-BE49-F238E27FC236}">
                <a16:creationId xmlns:a16="http://schemas.microsoft.com/office/drawing/2014/main" id="{D8799D53-877E-4C1F-92A2-B12C7AAB3257}"/>
              </a:ext>
            </a:extLst>
          </p:cNvPr>
          <p:cNvSpPr>
            <a:spLocks noGrp="1"/>
          </p:cNvSpPr>
          <p:nvPr/>
        </p:nvSpPr>
        <p:spPr>
          <a:xfrm>
            <a:off x="11772000" y="6407296"/>
            <a:ext cx="8208000" cy="7586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Model posture-induced drift; shape references.</a:t>
            </a:r>
          </a:p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83.68% less drift · 94.44% lower speed peaks.</a:t>
            </a:r>
          </a:p>
        </p:txBody>
      </p:sp>
      <p:sp>
        <p:nvSpPr>
          <p:cNvPr id="249" name="contribution-pill-02">
            <a:extLst>
              <a:ext uri="{FF2B5EF4-FFF2-40B4-BE49-F238E27FC236}">
                <a16:creationId xmlns:a16="http://schemas.microsoft.com/office/drawing/2014/main" id="{E3463223-DD98-4833-8B3F-69F21590E282}"/>
              </a:ext>
            </a:extLst>
          </p:cNvPr>
          <p:cNvSpPr>
            <a:spLocks noGrp="1"/>
          </p:cNvSpPr>
          <p:nvPr/>
        </p:nvSpPr>
        <p:spPr>
          <a:xfrm>
            <a:off x="11772000" y="7229149"/>
            <a:ext cx="504000" cy="347707"/>
          </a:xfrm>
          <a:prstGeom prst="roundRect">
            <a:avLst>
              <a:gd name="adj" fmla="val 18182"/>
            </a:avLst>
          </a:prstGeom>
          <a:solidFill>
            <a:srgbClr val="00224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copy-20">
            <a:extLst>
              <a:ext uri="{FF2B5EF4-FFF2-40B4-BE49-F238E27FC236}">
                <a16:creationId xmlns:a16="http://schemas.microsoft.com/office/drawing/2014/main" id="{29946104-8461-4272-B2D2-48882BAE47BB}"/>
              </a:ext>
            </a:extLst>
          </p:cNvPr>
          <p:cNvSpPr>
            <a:spLocks noGrp="1"/>
          </p:cNvSpPr>
          <p:nvPr/>
        </p:nvSpPr>
        <p:spPr>
          <a:xfrm>
            <a:off x="11772000" y="7260759"/>
            <a:ext cx="504000" cy="312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1" name="copy-21">
            <a:extLst>
              <a:ext uri="{FF2B5EF4-FFF2-40B4-BE49-F238E27FC236}">
                <a16:creationId xmlns:a16="http://schemas.microsoft.com/office/drawing/2014/main" id="{1300123B-C795-4C2E-B887-D350F5379C7A}"/>
              </a:ext>
            </a:extLst>
          </p:cNvPr>
          <p:cNvSpPr>
            <a:spLocks noGrp="1"/>
          </p:cNvSpPr>
          <p:nvPr/>
        </p:nvSpPr>
        <p:spPr>
          <a:xfrm>
            <a:off x="12456000" y="7229149"/>
            <a:ext cx="7488000" cy="3477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Targeted wheel–leg residuals</a:t>
            </a:r>
          </a:p>
        </p:txBody>
      </p:sp>
      <p:sp>
        <p:nvSpPr>
          <p:cNvPr id="252" name="copy-22">
            <a:extLst>
              <a:ext uri="{FF2B5EF4-FFF2-40B4-BE49-F238E27FC236}">
                <a16:creationId xmlns:a16="http://schemas.microsoft.com/office/drawing/2014/main" id="{DE4C1EA6-2355-4C7C-9ED8-560A80F1BA97}"/>
              </a:ext>
            </a:extLst>
          </p:cNvPr>
          <p:cNvSpPr>
            <a:spLocks noGrp="1"/>
          </p:cNvSpPr>
          <p:nvPr/>
        </p:nvSpPr>
        <p:spPr>
          <a:xfrm>
            <a:off x="11772000" y="7703296"/>
            <a:ext cx="8208000" cy="7586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12.42% shorter recovery; leg masking reduces</a:t>
            </a:r>
          </a:p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the matched-baseline gain to 3.82%.</a:t>
            </a:r>
          </a:p>
        </p:txBody>
      </p:sp>
      <p:sp>
        <p:nvSpPr>
          <p:cNvPr id="253" name="contribution-pill-03">
            <a:extLst>
              <a:ext uri="{FF2B5EF4-FFF2-40B4-BE49-F238E27FC236}">
                <a16:creationId xmlns:a16="http://schemas.microsoft.com/office/drawing/2014/main" id="{78C21C6D-5296-481F-A47D-AA0A6D5DC7CC}"/>
              </a:ext>
            </a:extLst>
          </p:cNvPr>
          <p:cNvSpPr>
            <a:spLocks noGrp="1"/>
          </p:cNvSpPr>
          <p:nvPr/>
        </p:nvSpPr>
        <p:spPr>
          <a:xfrm>
            <a:off x="11772000" y="8525149"/>
            <a:ext cx="504000" cy="347707"/>
          </a:xfrm>
          <a:prstGeom prst="roundRect">
            <a:avLst>
              <a:gd name="adj" fmla="val 18182"/>
            </a:avLst>
          </a:prstGeom>
          <a:solidFill>
            <a:srgbClr val="087F8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copy-23">
            <a:extLst>
              <a:ext uri="{FF2B5EF4-FFF2-40B4-BE49-F238E27FC236}">
                <a16:creationId xmlns:a16="http://schemas.microsoft.com/office/drawing/2014/main" id="{EC3CB145-DF84-4337-A919-96AD6A97758D}"/>
              </a:ext>
            </a:extLst>
          </p:cNvPr>
          <p:cNvSpPr>
            <a:spLocks noGrp="1"/>
          </p:cNvSpPr>
          <p:nvPr/>
        </p:nvSpPr>
        <p:spPr>
          <a:xfrm>
            <a:off x="11772000" y="8556759"/>
            <a:ext cx="504000" cy="312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5" name="copy-24">
            <a:extLst>
              <a:ext uri="{FF2B5EF4-FFF2-40B4-BE49-F238E27FC236}">
                <a16:creationId xmlns:a16="http://schemas.microsoft.com/office/drawing/2014/main" id="{7CFFE0C2-288A-4253-B721-880F9CCDFEA3}"/>
              </a:ext>
            </a:extLst>
          </p:cNvPr>
          <p:cNvSpPr>
            <a:spLocks noGrp="1"/>
          </p:cNvSpPr>
          <p:nvPr/>
        </p:nvSpPr>
        <p:spPr>
          <a:xfrm>
            <a:off x="12456000" y="8525149"/>
            <a:ext cx="7488000" cy="3477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Operational boundary mapping</a:t>
            </a:r>
          </a:p>
        </p:txBody>
      </p:sp>
      <p:sp>
        <p:nvSpPr>
          <p:cNvPr id="256" name="copy-25">
            <a:extLst>
              <a:ext uri="{FF2B5EF4-FFF2-40B4-BE49-F238E27FC236}">
                <a16:creationId xmlns:a16="http://schemas.microsoft.com/office/drawing/2014/main" id="{7A5D9BF0-7507-478D-AD62-AC1EC95D400C}"/>
              </a:ext>
            </a:extLst>
          </p:cNvPr>
          <p:cNvSpPr>
            <a:spLocks noGrp="1"/>
          </p:cNvSpPr>
          <p:nvPr/>
        </p:nvSpPr>
        <p:spPr>
          <a:xfrm>
            <a:off x="11772000" y="8999296"/>
            <a:ext cx="8208000" cy="7586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40 delay/noise conditions reveal where</a:t>
            </a:r>
          </a:p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learned corrections become fragile.</a:t>
            </a:r>
          </a:p>
        </p:txBody>
      </p:sp>
      <p:sp>
        <p:nvSpPr>
          <p:cNvPr id="257" name="copy-26">
            <a:extLst>
              <a:ext uri="{FF2B5EF4-FFF2-40B4-BE49-F238E27FC236}">
                <a16:creationId xmlns:a16="http://schemas.microsoft.com/office/drawing/2014/main" id="{09D8B235-1E3E-4E15-B98E-27FE022B50FB}"/>
              </a:ext>
            </a:extLst>
          </p:cNvPr>
          <p:cNvSpPr>
            <a:spLocks noGrp="1"/>
          </p:cNvSpPr>
          <p:nvPr/>
        </p:nvSpPr>
        <p:spPr>
          <a:xfrm>
            <a:off x="900000" y="11304000"/>
            <a:ext cx="19584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090" b="1">
                <a:solidFill>
                  <a:srgbClr val="173149"/>
                </a:solidFill>
              </a:rPr>
              <a:t>Core Dilemma: </a:t>
            </a:r>
            <a:r>
              <a:rPr sz="2090"/>
              <a:t>Wheeled-legged locomotion exhibits severe wheel-leg dynamic coupling—changing leg posture alters balance equilibria, while wheels simultaneously govern locomotion and posture.</a:t>
            </a:r>
          </a:p>
        </p:txBody>
      </p:sp>
      <p:sp>
        <p:nvSpPr>
          <p:cNvPr id="258" name="copy-27">
            <a:extLst>
              <a:ext uri="{FF2B5EF4-FFF2-40B4-BE49-F238E27FC236}">
                <a16:creationId xmlns:a16="http://schemas.microsoft.com/office/drawing/2014/main" id="{2FE11124-077A-4C03-9608-3D5DE9C26148}"/>
              </a:ext>
            </a:extLst>
          </p:cNvPr>
          <p:cNvSpPr>
            <a:spLocks noGrp="1"/>
          </p:cNvSpPr>
          <p:nvPr/>
        </p:nvSpPr>
        <p:spPr>
          <a:xfrm>
            <a:off x="900000" y="12096000"/>
            <a:ext cx="19584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173149"/>
                </a:solidFill>
              </a:rPr>
              <a:t>Our Paradigm: </a:t>
            </a:r>
            <a:r>
              <a:rPr dirty="0"/>
              <a:t>Analytical models resolve predictable steady-state drift; bounded residual RL improves high-impulse transient recovery.</a:t>
            </a:r>
          </a:p>
        </p:txBody>
      </p:sp>
      <p:sp>
        <p:nvSpPr>
          <p:cNvPr id="259" name="line-28">
            <a:extLst>
              <a:ext uri="{FF2B5EF4-FFF2-40B4-BE49-F238E27FC236}">
                <a16:creationId xmlns:a16="http://schemas.microsoft.com/office/drawing/2014/main" id="{ED7D3E27-1A82-4352-BA78-7F80846FAE82}"/>
              </a:ext>
            </a:extLst>
          </p:cNvPr>
          <p:cNvSpPr>
            <a:spLocks noGrp="1"/>
          </p:cNvSpPr>
          <p:nvPr/>
        </p:nvSpPr>
        <p:spPr>
          <a:xfrm>
            <a:off x="900000" y="12924000"/>
            <a:ext cx="19584000" cy="0"/>
          </a:xfrm>
          <a:prstGeom prst="line">
            <a:avLst/>
          </a:prstGeom>
          <a:noFill/>
          <a:ln w="1524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" name="copy-29">
            <a:extLst>
              <a:ext uri="{FF2B5EF4-FFF2-40B4-BE49-F238E27FC236}">
                <a16:creationId xmlns:a16="http://schemas.microsoft.com/office/drawing/2014/main" id="{18770A57-8DEE-4941-AD76-0C251B0A8B54}"/>
              </a:ext>
            </a:extLst>
          </p:cNvPr>
          <p:cNvSpPr>
            <a:spLocks noGrp="1"/>
          </p:cNvSpPr>
          <p:nvPr/>
        </p:nvSpPr>
        <p:spPr>
          <a:xfrm>
            <a:off x="900000" y="13104000"/>
            <a:ext cx="19584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01  Nominal compensation &amp; reference shaping</a:t>
            </a:r>
          </a:p>
        </p:txBody>
      </p:sp>
      <p:graphicFrame>
        <p:nvGraphicFramePr>
          <p:cNvPr id="472" name="Chart"/>
          <p:cNvGraphicFramePr/>
          <p:nvPr>
            <p:extLst>
              <p:ext uri="{D42A27DB-BD31-4B8C-83A1-F6EECF244321}">
                <p14:modId xmlns:p14="http://schemas.microsoft.com/office/powerpoint/2010/main" val="3230613616"/>
              </p:ext>
            </p:extLst>
          </p:nvPr>
        </p:nvGraphicFramePr>
        <p:xfrm>
          <a:off x="900000" y="13860000"/>
          <a:ext cx="9648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73" name="Chart"/>
          <p:cNvGraphicFramePr/>
          <p:nvPr>
            <p:extLst>
              <p:ext uri="{D42A27DB-BD31-4B8C-83A1-F6EECF244321}">
                <p14:modId xmlns:p14="http://schemas.microsoft.com/office/powerpoint/2010/main" val="235359709"/>
              </p:ext>
            </p:extLst>
          </p:nvPr>
        </p:nvGraphicFramePr>
        <p:xfrm>
          <a:off x="11232000" y="13860000"/>
          <a:ext cx="9252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3" name="callout-compensated">
            <a:extLst>
              <a:ext uri="{FF2B5EF4-FFF2-40B4-BE49-F238E27FC236}">
                <a16:creationId xmlns:a16="http://schemas.microsoft.com/office/drawing/2014/main" id="{C78884CB-33C8-43D2-AF6E-33CD551B7569}"/>
              </a:ext>
            </a:extLst>
          </p:cNvPr>
          <p:cNvSpPr>
            <a:spLocks noGrp="1"/>
          </p:cNvSpPr>
          <p:nvPr/>
        </p:nvSpPr>
        <p:spPr>
          <a:xfrm>
            <a:off x="7344000" y="14472000"/>
            <a:ext cx="3060000" cy="5257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Compensated</a:t>
            </a:r>
          </a:p>
          <a:p>
            <a:pPr algn="l">
              <a:defRPr sz="1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(Flat: -83.7%)</a:t>
            </a:r>
            <a:endParaRPr sz="170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callout-uncompensated">
            <a:extLst>
              <a:ext uri="{FF2B5EF4-FFF2-40B4-BE49-F238E27FC236}">
                <a16:creationId xmlns:a16="http://schemas.microsoft.com/office/drawing/2014/main" id="{2D1C1DF5-FF89-43C6-86A0-2EA17D0AFC51}"/>
              </a:ext>
            </a:extLst>
          </p:cNvPr>
          <p:cNvSpPr>
            <a:spLocks noGrp="1"/>
          </p:cNvSpPr>
          <p:nvPr/>
        </p:nvSpPr>
        <p:spPr>
          <a:xfrm>
            <a:off x="7344000" y="15299999"/>
            <a:ext cx="3060000" cy="5257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6B7E91"/>
                </a:solidFill>
                <a:latin typeface="Arial"/>
                <a:ea typeface="Arial"/>
                <a:cs typeface="Arial"/>
              </a:rPr>
              <a:t>Uncompensated</a:t>
            </a:r>
          </a:p>
          <a:p>
            <a:pPr algn="l">
              <a:defRPr sz="1700" b="1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6B7E91"/>
                </a:solidFill>
                <a:latin typeface="Arial"/>
                <a:ea typeface="Arial"/>
                <a:cs typeface="Arial"/>
              </a:rPr>
              <a:t>(Drifting)</a:t>
            </a:r>
            <a:endParaRPr sz="1700" b="1">
              <a:solidFill>
                <a:srgbClr val="6B7E9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panel-30">
            <a:extLst>
              <a:ext uri="{FF2B5EF4-FFF2-40B4-BE49-F238E27FC236}">
                <a16:creationId xmlns:a16="http://schemas.microsoft.com/office/drawing/2014/main" id="{54CD2B1B-8EC4-40EB-85AA-0FEB1A6475F3}"/>
              </a:ext>
            </a:extLst>
          </p:cNvPr>
          <p:cNvSpPr>
            <a:spLocks noGrp="1"/>
          </p:cNvSpPr>
          <p:nvPr/>
        </p:nvSpPr>
        <p:spPr>
          <a:xfrm>
            <a:off x="900000" y="16596000"/>
            <a:ext cx="19584000" cy="756000"/>
          </a:xfrm>
          <a:prstGeom prst="rect">
            <a:avLst/>
          </a:prstGeom>
          <a:solidFill>
            <a:srgbClr val="F0F7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copy-31">
            <a:extLst>
              <a:ext uri="{FF2B5EF4-FFF2-40B4-BE49-F238E27FC236}">
                <a16:creationId xmlns:a16="http://schemas.microsoft.com/office/drawing/2014/main" id="{12460119-2A95-44E3-ACF6-194B08963BBE}"/>
              </a:ext>
            </a:extLst>
          </p:cNvPr>
          <p:cNvSpPr>
            <a:spLocks noGrp="1"/>
          </p:cNvSpPr>
          <p:nvPr/>
        </p:nvSpPr>
        <p:spPr>
          <a:xfrm>
            <a:off x="1044000" y="16668000"/>
            <a:ext cx="19296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F8C"/>
                </a:solidFill>
              </a:rPr>
              <a:t>[Measured Trade-off] </a:t>
            </a:r>
            <a:r>
              <a:t>Command shaping suppresses velocity peaks by </a:t>
            </a:r>
            <a:r>
              <a:rPr b="1">
                <a:solidFill>
                  <a:srgbClr val="173149"/>
                </a:solidFill>
              </a:rPr>
              <a:t>94.44%</a:t>
            </a:r>
            <a:r>
              <a:t> at the designed cost of settling time (</a:t>
            </a:r>
            <a:r>
              <a:rPr b="1">
                <a:solidFill>
                  <a:srgbClr val="173149"/>
                </a:solidFill>
              </a:rPr>
              <a:t>0.78 s → 1.74 s</a:t>
            </a:r>
            <a:r>
              <a:t>), reducing actuator shock before learning is applied.</a:t>
            </a:r>
          </a:p>
        </p:txBody>
      </p:sp>
      <p:sp>
        <p:nvSpPr>
          <p:cNvPr id="267" name="copy-32">
            <a:extLst>
              <a:ext uri="{FF2B5EF4-FFF2-40B4-BE49-F238E27FC236}">
                <a16:creationId xmlns:a16="http://schemas.microsoft.com/office/drawing/2014/main" id="{1E98A275-D864-432B-83ED-5E0FAF1225D3}"/>
              </a:ext>
            </a:extLst>
          </p:cNvPr>
          <p:cNvSpPr>
            <a:spLocks noGrp="1"/>
          </p:cNvSpPr>
          <p:nvPr/>
        </p:nvSpPr>
        <p:spPr>
          <a:xfrm>
            <a:off x="900000" y="17460000"/>
            <a:ext cx="19584000" cy="46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2244"/>
                </a:solidFill>
              </a:rPr>
              <a:t>Insight: </a:t>
            </a:r>
            <a:r>
              <a:t>Classical compensation resolves deterministic kinematics and drift, establishing a robust, non-strawman baseline.</a:t>
            </a:r>
          </a:p>
        </p:txBody>
      </p:sp>
      <p:sp>
        <p:nvSpPr>
          <p:cNvPr id="268" name="line-33">
            <a:extLst>
              <a:ext uri="{FF2B5EF4-FFF2-40B4-BE49-F238E27FC236}">
                <a16:creationId xmlns:a16="http://schemas.microsoft.com/office/drawing/2014/main" id="{3347A71C-BC9D-4027-A012-F580E7A366DE}"/>
              </a:ext>
            </a:extLst>
          </p:cNvPr>
          <p:cNvSpPr>
            <a:spLocks noGrp="1"/>
          </p:cNvSpPr>
          <p:nvPr/>
        </p:nvSpPr>
        <p:spPr>
          <a:xfrm>
            <a:off x="900000" y="18036000"/>
            <a:ext cx="19584000" cy="0"/>
          </a:xfrm>
          <a:prstGeom prst="line">
            <a:avLst/>
          </a:prstGeom>
          <a:noFill/>
          <a:ln w="1524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copy-34">
            <a:extLst>
              <a:ext uri="{FF2B5EF4-FFF2-40B4-BE49-F238E27FC236}">
                <a16:creationId xmlns:a16="http://schemas.microsoft.com/office/drawing/2014/main" id="{8B95CD3E-CEAF-438F-9A93-DBBD9D62FCEC}"/>
              </a:ext>
            </a:extLst>
          </p:cNvPr>
          <p:cNvSpPr>
            <a:spLocks noGrp="1"/>
          </p:cNvSpPr>
          <p:nvPr/>
        </p:nvSpPr>
        <p:spPr>
          <a:xfrm>
            <a:off x="900000" y="18216000"/>
            <a:ext cx="19584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02  Bounded residual learning &amp; leg-channel ablation</a:t>
            </a:r>
          </a:p>
        </p:txBody>
      </p:sp>
      <p:sp>
        <p:nvSpPr>
          <p:cNvPr id="270" name="module-State +">
            <a:extLst>
              <a:ext uri="{FF2B5EF4-FFF2-40B4-BE49-F238E27FC236}">
                <a16:creationId xmlns:a16="http://schemas.microsoft.com/office/drawing/2014/main" id="{94C3E153-A40F-428B-B4EE-2FDA30DE9BEF}"/>
              </a:ext>
            </a:extLst>
          </p:cNvPr>
          <p:cNvSpPr>
            <a:spLocks noGrp="1"/>
          </p:cNvSpPr>
          <p:nvPr/>
        </p:nvSpPr>
        <p:spPr>
          <a:xfrm>
            <a:off x="900000" y="19440000"/>
            <a:ext cx="1836000" cy="1080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copy-35">
            <a:extLst>
              <a:ext uri="{FF2B5EF4-FFF2-40B4-BE49-F238E27FC236}">
                <a16:creationId xmlns:a16="http://schemas.microsoft.com/office/drawing/2014/main" id="{ACFB4673-D33B-46A0-A44A-6E125A4ACBD4}"/>
              </a:ext>
            </a:extLst>
          </p:cNvPr>
          <p:cNvSpPr>
            <a:spLocks noGrp="1"/>
          </p:cNvSpPr>
          <p:nvPr/>
        </p:nvSpPr>
        <p:spPr>
          <a:xfrm>
            <a:off x="972000" y="19548000"/>
            <a:ext cx="169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State +</a:t>
            </a:r>
          </a:p>
        </p:txBody>
      </p:sp>
      <p:sp>
        <p:nvSpPr>
          <p:cNvPr id="272" name="copy-36">
            <a:extLst>
              <a:ext uri="{FF2B5EF4-FFF2-40B4-BE49-F238E27FC236}">
                <a16:creationId xmlns:a16="http://schemas.microsoft.com/office/drawing/2014/main" id="{2F1A856E-E4CB-4A06-8366-E2B7F772799B}"/>
              </a:ext>
            </a:extLst>
          </p:cNvPr>
          <p:cNvSpPr>
            <a:spLocks noGrp="1"/>
          </p:cNvSpPr>
          <p:nvPr/>
        </p:nvSpPr>
        <p:spPr>
          <a:xfrm>
            <a:off x="972000" y="19908000"/>
            <a:ext cx="1692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commands</a:t>
            </a:r>
          </a:p>
        </p:txBody>
      </p:sp>
      <p:sp>
        <p:nvSpPr>
          <p:cNvPr id="273" name="module-Classical backbone">
            <a:extLst>
              <a:ext uri="{FF2B5EF4-FFF2-40B4-BE49-F238E27FC236}">
                <a16:creationId xmlns:a16="http://schemas.microsoft.com/office/drawing/2014/main" id="{796810FA-C945-490A-8321-6A42A66ED684}"/>
              </a:ext>
            </a:extLst>
          </p:cNvPr>
          <p:cNvSpPr>
            <a:spLocks noGrp="1"/>
          </p:cNvSpPr>
          <p:nvPr/>
        </p:nvSpPr>
        <p:spPr>
          <a:xfrm>
            <a:off x="3096000" y="19008000"/>
            <a:ext cx="4104000" cy="86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copy-37">
            <a:extLst>
              <a:ext uri="{FF2B5EF4-FFF2-40B4-BE49-F238E27FC236}">
                <a16:creationId xmlns:a16="http://schemas.microsoft.com/office/drawing/2014/main" id="{CB99B764-2911-44A7-A9B2-B091EC3DEB62}"/>
              </a:ext>
            </a:extLst>
          </p:cNvPr>
          <p:cNvSpPr>
            <a:spLocks noGrp="1"/>
          </p:cNvSpPr>
          <p:nvPr/>
        </p:nvSpPr>
        <p:spPr>
          <a:xfrm>
            <a:off x="3168000" y="19116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Classical backbone</a:t>
            </a:r>
          </a:p>
        </p:txBody>
      </p:sp>
      <p:sp>
        <p:nvSpPr>
          <p:cNvPr id="275" name="copy-38">
            <a:extLst>
              <a:ext uri="{FF2B5EF4-FFF2-40B4-BE49-F238E27FC236}">
                <a16:creationId xmlns:a16="http://schemas.microsoft.com/office/drawing/2014/main" id="{875F26E0-A2B4-4616-A670-2ED2AC3DF0FF}"/>
              </a:ext>
            </a:extLst>
          </p:cNvPr>
          <p:cNvSpPr>
            <a:spLocks noGrp="1"/>
          </p:cNvSpPr>
          <p:nvPr/>
        </p:nvSpPr>
        <p:spPr>
          <a:xfrm>
            <a:off x="3168000" y="19476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LQR · yaw FF · posture</a:t>
            </a:r>
          </a:p>
        </p:txBody>
      </p:sp>
      <p:sp>
        <p:nvSpPr>
          <p:cNvPr id="276" name="module-Residual policy">
            <a:extLst>
              <a:ext uri="{FF2B5EF4-FFF2-40B4-BE49-F238E27FC236}">
                <a16:creationId xmlns:a16="http://schemas.microsoft.com/office/drawing/2014/main" id="{1DCCDF2F-7243-4C91-A75B-7AF047E0F71F}"/>
              </a:ext>
            </a:extLst>
          </p:cNvPr>
          <p:cNvSpPr>
            <a:spLocks noGrp="1"/>
          </p:cNvSpPr>
          <p:nvPr/>
        </p:nvSpPr>
        <p:spPr>
          <a:xfrm>
            <a:off x="3096000" y="20196000"/>
            <a:ext cx="4104000" cy="864000"/>
          </a:xfrm>
          <a:prstGeom prst="rect">
            <a:avLst/>
          </a:prstGeom>
          <a:solidFill>
            <a:srgbClr val="EFF8F8"/>
          </a:solidFill>
          <a:ln w="13970">
            <a:solidFill>
              <a:srgbClr val="087F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7" name="copy-39">
            <a:extLst>
              <a:ext uri="{FF2B5EF4-FFF2-40B4-BE49-F238E27FC236}">
                <a16:creationId xmlns:a16="http://schemas.microsoft.com/office/drawing/2014/main" id="{8357DC69-39AD-4432-BD46-683FE5501C59}"/>
              </a:ext>
            </a:extLst>
          </p:cNvPr>
          <p:cNvSpPr>
            <a:spLocks noGrp="1"/>
          </p:cNvSpPr>
          <p:nvPr/>
        </p:nvSpPr>
        <p:spPr>
          <a:xfrm>
            <a:off x="3168000" y="20304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Residual policy</a:t>
            </a:r>
          </a:p>
        </p:txBody>
      </p:sp>
      <p:sp>
        <p:nvSpPr>
          <p:cNvPr id="278" name="copy-40">
            <a:extLst>
              <a:ext uri="{FF2B5EF4-FFF2-40B4-BE49-F238E27FC236}">
                <a16:creationId xmlns:a16="http://schemas.microsoft.com/office/drawing/2014/main" id="{ECBFD5C3-2EF3-4036-BA6E-87A0179BF757}"/>
              </a:ext>
            </a:extLst>
          </p:cNvPr>
          <p:cNvSpPr>
            <a:spLocks noGrp="1"/>
          </p:cNvSpPr>
          <p:nvPr/>
        </p:nvSpPr>
        <p:spPr>
          <a:xfrm>
            <a:off x="3168000" y="20664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Balance · yaw · 4 leg channels</a:t>
            </a:r>
          </a:p>
        </p:txBody>
      </p:sp>
      <p:sp>
        <p:nvSpPr>
          <p:cNvPr id="279" name="module-Bounded authority">
            <a:extLst>
              <a:ext uri="{FF2B5EF4-FFF2-40B4-BE49-F238E27FC236}">
                <a16:creationId xmlns:a16="http://schemas.microsoft.com/office/drawing/2014/main" id="{C6B6D956-8310-4367-8C38-B57CC641AE5F}"/>
              </a:ext>
            </a:extLst>
          </p:cNvPr>
          <p:cNvSpPr>
            <a:spLocks noGrp="1"/>
          </p:cNvSpPr>
          <p:nvPr/>
        </p:nvSpPr>
        <p:spPr>
          <a:xfrm>
            <a:off x="3096000" y="21420000"/>
            <a:ext cx="4104000" cy="1008000"/>
          </a:xfrm>
          <a:prstGeom prst="rect">
            <a:avLst/>
          </a:prstGeom>
          <a:solidFill>
            <a:srgbClr val="EFF8F8"/>
          </a:solidFill>
          <a:ln w="13970">
            <a:solidFill>
              <a:srgbClr val="087F8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copy-41">
            <a:extLst>
              <a:ext uri="{FF2B5EF4-FFF2-40B4-BE49-F238E27FC236}">
                <a16:creationId xmlns:a16="http://schemas.microsoft.com/office/drawing/2014/main" id="{4921D7D7-5543-4722-A455-7462C1FF77E5}"/>
              </a:ext>
            </a:extLst>
          </p:cNvPr>
          <p:cNvSpPr>
            <a:spLocks noGrp="1"/>
          </p:cNvSpPr>
          <p:nvPr/>
        </p:nvSpPr>
        <p:spPr>
          <a:xfrm>
            <a:off x="3168000" y="21528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Bounded authority</a:t>
            </a:r>
          </a:p>
        </p:txBody>
      </p:sp>
      <p:sp>
        <p:nvSpPr>
          <p:cNvPr id="281" name="copy-42">
            <a:extLst>
              <a:ext uri="{FF2B5EF4-FFF2-40B4-BE49-F238E27FC236}">
                <a16:creationId xmlns:a16="http://schemas.microsoft.com/office/drawing/2014/main" id="{A6591243-C470-411C-B8ED-6428D5A9D682}"/>
              </a:ext>
            </a:extLst>
          </p:cNvPr>
          <p:cNvSpPr>
            <a:spLocks noGrp="1"/>
          </p:cNvSpPr>
          <p:nvPr/>
        </p:nvSpPr>
        <p:spPr>
          <a:xfrm>
            <a:off x="3168000" y="21888000"/>
            <a:ext cx="396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Clip → Mask → Scale</a:t>
            </a:r>
          </a:p>
        </p:txBody>
      </p:sp>
      <p:sp>
        <p:nvSpPr>
          <p:cNvPr id="282" name="module-Compose">
            <a:extLst>
              <a:ext uri="{FF2B5EF4-FFF2-40B4-BE49-F238E27FC236}">
                <a16:creationId xmlns:a16="http://schemas.microsoft.com/office/drawing/2014/main" id="{41B90E17-4C12-476D-A484-39A8E567D757}"/>
              </a:ext>
            </a:extLst>
          </p:cNvPr>
          <p:cNvSpPr>
            <a:spLocks noGrp="1"/>
          </p:cNvSpPr>
          <p:nvPr/>
        </p:nvSpPr>
        <p:spPr>
          <a:xfrm>
            <a:off x="8100000" y="19008000"/>
            <a:ext cx="2376000" cy="86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copy-43">
            <a:extLst>
              <a:ext uri="{FF2B5EF4-FFF2-40B4-BE49-F238E27FC236}">
                <a16:creationId xmlns:a16="http://schemas.microsoft.com/office/drawing/2014/main" id="{9578E381-3F68-4095-A3AB-D09753CC9ABE}"/>
              </a:ext>
            </a:extLst>
          </p:cNvPr>
          <p:cNvSpPr>
            <a:spLocks noGrp="1"/>
          </p:cNvSpPr>
          <p:nvPr/>
        </p:nvSpPr>
        <p:spPr>
          <a:xfrm>
            <a:off x="8172000" y="191160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284" name="copy-44">
            <a:extLst>
              <a:ext uri="{FF2B5EF4-FFF2-40B4-BE49-F238E27FC236}">
                <a16:creationId xmlns:a16="http://schemas.microsoft.com/office/drawing/2014/main" id="{3381794D-D44D-4505-88E7-11940E396C7E}"/>
              </a:ext>
            </a:extLst>
          </p:cNvPr>
          <p:cNvSpPr>
            <a:spLocks noGrp="1"/>
          </p:cNvSpPr>
          <p:nvPr/>
        </p:nvSpPr>
        <p:spPr>
          <a:xfrm>
            <a:off x="8172000" y="194760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Nominal + residual</a:t>
            </a:r>
          </a:p>
        </p:txBody>
      </p:sp>
      <p:sp>
        <p:nvSpPr>
          <p:cNvPr id="285" name="channel-limits">
            <a:extLst>
              <a:ext uri="{FF2B5EF4-FFF2-40B4-BE49-F238E27FC236}">
                <a16:creationId xmlns:a16="http://schemas.microsoft.com/office/drawing/2014/main" id="{8616D162-CEB6-4051-AC9E-80FA8263D863}"/>
              </a:ext>
            </a:extLst>
          </p:cNvPr>
          <p:cNvSpPr>
            <a:spLocks noGrp="1"/>
          </p:cNvSpPr>
          <p:nvPr/>
        </p:nvSpPr>
        <p:spPr>
          <a:xfrm>
            <a:off x="8100000" y="20196000"/>
            <a:ext cx="2376000" cy="140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copy-45">
            <a:extLst>
              <a:ext uri="{FF2B5EF4-FFF2-40B4-BE49-F238E27FC236}">
                <a16:creationId xmlns:a16="http://schemas.microsoft.com/office/drawing/2014/main" id="{991D5300-273B-4AD6-808F-8C987B68A960}"/>
              </a:ext>
            </a:extLst>
          </p:cNvPr>
          <p:cNvSpPr>
            <a:spLocks noGrp="1"/>
          </p:cNvSpPr>
          <p:nvPr/>
        </p:nvSpPr>
        <p:spPr>
          <a:xfrm>
            <a:off x="8244000" y="20340000"/>
            <a:ext cx="2088000" cy="11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Wheels</a:t>
            </a:r>
          </a:p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Slew → velocity clip</a:t>
            </a:r>
          </a:p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Legs</a:t>
            </a:r>
          </a:p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Joint-position clip</a:t>
            </a:r>
          </a:p>
        </p:txBody>
      </p:sp>
      <p:sp>
        <p:nvSpPr>
          <p:cNvPr id="287" name="module-Actuator / Robot">
            <a:extLst>
              <a:ext uri="{FF2B5EF4-FFF2-40B4-BE49-F238E27FC236}">
                <a16:creationId xmlns:a16="http://schemas.microsoft.com/office/drawing/2014/main" id="{FCB2C9E9-B173-49BB-AF0E-6A851F376813}"/>
              </a:ext>
            </a:extLst>
          </p:cNvPr>
          <p:cNvSpPr>
            <a:spLocks noGrp="1"/>
          </p:cNvSpPr>
          <p:nvPr/>
        </p:nvSpPr>
        <p:spPr>
          <a:xfrm>
            <a:off x="8100000" y="22068000"/>
            <a:ext cx="2376000" cy="75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copy-46">
            <a:extLst>
              <a:ext uri="{FF2B5EF4-FFF2-40B4-BE49-F238E27FC236}">
                <a16:creationId xmlns:a16="http://schemas.microsoft.com/office/drawing/2014/main" id="{DB33D8ED-28C2-4D28-9197-6F6BBBD8E0EC}"/>
              </a:ext>
            </a:extLst>
          </p:cNvPr>
          <p:cNvSpPr>
            <a:spLocks noGrp="1"/>
          </p:cNvSpPr>
          <p:nvPr/>
        </p:nvSpPr>
        <p:spPr>
          <a:xfrm>
            <a:off x="8172000" y="221760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Actuator / Robot</a:t>
            </a:r>
          </a:p>
        </p:txBody>
      </p:sp>
      <p:sp>
        <p:nvSpPr>
          <p:cNvPr id="289" name="input-to-classical">
            <a:extLst>
              <a:ext uri="{FF2B5EF4-FFF2-40B4-BE49-F238E27FC236}">
                <a16:creationId xmlns:a16="http://schemas.microsoft.com/office/drawing/2014/main" id="{4B8595D7-20E6-4BF6-A80A-DF6484655C03}"/>
              </a:ext>
            </a:extLst>
          </p:cNvPr>
          <p:cNvSpPr>
            <a:spLocks noGrp="1"/>
          </p:cNvSpPr>
          <p:nvPr/>
        </p:nvSpPr>
        <p:spPr>
          <a:xfrm>
            <a:off x="2736000" y="19440000"/>
            <a:ext cx="360000" cy="540000"/>
          </a:xfrm>
          <a:custGeom>
            <a:avLst/>
            <a:gdLst/>
            <a:ahLst/>
            <a:cxnLst/>
            <a:rect l="0" t="0" r="0" b="0"/>
            <a:pathLst>
              <a:path w="360000" h="540000">
                <a:moveTo>
                  <a:pt x="0" y="540000"/>
                </a:moveTo>
                <a:lnTo>
                  <a:pt x="180000" y="540000"/>
                </a:lnTo>
                <a:lnTo>
                  <a:pt x="180000" y="0"/>
                </a:lnTo>
                <a:lnTo>
                  <a:pt x="360000" y="0"/>
                </a:lnTo>
              </a:path>
            </a:pathLst>
          </a:custGeom>
          <a:noFill/>
          <a:ln w="2159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0" name="input-to-classical-arrowhead-47">
            <a:extLst>
              <a:ext uri="{FF2B5EF4-FFF2-40B4-BE49-F238E27FC236}">
                <a16:creationId xmlns:a16="http://schemas.microsoft.com/office/drawing/2014/main" id="{EC96D6BF-7674-40B1-BEBB-0A3F9684F454}"/>
              </a:ext>
            </a:extLst>
          </p:cNvPr>
          <p:cNvSpPr>
            <a:spLocks noGrp="1"/>
          </p:cNvSpPr>
          <p:nvPr/>
        </p:nvSpPr>
        <p:spPr>
          <a:xfrm>
            <a:off x="2988180" y="19387584"/>
            <a:ext cx="107820" cy="104832"/>
          </a:xfrm>
          <a:custGeom>
            <a:avLst/>
            <a:gdLst/>
            <a:ahLst/>
            <a:cxnLst/>
            <a:rect l="0" t="0" r="0" b="0"/>
            <a:pathLst>
              <a:path w="107820" h="104832">
                <a:moveTo>
                  <a:pt x="107820" y="52416"/>
                </a:moveTo>
                <a:lnTo>
                  <a:pt x="0" y="0"/>
                </a:lnTo>
                <a:lnTo>
                  <a:pt x="0" y="104832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input-to-residual">
            <a:extLst>
              <a:ext uri="{FF2B5EF4-FFF2-40B4-BE49-F238E27FC236}">
                <a16:creationId xmlns:a16="http://schemas.microsoft.com/office/drawing/2014/main" id="{BA689D13-2652-4DA6-8984-BF401641013B}"/>
              </a:ext>
            </a:extLst>
          </p:cNvPr>
          <p:cNvSpPr>
            <a:spLocks noGrp="1"/>
          </p:cNvSpPr>
          <p:nvPr/>
        </p:nvSpPr>
        <p:spPr>
          <a:xfrm>
            <a:off x="2916000" y="19980000"/>
            <a:ext cx="180000" cy="648000"/>
          </a:xfrm>
          <a:custGeom>
            <a:avLst/>
            <a:gdLst/>
            <a:ahLst/>
            <a:cxnLst/>
            <a:rect l="0" t="0" r="0" b="0"/>
            <a:pathLst>
              <a:path w="180000" h="648000">
                <a:moveTo>
                  <a:pt x="0" y="0"/>
                </a:moveTo>
                <a:lnTo>
                  <a:pt x="0" y="648000"/>
                </a:lnTo>
                <a:lnTo>
                  <a:pt x="180000" y="648000"/>
                </a:lnTo>
              </a:path>
            </a:pathLst>
          </a:custGeom>
          <a:noFill/>
          <a:ln w="13970">
            <a:solidFill>
              <a:srgbClr val="087F8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input-to-residual-arrowhead-48">
            <a:extLst>
              <a:ext uri="{FF2B5EF4-FFF2-40B4-BE49-F238E27FC236}">
                <a16:creationId xmlns:a16="http://schemas.microsoft.com/office/drawing/2014/main" id="{4FE10BF4-B6DD-4D8D-A74B-1EBF137D9050}"/>
              </a:ext>
            </a:extLst>
          </p:cNvPr>
          <p:cNvSpPr>
            <a:spLocks noGrp="1"/>
          </p:cNvSpPr>
          <p:nvPr/>
        </p:nvSpPr>
        <p:spPr>
          <a:xfrm>
            <a:off x="2995740" y="20579472"/>
            <a:ext cx="100260" cy="97056"/>
          </a:xfrm>
          <a:custGeom>
            <a:avLst/>
            <a:gdLst/>
            <a:ahLst/>
            <a:cxnLst/>
            <a:rect l="0" t="0" r="0" b="0"/>
            <a:pathLst>
              <a:path w="100260" h="97056">
                <a:moveTo>
                  <a:pt x="100260" y="48528"/>
                </a:moveTo>
                <a:lnTo>
                  <a:pt x="0" y="0"/>
                </a:lnTo>
                <a:lnTo>
                  <a:pt x="0" y="97056"/>
                </a:lnTo>
                <a:close/>
              </a:path>
            </a:pathLst>
          </a:cu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3" name="classical-straight-to-compose">
            <a:extLst>
              <a:ext uri="{FF2B5EF4-FFF2-40B4-BE49-F238E27FC236}">
                <a16:creationId xmlns:a16="http://schemas.microsoft.com/office/drawing/2014/main" id="{422AD38E-F32E-4E84-BE06-28693ACD9662}"/>
              </a:ext>
            </a:extLst>
          </p:cNvPr>
          <p:cNvSpPr>
            <a:spLocks noGrp="1"/>
          </p:cNvSpPr>
          <p:nvPr/>
        </p:nvSpPr>
        <p:spPr>
          <a:xfrm>
            <a:off x="7200000" y="19440000"/>
            <a:ext cx="900000" cy="360"/>
          </a:xfrm>
          <a:custGeom>
            <a:avLst/>
            <a:gdLst/>
            <a:ahLst/>
            <a:cxnLst/>
            <a:rect l="0" t="0" r="0" b="0"/>
            <a:pathLst>
              <a:path w="900000" h="360">
                <a:moveTo>
                  <a:pt x="0" y="0"/>
                </a:moveTo>
                <a:lnTo>
                  <a:pt x="900000" y="0"/>
                </a:lnTo>
              </a:path>
            </a:pathLst>
          </a:custGeom>
          <a:noFill/>
          <a:ln w="2540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" name="classical-straight-to-compose-arrowhead-49">
            <a:extLst>
              <a:ext uri="{FF2B5EF4-FFF2-40B4-BE49-F238E27FC236}">
                <a16:creationId xmlns:a16="http://schemas.microsoft.com/office/drawing/2014/main" id="{DDB90D8D-874B-454F-8E11-7D054AC47CEA}"/>
              </a:ext>
            </a:extLst>
          </p:cNvPr>
          <p:cNvSpPr>
            <a:spLocks noGrp="1"/>
          </p:cNvSpPr>
          <p:nvPr/>
        </p:nvSpPr>
        <p:spPr>
          <a:xfrm>
            <a:off x="7988400" y="19385640"/>
            <a:ext cx="111600" cy="108720"/>
          </a:xfrm>
          <a:custGeom>
            <a:avLst/>
            <a:gdLst/>
            <a:ahLst/>
            <a:cxnLst/>
            <a:rect l="0" t="0" r="0" b="0"/>
            <a:pathLst>
              <a:path w="111600" h="108720">
                <a:moveTo>
                  <a:pt x="111600" y="54360"/>
                </a:moveTo>
                <a:lnTo>
                  <a:pt x="0" y="0"/>
                </a:lnTo>
                <a:lnTo>
                  <a:pt x="0" y="108720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policy-to-authority">
            <a:extLst>
              <a:ext uri="{FF2B5EF4-FFF2-40B4-BE49-F238E27FC236}">
                <a16:creationId xmlns:a16="http://schemas.microsoft.com/office/drawing/2014/main" id="{86E89746-5A46-43FC-BB4F-8B1B14F95793}"/>
              </a:ext>
            </a:extLst>
          </p:cNvPr>
          <p:cNvSpPr>
            <a:spLocks noGrp="1"/>
          </p:cNvSpPr>
          <p:nvPr/>
        </p:nvSpPr>
        <p:spPr>
          <a:xfrm>
            <a:off x="5148000" y="21060000"/>
            <a:ext cx="360" cy="360000"/>
          </a:xfrm>
          <a:custGeom>
            <a:avLst/>
            <a:gdLst/>
            <a:ahLst/>
            <a:cxnLst/>
            <a:rect l="0" t="0" r="0" b="0"/>
            <a:pathLst>
              <a:path w="360" h="360000">
                <a:moveTo>
                  <a:pt x="0" y="0"/>
                </a:moveTo>
                <a:lnTo>
                  <a:pt x="0" y="360000"/>
                </a:lnTo>
              </a:path>
            </a:pathLst>
          </a:custGeom>
          <a:noFill/>
          <a:ln w="16510">
            <a:solidFill>
              <a:srgbClr val="087F8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6" name="policy-to-authority-arrowhead-50">
            <a:extLst>
              <a:ext uri="{FF2B5EF4-FFF2-40B4-BE49-F238E27FC236}">
                <a16:creationId xmlns:a16="http://schemas.microsoft.com/office/drawing/2014/main" id="{21002113-1D58-400C-8B60-B8A93FFCBA27}"/>
              </a:ext>
            </a:extLst>
          </p:cNvPr>
          <p:cNvSpPr>
            <a:spLocks noGrp="1"/>
          </p:cNvSpPr>
          <p:nvPr/>
        </p:nvSpPr>
        <p:spPr>
          <a:xfrm>
            <a:off x="5098176" y="21317220"/>
            <a:ext cx="99648" cy="102780"/>
          </a:xfrm>
          <a:custGeom>
            <a:avLst/>
            <a:gdLst/>
            <a:ahLst/>
            <a:cxnLst/>
            <a:rect l="0" t="0" r="0" b="0"/>
            <a:pathLst>
              <a:path w="99648" h="102780">
                <a:moveTo>
                  <a:pt x="49824" y="102780"/>
                </a:moveTo>
                <a:lnTo>
                  <a:pt x="996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bounded-residual-to-compose">
            <a:extLst>
              <a:ext uri="{FF2B5EF4-FFF2-40B4-BE49-F238E27FC236}">
                <a16:creationId xmlns:a16="http://schemas.microsoft.com/office/drawing/2014/main" id="{9071E5C8-F301-4848-8ED3-97704B6611FF}"/>
              </a:ext>
            </a:extLst>
          </p:cNvPr>
          <p:cNvSpPr>
            <a:spLocks noGrp="1"/>
          </p:cNvSpPr>
          <p:nvPr/>
        </p:nvSpPr>
        <p:spPr>
          <a:xfrm>
            <a:off x="7200000" y="19656000"/>
            <a:ext cx="900000" cy="2268000"/>
          </a:xfrm>
          <a:custGeom>
            <a:avLst/>
            <a:gdLst/>
            <a:ahLst/>
            <a:cxnLst/>
            <a:rect l="0" t="0" r="0" b="0"/>
            <a:pathLst>
              <a:path w="900000" h="2268000">
                <a:moveTo>
                  <a:pt x="0" y="2268000"/>
                </a:moveTo>
                <a:lnTo>
                  <a:pt x="396000" y="2268000"/>
                </a:lnTo>
                <a:lnTo>
                  <a:pt x="396000" y="0"/>
                </a:lnTo>
                <a:lnTo>
                  <a:pt x="900000" y="0"/>
                </a:lnTo>
              </a:path>
            </a:pathLst>
          </a:custGeom>
          <a:noFill/>
          <a:ln w="16510">
            <a:solidFill>
              <a:srgbClr val="087F8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bounded-residual-to-compose-arrowhead-51">
            <a:extLst>
              <a:ext uri="{FF2B5EF4-FFF2-40B4-BE49-F238E27FC236}">
                <a16:creationId xmlns:a16="http://schemas.microsoft.com/office/drawing/2014/main" id="{3E702632-D207-4688-AD8C-997DD5A3D6D8}"/>
              </a:ext>
            </a:extLst>
          </p:cNvPr>
          <p:cNvSpPr>
            <a:spLocks noGrp="1"/>
          </p:cNvSpPr>
          <p:nvPr/>
        </p:nvSpPr>
        <p:spPr>
          <a:xfrm>
            <a:off x="7997220" y="19606176"/>
            <a:ext cx="102780" cy="99648"/>
          </a:xfrm>
          <a:custGeom>
            <a:avLst/>
            <a:gdLst/>
            <a:ahLst/>
            <a:cxnLst/>
            <a:rect l="0" t="0" r="0" b="0"/>
            <a:pathLst>
              <a:path w="102780" h="99648">
                <a:moveTo>
                  <a:pt x="102780" y="49824"/>
                </a:moveTo>
                <a:lnTo>
                  <a:pt x="0" y="0"/>
                </a:lnTo>
                <a:lnTo>
                  <a:pt x="0" y="99648"/>
                </a:lnTo>
                <a:close/>
              </a:path>
            </a:pathLst>
          </a:cu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compose-to-limits">
            <a:extLst>
              <a:ext uri="{FF2B5EF4-FFF2-40B4-BE49-F238E27FC236}">
                <a16:creationId xmlns:a16="http://schemas.microsoft.com/office/drawing/2014/main" id="{5D2D96C5-48D0-432E-B446-C984CAD7BE0B}"/>
              </a:ext>
            </a:extLst>
          </p:cNvPr>
          <p:cNvSpPr>
            <a:spLocks noGrp="1"/>
          </p:cNvSpPr>
          <p:nvPr/>
        </p:nvSpPr>
        <p:spPr>
          <a:xfrm>
            <a:off x="9288000" y="19872000"/>
            <a:ext cx="360" cy="324000"/>
          </a:xfrm>
          <a:custGeom>
            <a:avLst/>
            <a:gdLst/>
            <a:ahLst/>
            <a:cxnLst/>
            <a:rect l="0" t="0" r="0" b="0"/>
            <a:pathLst>
              <a:path w="360" h="324000">
                <a:moveTo>
                  <a:pt x="0" y="0"/>
                </a:moveTo>
                <a:lnTo>
                  <a:pt x="0" y="324000"/>
                </a:lnTo>
              </a:path>
            </a:pathLst>
          </a:custGeom>
          <a:noFill/>
          <a:ln w="1905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compose-to-limits-arrowhead-52">
            <a:extLst>
              <a:ext uri="{FF2B5EF4-FFF2-40B4-BE49-F238E27FC236}">
                <a16:creationId xmlns:a16="http://schemas.microsoft.com/office/drawing/2014/main" id="{1CDDF4DD-C3FC-455F-86DA-D8A0DE7F4650}"/>
              </a:ext>
            </a:extLst>
          </p:cNvPr>
          <p:cNvSpPr>
            <a:spLocks noGrp="1"/>
          </p:cNvSpPr>
          <p:nvPr/>
        </p:nvSpPr>
        <p:spPr>
          <a:xfrm>
            <a:off x="9236880" y="20090700"/>
            <a:ext cx="102240" cy="105300"/>
          </a:xfrm>
          <a:custGeom>
            <a:avLst/>
            <a:gdLst/>
            <a:ahLst/>
            <a:cxnLst/>
            <a:rect l="0" t="0" r="0" b="0"/>
            <a:pathLst>
              <a:path w="102240" h="105300">
                <a:moveTo>
                  <a:pt x="51120" y="105300"/>
                </a:moveTo>
                <a:lnTo>
                  <a:pt x="102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limits-to-robot">
            <a:extLst>
              <a:ext uri="{FF2B5EF4-FFF2-40B4-BE49-F238E27FC236}">
                <a16:creationId xmlns:a16="http://schemas.microsoft.com/office/drawing/2014/main" id="{C0BB35F9-F67A-4B1D-88C6-B6B8FC915C97}"/>
              </a:ext>
            </a:extLst>
          </p:cNvPr>
          <p:cNvSpPr>
            <a:spLocks noGrp="1"/>
          </p:cNvSpPr>
          <p:nvPr/>
        </p:nvSpPr>
        <p:spPr>
          <a:xfrm>
            <a:off x="9288000" y="21600000"/>
            <a:ext cx="360" cy="468000"/>
          </a:xfrm>
          <a:custGeom>
            <a:avLst/>
            <a:gdLst/>
            <a:ahLst/>
            <a:cxnLst/>
            <a:rect l="0" t="0" r="0" b="0"/>
            <a:pathLst>
              <a:path w="360" h="468000">
                <a:moveTo>
                  <a:pt x="0" y="0"/>
                </a:moveTo>
                <a:lnTo>
                  <a:pt x="0" y="468000"/>
                </a:lnTo>
              </a:path>
            </a:pathLst>
          </a:custGeom>
          <a:noFill/>
          <a:ln w="1905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limits-to-robot-arrowhead-53">
            <a:extLst>
              <a:ext uri="{FF2B5EF4-FFF2-40B4-BE49-F238E27FC236}">
                <a16:creationId xmlns:a16="http://schemas.microsoft.com/office/drawing/2014/main" id="{2E4D6630-B2AD-47DF-9E64-EF2CBC8A7CA2}"/>
              </a:ext>
            </a:extLst>
          </p:cNvPr>
          <p:cNvSpPr>
            <a:spLocks noGrp="1"/>
          </p:cNvSpPr>
          <p:nvPr/>
        </p:nvSpPr>
        <p:spPr>
          <a:xfrm>
            <a:off x="9236880" y="21962700"/>
            <a:ext cx="102240" cy="105300"/>
          </a:xfrm>
          <a:custGeom>
            <a:avLst/>
            <a:gdLst/>
            <a:ahLst/>
            <a:cxnLst/>
            <a:rect l="0" t="0" r="0" b="0"/>
            <a:pathLst>
              <a:path w="102240" h="105300">
                <a:moveTo>
                  <a:pt x="51120" y="105300"/>
                </a:moveTo>
                <a:lnTo>
                  <a:pt x="102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3" name="state-feedback-loop">
            <a:extLst>
              <a:ext uri="{FF2B5EF4-FFF2-40B4-BE49-F238E27FC236}">
                <a16:creationId xmlns:a16="http://schemas.microsoft.com/office/drawing/2014/main" id="{78EC4A7F-3231-4C5C-B573-B036B565128D}"/>
              </a:ext>
            </a:extLst>
          </p:cNvPr>
          <p:cNvSpPr>
            <a:spLocks noGrp="1"/>
          </p:cNvSpPr>
          <p:nvPr/>
        </p:nvSpPr>
        <p:spPr>
          <a:xfrm>
            <a:off x="1620000" y="20520000"/>
            <a:ext cx="7668000" cy="2520000"/>
          </a:xfrm>
          <a:custGeom>
            <a:avLst/>
            <a:gdLst/>
            <a:ahLst/>
            <a:cxnLst/>
            <a:rect l="0" t="0" r="0" b="0"/>
            <a:pathLst>
              <a:path w="7668000" h="2520000">
                <a:moveTo>
                  <a:pt x="7668000" y="2304000"/>
                </a:moveTo>
                <a:lnTo>
                  <a:pt x="7668000" y="2520000"/>
                </a:lnTo>
                <a:lnTo>
                  <a:pt x="0" y="2520000"/>
                </a:lnTo>
                <a:lnTo>
                  <a:pt x="0" y="0"/>
                </a:lnTo>
              </a:path>
            </a:pathLst>
          </a:custGeom>
          <a:noFill/>
          <a:ln w="13970">
            <a:solidFill>
              <a:srgbClr val="78A9B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state-feedback-loop-arrowhead-54">
            <a:extLst>
              <a:ext uri="{FF2B5EF4-FFF2-40B4-BE49-F238E27FC236}">
                <a16:creationId xmlns:a16="http://schemas.microsoft.com/office/drawing/2014/main" id="{4130D883-332D-4365-930C-D0FA80BEFAE1}"/>
              </a:ext>
            </a:extLst>
          </p:cNvPr>
          <p:cNvSpPr>
            <a:spLocks noGrp="1"/>
          </p:cNvSpPr>
          <p:nvPr/>
        </p:nvSpPr>
        <p:spPr>
          <a:xfrm>
            <a:off x="1571472" y="20520000"/>
            <a:ext cx="97056" cy="100260"/>
          </a:xfrm>
          <a:custGeom>
            <a:avLst/>
            <a:gdLst/>
            <a:ahLst/>
            <a:cxnLst/>
            <a:rect l="0" t="0" r="0" b="0"/>
            <a:pathLst>
              <a:path w="97056" h="100260">
                <a:moveTo>
                  <a:pt x="48528" y="0"/>
                </a:moveTo>
                <a:lnTo>
                  <a:pt x="0" y="100260"/>
                </a:lnTo>
                <a:lnTo>
                  <a:pt x="97056" y="100260"/>
                </a:lnTo>
                <a:close/>
              </a:path>
            </a:pathLst>
          </a:custGeom>
          <a:solidFill>
            <a:srgbClr val="78A9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5" name="state-feedback-label">
            <a:extLst>
              <a:ext uri="{FF2B5EF4-FFF2-40B4-BE49-F238E27FC236}">
                <a16:creationId xmlns:a16="http://schemas.microsoft.com/office/drawing/2014/main" id="{510F62DC-AE8F-4DE0-97D6-47396F8BC56B}"/>
              </a:ext>
            </a:extLst>
          </p:cNvPr>
          <p:cNvSpPr>
            <a:spLocks noGrp="1"/>
          </p:cNvSpPr>
          <p:nvPr/>
        </p:nvSpPr>
        <p:spPr>
          <a:xfrm>
            <a:off x="2808000" y="22680000"/>
            <a:ext cx="5076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State Feedback (q, q̇, θ, θ̇)</a:t>
            </a:r>
          </a:p>
        </p:txBody>
      </p:sp>
      <p:graphicFrame>
        <p:nvGraphicFramePr>
          <p:cNvPr id="517" name="Chart"/>
          <p:cNvGraphicFramePr/>
          <p:nvPr>
            <p:extLst>
              <p:ext uri="{D42A27DB-BD31-4B8C-83A1-F6EECF244321}">
                <p14:modId xmlns:p14="http://schemas.microsoft.com/office/powerpoint/2010/main" val="1013193238"/>
              </p:ext>
            </p:extLst>
          </p:nvPr>
        </p:nvGraphicFramePr>
        <p:xfrm>
          <a:off x="11232000" y="18900000"/>
          <a:ext cx="9252000" cy="20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18" name="Chart"/>
          <p:cNvGraphicFramePr/>
          <p:nvPr>
            <p:extLst>
              <p:ext uri="{D42A27DB-BD31-4B8C-83A1-F6EECF244321}">
                <p14:modId xmlns:p14="http://schemas.microsoft.com/office/powerpoint/2010/main" val="2996960563"/>
              </p:ext>
            </p:extLst>
          </p:nvPr>
        </p:nvGraphicFramePr>
        <p:xfrm>
          <a:off x="11232000" y="21096000"/>
          <a:ext cx="9252000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8" name="predefined-target-line">
            <a:extLst>
              <a:ext uri="{FF2B5EF4-FFF2-40B4-BE49-F238E27FC236}">
                <a16:creationId xmlns:a16="http://schemas.microsoft.com/office/drawing/2014/main" id="{43A875FD-364F-4BAA-91D0-4E9D5BDA1442}"/>
              </a:ext>
            </a:extLst>
          </p:cNvPr>
          <p:cNvSpPr>
            <a:spLocks noGrp="1"/>
          </p:cNvSpPr>
          <p:nvPr/>
        </p:nvSpPr>
        <p:spPr>
          <a:xfrm>
            <a:off x="17529466" y="21635053"/>
            <a:ext cx="0" cy="537474"/>
          </a:xfrm>
          <a:prstGeom prst="line">
            <a:avLst/>
          </a:prstGeom>
          <a:noFill/>
          <a:ln w="13970">
            <a:solidFill>
              <a:srgbClr val="6B7E9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predefined-target-label">
            <a:extLst>
              <a:ext uri="{FF2B5EF4-FFF2-40B4-BE49-F238E27FC236}">
                <a16:creationId xmlns:a16="http://schemas.microsoft.com/office/drawing/2014/main" id="{CD7ED3EA-DE5C-4033-A02A-DE3DF3136BDB}"/>
              </a:ext>
            </a:extLst>
          </p:cNvPr>
          <p:cNvSpPr>
            <a:spLocks noGrp="1"/>
          </p:cNvSpPr>
          <p:nvPr/>
        </p:nvSpPr>
        <p:spPr>
          <a:xfrm>
            <a:off x="16593466" y="21372252"/>
            <a:ext cx="342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Predefined 10% target</a:t>
            </a:r>
          </a:p>
        </p:txBody>
      </p:sp>
      <p:sp>
        <p:nvSpPr>
          <p:cNvPr id="310" name="copy-55">
            <a:extLst>
              <a:ext uri="{FF2B5EF4-FFF2-40B4-BE49-F238E27FC236}">
                <a16:creationId xmlns:a16="http://schemas.microsoft.com/office/drawing/2014/main" id="{C480CF54-6832-4694-B46C-6E80BBEB852C}"/>
              </a:ext>
            </a:extLst>
          </p:cNvPr>
          <p:cNvSpPr>
            <a:spLocks noGrp="1"/>
          </p:cNvSpPr>
          <p:nvPr/>
        </p:nvSpPr>
        <p:spPr>
          <a:xfrm>
            <a:off x="900000" y="23256000"/>
            <a:ext cx="19584000" cy="82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73149"/>
                </a:solidFill>
              </a:rPr>
              <a:t>Punchline: </a:t>
            </a:r>
            <a:r>
              <a:t>Full residual exceeds the 10% engineering target (</a:t>
            </a:r>
            <a:r>
              <a:rPr b="1">
                <a:solidFill>
                  <a:srgbClr val="173149"/>
                </a:solidFill>
              </a:rPr>
              <a:t>12.42%</a:t>
            </a:r>
            <a:r>
              <a:t> faster recovery). Leg-channel ablation removes </a:t>
            </a:r>
            <a:r>
              <a:rPr b="1">
                <a:solidFill>
                  <a:srgbClr val="173149"/>
                </a:solidFill>
              </a:rPr>
              <a:t>~70% of the observed learning benefit</a:t>
            </a:r>
            <a:r>
              <a:t>: the gain falls to </a:t>
            </a:r>
            <a:r>
              <a:rPr b="1">
                <a:solidFill>
                  <a:srgbClr val="173149"/>
                </a:solidFill>
              </a:rPr>
              <a:t>3.82%</a:t>
            </a:r>
            <a:r>
              <a:t> with leg residuals masked, supporting wheel–leg coordination.</a:t>
            </a:r>
          </a:p>
        </p:txBody>
      </p:sp>
      <p:sp>
        <p:nvSpPr>
          <p:cNvPr id="311" name="copy-56">
            <a:extLst>
              <a:ext uri="{FF2B5EF4-FFF2-40B4-BE49-F238E27FC236}">
                <a16:creationId xmlns:a16="http://schemas.microsoft.com/office/drawing/2014/main" id="{2AC05731-8A74-462E-9C82-5B72DDAABA4C}"/>
              </a:ext>
            </a:extLst>
          </p:cNvPr>
          <p:cNvSpPr>
            <a:spLocks noGrp="1"/>
          </p:cNvSpPr>
          <p:nvPr/>
        </p:nvSpPr>
        <p:spPr>
          <a:xfrm>
            <a:off x="900000" y="24120000"/>
            <a:ext cx="19584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Simulation · one training seed · 128 events per arm · same checkpoint, evaluation-time masking · own matched baselines</a:t>
            </a:r>
          </a:p>
        </p:txBody>
      </p:sp>
      <p:sp>
        <p:nvSpPr>
          <p:cNvPr id="312" name="line-57">
            <a:extLst>
              <a:ext uri="{FF2B5EF4-FFF2-40B4-BE49-F238E27FC236}">
                <a16:creationId xmlns:a16="http://schemas.microsoft.com/office/drawing/2014/main" id="{DCCC380D-CF5E-41D9-9A2F-7BF9A49E6CD2}"/>
              </a:ext>
            </a:extLst>
          </p:cNvPr>
          <p:cNvSpPr>
            <a:spLocks noGrp="1"/>
          </p:cNvSpPr>
          <p:nvPr/>
        </p:nvSpPr>
        <p:spPr>
          <a:xfrm>
            <a:off x="900000" y="24516000"/>
            <a:ext cx="19584000" cy="0"/>
          </a:xfrm>
          <a:prstGeom prst="line">
            <a:avLst/>
          </a:prstGeom>
          <a:noFill/>
          <a:ln w="1524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" name="copy-58">
            <a:extLst>
              <a:ext uri="{FF2B5EF4-FFF2-40B4-BE49-F238E27FC236}">
                <a16:creationId xmlns:a16="http://schemas.microsoft.com/office/drawing/2014/main" id="{5CE661F3-0B40-4308-9CA0-A204E2B321CC}"/>
              </a:ext>
            </a:extLst>
          </p:cNvPr>
          <p:cNvSpPr>
            <a:spLocks noGrp="1"/>
          </p:cNvSpPr>
          <p:nvPr/>
        </p:nvSpPr>
        <p:spPr>
          <a:xfrm>
            <a:off x="900000" y="24696000"/>
            <a:ext cx="1393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03  Operational boundary: delay &amp; noise</a:t>
            </a:r>
          </a:p>
        </p:txBody>
      </p:sp>
      <p:sp>
        <p:nvSpPr>
          <p:cNvPr id="314" name="copy-59">
            <a:extLst>
              <a:ext uri="{FF2B5EF4-FFF2-40B4-BE49-F238E27FC236}">
                <a16:creationId xmlns:a16="http://schemas.microsoft.com/office/drawing/2014/main" id="{98CCCAD4-4F10-4817-80E4-F424B9B6F660}"/>
              </a:ext>
            </a:extLst>
          </p:cNvPr>
          <p:cNvSpPr>
            <a:spLocks noGrp="1"/>
          </p:cNvSpPr>
          <p:nvPr/>
        </p:nvSpPr>
        <p:spPr>
          <a:xfrm>
            <a:off x="900000" y="25272000"/>
            <a:ext cx="13932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Recorded termination events · 40 conditions · shared scale 0–22</a:t>
            </a:r>
          </a:p>
        </p:txBody>
      </p:sp>
      <p:sp>
        <p:nvSpPr>
          <p:cNvPr id="315" name="copy-60">
            <a:extLst>
              <a:ext uri="{FF2B5EF4-FFF2-40B4-BE49-F238E27FC236}">
                <a16:creationId xmlns:a16="http://schemas.microsoft.com/office/drawing/2014/main" id="{BC8A4985-F23A-44BF-9391-F20FE5D351E7}"/>
              </a:ext>
            </a:extLst>
          </p:cNvPr>
          <p:cNvSpPr>
            <a:spLocks noGrp="1"/>
          </p:cNvSpPr>
          <p:nvPr/>
        </p:nvSpPr>
        <p:spPr>
          <a:xfrm>
            <a:off x="900000" y="261360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316" name="copy-61">
            <a:extLst>
              <a:ext uri="{FF2B5EF4-FFF2-40B4-BE49-F238E27FC236}">
                <a16:creationId xmlns:a16="http://schemas.microsoft.com/office/drawing/2014/main" id="{237A4E35-84F6-46D9-AF9E-823C26F82695}"/>
              </a:ext>
            </a:extLst>
          </p:cNvPr>
          <p:cNvSpPr>
            <a:spLocks noGrp="1"/>
          </p:cNvSpPr>
          <p:nvPr/>
        </p:nvSpPr>
        <p:spPr>
          <a:xfrm>
            <a:off x="900000" y="264132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17" name="copy-62">
            <a:extLst>
              <a:ext uri="{FF2B5EF4-FFF2-40B4-BE49-F238E27FC236}">
                <a16:creationId xmlns:a16="http://schemas.microsoft.com/office/drawing/2014/main" id="{2DC61BAB-F351-4E6C-B687-0BAA17DAE4E7}"/>
              </a:ext>
            </a:extLst>
          </p:cNvPr>
          <p:cNvSpPr>
            <a:spLocks noGrp="1"/>
          </p:cNvSpPr>
          <p:nvPr/>
        </p:nvSpPr>
        <p:spPr>
          <a:xfrm>
            <a:off x="900000" y="266904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MEMS IMU</a:t>
            </a:r>
          </a:p>
        </p:txBody>
      </p:sp>
      <p:sp>
        <p:nvSpPr>
          <p:cNvPr id="318" name="copy-63">
            <a:extLst>
              <a:ext uri="{FF2B5EF4-FFF2-40B4-BE49-F238E27FC236}">
                <a16:creationId xmlns:a16="http://schemas.microsoft.com/office/drawing/2014/main" id="{23BB80CA-B5B3-4A3B-A1FC-B89FA33AE290}"/>
              </a:ext>
            </a:extLst>
          </p:cNvPr>
          <p:cNvSpPr>
            <a:spLocks noGrp="1"/>
          </p:cNvSpPr>
          <p:nvPr/>
        </p:nvSpPr>
        <p:spPr>
          <a:xfrm>
            <a:off x="900000" y="26967600"/>
            <a:ext cx="2412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MEMS IMU ×2</a:t>
            </a:r>
          </a:p>
        </p:txBody>
      </p:sp>
      <p:sp>
        <p:nvSpPr>
          <p:cNvPr id="319" name="copy-64">
            <a:extLst>
              <a:ext uri="{FF2B5EF4-FFF2-40B4-BE49-F238E27FC236}">
                <a16:creationId xmlns:a16="http://schemas.microsoft.com/office/drawing/2014/main" id="{D254B411-066F-47F0-80B3-FC360FA19B1E}"/>
              </a:ext>
            </a:extLst>
          </p:cNvPr>
          <p:cNvSpPr>
            <a:spLocks noGrp="1"/>
          </p:cNvSpPr>
          <p:nvPr/>
        </p:nvSpPr>
        <p:spPr>
          <a:xfrm>
            <a:off x="3384000" y="25704000"/>
            <a:ext cx="4608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320" name="heat-zero_residual-0-0">
            <a:extLst>
              <a:ext uri="{FF2B5EF4-FFF2-40B4-BE49-F238E27FC236}">
                <a16:creationId xmlns:a16="http://schemas.microsoft.com/office/drawing/2014/main" id="{D23E33E5-C71A-4EA8-BFE6-6890163A8EB0}"/>
              </a:ext>
            </a:extLst>
          </p:cNvPr>
          <p:cNvSpPr>
            <a:spLocks noGrp="1"/>
          </p:cNvSpPr>
          <p:nvPr/>
        </p:nvSpPr>
        <p:spPr>
          <a:xfrm>
            <a:off x="33840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1" name="copy-65">
            <a:extLst>
              <a:ext uri="{FF2B5EF4-FFF2-40B4-BE49-F238E27FC236}">
                <a16:creationId xmlns:a16="http://schemas.microsoft.com/office/drawing/2014/main" id="{5412DF46-AA74-453D-A5B5-82176ABC0AFB}"/>
              </a:ext>
            </a:extLst>
          </p:cNvPr>
          <p:cNvSpPr>
            <a:spLocks noGrp="1"/>
          </p:cNvSpPr>
          <p:nvPr/>
        </p:nvSpPr>
        <p:spPr>
          <a:xfrm>
            <a:off x="33840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2" name="heat-zero_residual-0-1">
            <a:extLst>
              <a:ext uri="{FF2B5EF4-FFF2-40B4-BE49-F238E27FC236}">
                <a16:creationId xmlns:a16="http://schemas.microsoft.com/office/drawing/2014/main" id="{AC7FC41A-8BC7-4E9F-A6F7-BAFD68292B7C}"/>
              </a:ext>
            </a:extLst>
          </p:cNvPr>
          <p:cNvSpPr>
            <a:spLocks noGrp="1"/>
          </p:cNvSpPr>
          <p:nvPr/>
        </p:nvSpPr>
        <p:spPr>
          <a:xfrm>
            <a:off x="43056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copy-66">
            <a:extLst>
              <a:ext uri="{FF2B5EF4-FFF2-40B4-BE49-F238E27FC236}">
                <a16:creationId xmlns:a16="http://schemas.microsoft.com/office/drawing/2014/main" id="{57575D5D-77CA-4ACC-94C7-00A617BE1410}"/>
              </a:ext>
            </a:extLst>
          </p:cNvPr>
          <p:cNvSpPr>
            <a:spLocks noGrp="1"/>
          </p:cNvSpPr>
          <p:nvPr/>
        </p:nvSpPr>
        <p:spPr>
          <a:xfrm>
            <a:off x="43056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4" name="heat-zero_residual-0-2">
            <a:extLst>
              <a:ext uri="{FF2B5EF4-FFF2-40B4-BE49-F238E27FC236}">
                <a16:creationId xmlns:a16="http://schemas.microsoft.com/office/drawing/2014/main" id="{3F88E0AC-F328-4CD8-8ADB-C079AEF57986}"/>
              </a:ext>
            </a:extLst>
          </p:cNvPr>
          <p:cNvSpPr>
            <a:spLocks noGrp="1"/>
          </p:cNvSpPr>
          <p:nvPr/>
        </p:nvSpPr>
        <p:spPr>
          <a:xfrm>
            <a:off x="52272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copy-67">
            <a:extLst>
              <a:ext uri="{FF2B5EF4-FFF2-40B4-BE49-F238E27FC236}">
                <a16:creationId xmlns:a16="http://schemas.microsoft.com/office/drawing/2014/main" id="{FC2CDFE4-A878-438A-8667-5A5E6F72B5A8}"/>
              </a:ext>
            </a:extLst>
          </p:cNvPr>
          <p:cNvSpPr>
            <a:spLocks noGrp="1"/>
          </p:cNvSpPr>
          <p:nvPr/>
        </p:nvSpPr>
        <p:spPr>
          <a:xfrm>
            <a:off x="52272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6" name="heat-zero_residual-0-3">
            <a:extLst>
              <a:ext uri="{FF2B5EF4-FFF2-40B4-BE49-F238E27FC236}">
                <a16:creationId xmlns:a16="http://schemas.microsoft.com/office/drawing/2014/main" id="{C5039493-CCDC-46B9-9C58-6E8F59698077}"/>
              </a:ext>
            </a:extLst>
          </p:cNvPr>
          <p:cNvSpPr>
            <a:spLocks noGrp="1"/>
          </p:cNvSpPr>
          <p:nvPr/>
        </p:nvSpPr>
        <p:spPr>
          <a:xfrm>
            <a:off x="61488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" name="copy-68">
            <a:extLst>
              <a:ext uri="{FF2B5EF4-FFF2-40B4-BE49-F238E27FC236}">
                <a16:creationId xmlns:a16="http://schemas.microsoft.com/office/drawing/2014/main" id="{E15B8CD9-2257-40A6-AE1D-AADAD4A20848}"/>
              </a:ext>
            </a:extLst>
          </p:cNvPr>
          <p:cNvSpPr>
            <a:spLocks noGrp="1"/>
          </p:cNvSpPr>
          <p:nvPr/>
        </p:nvSpPr>
        <p:spPr>
          <a:xfrm>
            <a:off x="61488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8" name="heat-zero_residual-0-4">
            <a:extLst>
              <a:ext uri="{FF2B5EF4-FFF2-40B4-BE49-F238E27FC236}">
                <a16:creationId xmlns:a16="http://schemas.microsoft.com/office/drawing/2014/main" id="{F84B3607-C654-44DD-85E7-57855AB30F1E}"/>
              </a:ext>
            </a:extLst>
          </p:cNvPr>
          <p:cNvSpPr>
            <a:spLocks noGrp="1"/>
          </p:cNvSpPr>
          <p:nvPr/>
        </p:nvSpPr>
        <p:spPr>
          <a:xfrm>
            <a:off x="70704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copy-69">
            <a:extLst>
              <a:ext uri="{FF2B5EF4-FFF2-40B4-BE49-F238E27FC236}">
                <a16:creationId xmlns:a16="http://schemas.microsoft.com/office/drawing/2014/main" id="{284DC8CF-B394-439E-BD8C-5F79375E6A02}"/>
              </a:ext>
            </a:extLst>
          </p:cNvPr>
          <p:cNvSpPr>
            <a:spLocks noGrp="1"/>
          </p:cNvSpPr>
          <p:nvPr/>
        </p:nvSpPr>
        <p:spPr>
          <a:xfrm>
            <a:off x="70704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0" name="heat-zero_residual-1-0">
            <a:extLst>
              <a:ext uri="{FF2B5EF4-FFF2-40B4-BE49-F238E27FC236}">
                <a16:creationId xmlns:a16="http://schemas.microsoft.com/office/drawing/2014/main" id="{4AE53E9B-0A05-4493-AB4D-8CA6CE96DC6F}"/>
              </a:ext>
            </a:extLst>
          </p:cNvPr>
          <p:cNvSpPr>
            <a:spLocks noGrp="1"/>
          </p:cNvSpPr>
          <p:nvPr/>
        </p:nvSpPr>
        <p:spPr>
          <a:xfrm>
            <a:off x="33840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copy-70">
            <a:extLst>
              <a:ext uri="{FF2B5EF4-FFF2-40B4-BE49-F238E27FC236}">
                <a16:creationId xmlns:a16="http://schemas.microsoft.com/office/drawing/2014/main" id="{F680270E-E37E-444F-B1E0-95C68DEE0773}"/>
              </a:ext>
            </a:extLst>
          </p:cNvPr>
          <p:cNvSpPr>
            <a:spLocks noGrp="1"/>
          </p:cNvSpPr>
          <p:nvPr/>
        </p:nvSpPr>
        <p:spPr>
          <a:xfrm>
            <a:off x="33840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2" name="heat-zero_residual-1-1">
            <a:extLst>
              <a:ext uri="{FF2B5EF4-FFF2-40B4-BE49-F238E27FC236}">
                <a16:creationId xmlns:a16="http://schemas.microsoft.com/office/drawing/2014/main" id="{C3E9AE2C-26AF-463E-926C-7AAE8291DF85}"/>
              </a:ext>
            </a:extLst>
          </p:cNvPr>
          <p:cNvSpPr>
            <a:spLocks noGrp="1"/>
          </p:cNvSpPr>
          <p:nvPr/>
        </p:nvSpPr>
        <p:spPr>
          <a:xfrm>
            <a:off x="43056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3" name="copy-71">
            <a:extLst>
              <a:ext uri="{FF2B5EF4-FFF2-40B4-BE49-F238E27FC236}">
                <a16:creationId xmlns:a16="http://schemas.microsoft.com/office/drawing/2014/main" id="{F48E5E9B-E498-4B2D-A599-0B7DE8AE1344}"/>
              </a:ext>
            </a:extLst>
          </p:cNvPr>
          <p:cNvSpPr>
            <a:spLocks noGrp="1"/>
          </p:cNvSpPr>
          <p:nvPr/>
        </p:nvSpPr>
        <p:spPr>
          <a:xfrm>
            <a:off x="43056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4" name="heat-zero_residual-1-2">
            <a:extLst>
              <a:ext uri="{FF2B5EF4-FFF2-40B4-BE49-F238E27FC236}">
                <a16:creationId xmlns:a16="http://schemas.microsoft.com/office/drawing/2014/main" id="{D9C69C60-7D0C-49B0-97C0-799B97117BE4}"/>
              </a:ext>
            </a:extLst>
          </p:cNvPr>
          <p:cNvSpPr>
            <a:spLocks noGrp="1"/>
          </p:cNvSpPr>
          <p:nvPr/>
        </p:nvSpPr>
        <p:spPr>
          <a:xfrm>
            <a:off x="52272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copy-72">
            <a:extLst>
              <a:ext uri="{FF2B5EF4-FFF2-40B4-BE49-F238E27FC236}">
                <a16:creationId xmlns:a16="http://schemas.microsoft.com/office/drawing/2014/main" id="{5014C87F-4404-4D7B-BB28-8F537848BAD7}"/>
              </a:ext>
            </a:extLst>
          </p:cNvPr>
          <p:cNvSpPr>
            <a:spLocks noGrp="1"/>
          </p:cNvSpPr>
          <p:nvPr/>
        </p:nvSpPr>
        <p:spPr>
          <a:xfrm>
            <a:off x="52272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6" name="heat-zero_residual-1-3">
            <a:extLst>
              <a:ext uri="{FF2B5EF4-FFF2-40B4-BE49-F238E27FC236}">
                <a16:creationId xmlns:a16="http://schemas.microsoft.com/office/drawing/2014/main" id="{BB3E8425-131C-4C0B-BE6C-834B28CDB8FD}"/>
              </a:ext>
            </a:extLst>
          </p:cNvPr>
          <p:cNvSpPr>
            <a:spLocks noGrp="1"/>
          </p:cNvSpPr>
          <p:nvPr/>
        </p:nvSpPr>
        <p:spPr>
          <a:xfrm>
            <a:off x="61488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copy-73">
            <a:extLst>
              <a:ext uri="{FF2B5EF4-FFF2-40B4-BE49-F238E27FC236}">
                <a16:creationId xmlns:a16="http://schemas.microsoft.com/office/drawing/2014/main" id="{870E8A65-E2A4-44CB-BA60-6A45740308CD}"/>
              </a:ext>
            </a:extLst>
          </p:cNvPr>
          <p:cNvSpPr>
            <a:spLocks noGrp="1"/>
          </p:cNvSpPr>
          <p:nvPr/>
        </p:nvSpPr>
        <p:spPr>
          <a:xfrm>
            <a:off x="61488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8" name="heat-zero_residual-1-4">
            <a:extLst>
              <a:ext uri="{FF2B5EF4-FFF2-40B4-BE49-F238E27FC236}">
                <a16:creationId xmlns:a16="http://schemas.microsoft.com/office/drawing/2014/main" id="{BEB6E05A-0D0A-49E2-AE02-9CE2A649EEE7}"/>
              </a:ext>
            </a:extLst>
          </p:cNvPr>
          <p:cNvSpPr>
            <a:spLocks noGrp="1"/>
          </p:cNvSpPr>
          <p:nvPr/>
        </p:nvSpPr>
        <p:spPr>
          <a:xfrm>
            <a:off x="70704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copy-74">
            <a:extLst>
              <a:ext uri="{FF2B5EF4-FFF2-40B4-BE49-F238E27FC236}">
                <a16:creationId xmlns:a16="http://schemas.microsoft.com/office/drawing/2014/main" id="{52F29E65-D3B2-4692-9165-602E4595B8B4}"/>
              </a:ext>
            </a:extLst>
          </p:cNvPr>
          <p:cNvSpPr>
            <a:spLocks noGrp="1"/>
          </p:cNvSpPr>
          <p:nvPr/>
        </p:nvSpPr>
        <p:spPr>
          <a:xfrm>
            <a:off x="70704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0" name="heat-zero_residual-2-0">
            <a:extLst>
              <a:ext uri="{FF2B5EF4-FFF2-40B4-BE49-F238E27FC236}">
                <a16:creationId xmlns:a16="http://schemas.microsoft.com/office/drawing/2014/main" id="{5CF5BF11-661D-4582-9405-399B2CAE0843}"/>
              </a:ext>
            </a:extLst>
          </p:cNvPr>
          <p:cNvSpPr>
            <a:spLocks noGrp="1"/>
          </p:cNvSpPr>
          <p:nvPr/>
        </p:nvSpPr>
        <p:spPr>
          <a:xfrm>
            <a:off x="33840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1" name="copy-75">
            <a:extLst>
              <a:ext uri="{FF2B5EF4-FFF2-40B4-BE49-F238E27FC236}">
                <a16:creationId xmlns:a16="http://schemas.microsoft.com/office/drawing/2014/main" id="{F9563F07-958F-4B73-A6FA-EE25A58510B3}"/>
              </a:ext>
            </a:extLst>
          </p:cNvPr>
          <p:cNvSpPr>
            <a:spLocks noGrp="1"/>
          </p:cNvSpPr>
          <p:nvPr/>
        </p:nvSpPr>
        <p:spPr>
          <a:xfrm>
            <a:off x="33840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2" name="heat-zero_residual-2-1">
            <a:extLst>
              <a:ext uri="{FF2B5EF4-FFF2-40B4-BE49-F238E27FC236}">
                <a16:creationId xmlns:a16="http://schemas.microsoft.com/office/drawing/2014/main" id="{5E8B83FB-0CF7-4F17-A9A1-B5E3D50C0B8E}"/>
              </a:ext>
            </a:extLst>
          </p:cNvPr>
          <p:cNvSpPr>
            <a:spLocks noGrp="1"/>
          </p:cNvSpPr>
          <p:nvPr/>
        </p:nvSpPr>
        <p:spPr>
          <a:xfrm>
            <a:off x="43056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copy-76">
            <a:extLst>
              <a:ext uri="{FF2B5EF4-FFF2-40B4-BE49-F238E27FC236}">
                <a16:creationId xmlns:a16="http://schemas.microsoft.com/office/drawing/2014/main" id="{14C03C7C-675E-4129-9044-A078CB161C3C}"/>
              </a:ext>
            </a:extLst>
          </p:cNvPr>
          <p:cNvSpPr>
            <a:spLocks noGrp="1"/>
          </p:cNvSpPr>
          <p:nvPr/>
        </p:nvSpPr>
        <p:spPr>
          <a:xfrm>
            <a:off x="43056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4" name="heat-zero_residual-2-2">
            <a:extLst>
              <a:ext uri="{FF2B5EF4-FFF2-40B4-BE49-F238E27FC236}">
                <a16:creationId xmlns:a16="http://schemas.microsoft.com/office/drawing/2014/main" id="{30178D08-A92A-4965-8CD5-FC4B09F8CC3B}"/>
              </a:ext>
            </a:extLst>
          </p:cNvPr>
          <p:cNvSpPr>
            <a:spLocks noGrp="1"/>
          </p:cNvSpPr>
          <p:nvPr/>
        </p:nvSpPr>
        <p:spPr>
          <a:xfrm>
            <a:off x="52272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5" name="copy-77">
            <a:extLst>
              <a:ext uri="{FF2B5EF4-FFF2-40B4-BE49-F238E27FC236}">
                <a16:creationId xmlns:a16="http://schemas.microsoft.com/office/drawing/2014/main" id="{84CDF7F5-AE9B-4005-860C-A5D25C0AC643}"/>
              </a:ext>
            </a:extLst>
          </p:cNvPr>
          <p:cNvSpPr>
            <a:spLocks noGrp="1"/>
          </p:cNvSpPr>
          <p:nvPr/>
        </p:nvSpPr>
        <p:spPr>
          <a:xfrm>
            <a:off x="52272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6" name="heat-zero_residual-2-3">
            <a:extLst>
              <a:ext uri="{FF2B5EF4-FFF2-40B4-BE49-F238E27FC236}">
                <a16:creationId xmlns:a16="http://schemas.microsoft.com/office/drawing/2014/main" id="{E78CE454-515D-496B-9874-D13FDEA404D6}"/>
              </a:ext>
            </a:extLst>
          </p:cNvPr>
          <p:cNvSpPr>
            <a:spLocks noGrp="1"/>
          </p:cNvSpPr>
          <p:nvPr/>
        </p:nvSpPr>
        <p:spPr>
          <a:xfrm>
            <a:off x="61488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7" name="copy-78">
            <a:extLst>
              <a:ext uri="{FF2B5EF4-FFF2-40B4-BE49-F238E27FC236}">
                <a16:creationId xmlns:a16="http://schemas.microsoft.com/office/drawing/2014/main" id="{11DF23B1-5360-4FE6-9050-A9C107A6122C}"/>
              </a:ext>
            </a:extLst>
          </p:cNvPr>
          <p:cNvSpPr>
            <a:spLocks noGrp="1"/>
          </p:cNvSpPr>
          <p:nvPr/>
        </p:nvSpPr>
        <p:spPr>
          <a:xfrm>
            <a:off x="61488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8" name="heat-zero_residual-2-4">
            <a:extLst>
              <a:ext uri="{FF2B5EF4-FFF2-40B4-BE49-F238E27FC236}">
                <a16:creationId xmlns:a16="http://schemas.microsoft.com/office/drawing/2014/main" id="{335BA8B4-3C2E-4B29-898E-AC21B36BFF91}"/>
              </a:ext>
            </a:extLst>
          </p:cNvPr>
          <p:cNvSpPr>
            <a:spLocks noGrp="1"/>
          </p:cNvSpPr>
          <p:nvPr/>
        </p:nvSpPr>
        <p:spPr>
          <a:xfrm>
            <a:off x="7070400" y="26690400"/>
            <a:ext cx="885600" cy="252000"/>
          </a:xfrm>
          <a:prstGeom prst="rect">
            <a:avLst/>
          </a:prstGeom>
          <a:solidFill>
            <a:srgbClr val="EEB48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copy-79">
            <a:extLst>
              <a:ext uri="{FF2B5EF4-FFF2-40B4-BE49-F238E27FC236}">
                <a16:creationId xmlns:a16="http://schemas.microsoft.com/office/drawing/2014/main" id="{BC38ADCF-EF51-42F8-A47C-B02E1DB83C46}"/>
              </a:ext>
            </a:extLst>
          </p:cNvPr>
          <p:cNvSpPr>
            <a:spLocks noGrp="1"/>
          </p:cNvSpPr>
          <p:nvPr/>
        </p:nvSpPr>
        <p:spPr>
          <a:xfrm>
            <a:off x="70704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0" name="heat-zero_residual-3-0">
            <a:extLst>
              <a:ext uri="{FF2B5EF4-FFF2-40B4-BE49-F238E27FC236}">
                <a16:creationId xmlns:a16="http://schemas.microsoft.com/office/drawing/2014/main" id="{FDF6E8D8-7159-4525-A88A-43FD887A8424}"/>
              </a:ext>
            </a:extLst>
          </p:cNvPr>
          <p:cNvSpPr>
            <a:spLocks noGrp="1"/>
          </p:cNvSpPr>
          <p:nvPr/>
        </p:nvSpPr>
        <p:spPr>
          <a:xfrm>
            <a:off x="33840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copy-80">
            <a:extLst>
              <a:ext uri="{FF2B5EF4-FFF2-40B4-BE49-F238E27FC236}">
                <a16:creationId xmlns:a16="http://schemas.microsoft.com/office/drawing/2014/main" id="{9A7BC340-3B75-4B5F-8E5E-2C1D561917D3}"/>
              </a:ext>
            </a:extLst>
          </p:cNvPr>
          <p:cNvSpPr>
            <a:spLocks noGrp="1"/>
          </p:cNvSpPr>
          <p:nvPr/>
        </p:nvSpPr>
        <p:spPr>
          <a:xfrm>
            <a:off x="33840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2" name="heat-zero_residual-3-1">
            <a:extLst>
              <a:ext uri="{FF2B5EF4-FFF2-40B4-BE49-F238E27FC236}">
                <a16:creationId xmlns:a16="http://schemas.microsoft.com/office/drawing/2014/main" id="{BF95D26A-B639-4091-A119-C979A6663C45}"/>
              </a:ext>
            </a:extLst>
          </p:cNvPr>
          <p:cNvSpPr>
            <a:spLocks noGrp="1"/>
          </p:cNvSpPr>
          <p:nvPr/>
        </p:nvSpPr>
        <p:spPr>
          <a:xfrm>
            <a:off x="43056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3" name="copy-81">
            <a:extLst>
              <a:ext uri="{FF2B5EF4-FFF2-40B4-BE49-F238E27FC236}">
                <a16:creationId xmlns:a16="http://schemas.microsoft.com/office/drawing/2014/main" id="{CFFF71F3-9CC7-49EA-9E6F-8C3C9B7AB35A}"/>
              </a:ext>
            </a:extLst>
          </p:cNvPr>
          <p:cNvSpPr>
            <a:spLocks noGrp="1"/>
          </p:cNvSpPr>
          <p:nvPr/>
        </p:nvSpPr>
        <p:spPr>
          <a:xfrm>
            <a:off x="43056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4" name="heat-zero_residual-3-2">
            <a:extLst>
              <a:ext uri="{FF2B5EF4-FFF2-40B4-BE49-F238E27FC236}">
                <a16:creationId xmlns:a16="http://schemas.microsoft.com/office/drawing/2014/main" id="{FBF24E9E-9C94-4D8A-ACCC-9620AA6BAC23}"/>
              </a:ext>
            </a:extLst>
          </p:cNvPr>
          <p:cNvSpPr>
            <a:spLocks noGrp="1"/>
          </p:cNvSpPr>
          <p:nvPr/>
        </p:nvSpPr>
        <p:spPr>
          <a:xfrm>
            <a:off x="52272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copy-82">
            <a:extLst>
              <a:ext uri="{FF2B5EF4-FFF2-40B4-BE49-F238E27FC236}">
                <a16:creationId xmlns:a16="http://schemas.microsoft.com/office/drawing/2014/main" id="{49587E0E-855E-4B90-A6A2-02F9BD9F69D1}"/>
              </a:ext>
            </a:extLst>
          </p:cNvPr>
          <p:cNvSpPr>
            <a:spLocks noGrp="1"/>
          </p:cNvSpPr>
          <p:nvPr/>
        </p:nvSpPr>
        <p:spPr>
          <a:xfrm>
            <a:off x="52272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6" name="heat-zero_residual-3-3">
            <a:extLst>
              <a:ext uri="{FF2B5EF4-FFF2-40B4-BE49-F238E27FC236}">
                <a16:creationId xmlns:a16="http://schemas.microsoft.com/office/drawing/2014/main" id="{6A33B80C-801E-4DEB-8FD2-838E409FBED2}"/>
              </a:ext>
            </a:extLst>
          </p:cNvPr>
          <p:cNvSpPr>
            <a:spLocks noGrp="1"/>
          </p:cNvSpPr>
          <p:nvPr/>
        </p:nvSpPr>
        <p:spPr>
          <a:xfrm>
            <a:off x="61488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copy-83">
            <a:extLst>
              <a:ext uri="{FF2B5EF4-FFF2-40B4-BE49-F238E27FC236}">
                <a16:creationId xmlns:a16="http://schemas.microsoft.com/office/drawing/2014/main" id="{2553FE36-1C2C-4A67-ADEE-8A32479D9F32}"/>
              </a:ext>
            </a:extLst>
          </p:cNvPr>
          <p:cNvSpPr>
            <a:spLocks noGrp="1"/>
          </p:cNvSpPr>
          <p:nvPr/>
        </p:nvSpPr>
        <p:spPr>
          <a:xfrm>
            <a:off x="61488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8" name="heat-zero_residual-3-4">
            <a:extLst>
              <a:ext uri="{FF2B5EF4-FFF2-40B4-BE49-F238E27FC236}">
                <a16:creationId xmlns:a16="http://schemas.microsoft.com/office/drawing/2014/main" id="{01D4B18E-7F80-4ACE-B944-2615641B8584}"/>
              </a:ext>
            </a:extLst>
          </p:cNvPr>
          <p:cNvSpPr>
            <a:spLocks noGrp="1"/>
          </p:cNvSpPr>
          <p:nvPr/>
        </p:nvSpPr>
        <p:spPr>
          <a:xfrm>
            <a:off x="7070400" y="26967600"/>
            <a:ext cx="885600" cy="252000"/>
          </a:xfrm>
          <a:prstGeom prst="rect">
            <a:avLst/>
          </a:prstGeom>
          <a:solidFill>
            <a:srgbClr val="E7A1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9" name="copy-84">
            <a:extLst>
              <a:ext uri="{FF2B5EF4-FFF2-40B4-BE49-F238E27FC236}">
                <a16:creationId xmlns:a16="http://schemas.microsoft.com/office/drawing/2014/main" id="{48FC0D1C-D74C-4450-A65B-1A1E632FE34E}"/>
              </a:ext>
            </a:extLst>
          </p:cNvPr>
          <p:cNvSpPr>
            <a:spLocks noGrp="1"/>
          </p:cNvSpPr>
          <p:nvPr/>
        </p:nvSpPr>
        <p:spPr>
          <a:xfrm>
            <a:off x="70704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0" name="copy-85">
            <a:extLst>
              <a:ext uri="{FF2B5EF4-FFF2-40B4-BE49-F238E27FC236}">
                <a16:creationId xmlns:a16="http://schemas.microsoft.com/office/drawing/2014/main" id="{DCA23416-1F57-43DD-94EB-7A530AFFA93D}"/>
              </a:ext>
            </a:extLst>
          </p:cNvPr>
          <p:cNvSpPr>
            <a:spLocks noGrp="1"/>
          </p:cNvSpPr>
          <p:nvPr/>
        </p:nvSpPr>
        <p:spPr>
          <a:xfrm>
            <a:off x="33840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1" name="copy-86">
            <a:extLst>
              <a:ext uri="{FF2B5EF4-FFF2-40B4-BE49-F238E27FC236}">
                <a16:creationId xmlns:a16="http://schemas.microsoft.com/office/drawing/2014/main" id="{4698C2D7-93FA-479F-A629-13B2D9CE05E5}"/>
              </a:ext>
            </a:extLst>
          </p:cNvPr>
          <p:cNvSpPr>
            <a:spLocks noGrp="1"/>
          </p:cNvSpPr>
          <p:nvPr/>
        </p:nvSpPr>
        <p:spPr>
          <a:xfrm>
            <a:off x="43056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62" name="copy-87">
            <a:extLst>
              <a:ext uri="{FF2B5EF4-FFF2-40B4-BE49-F238E27FC236}">
                <a16:creationId xmlns:a16="http://schemas.microsoft.com/office/drawing/2014/main" id="{7414089D-1E2D-41AE-AC69-75C874231B3B}"/>
              </a:ext>
            </a:extLst>
          </p:cNvPr>
          <p:cNvSpPr>
            <a:spLocks noGrp="1"/>
          </p:cNvSpPr>
          <p:nvPr/>
        </p:nvSpPr>
        <p:spPr>
          <a:xfrm>
            <a:off x="52272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63" name="copy-88">
            <a:extLst>
              <a:ext uri="{FF2B5EF4-FFF2-40B4-BE49-F238E27FC236}">
                <a16:creationId xmlns:a16="http://schemas.microsoft.com/office/drawing/2014/main" id="{095C6446-35D7-4778-97CA-B28B411C5A3E}"/>
              </a:ext>
            </a:extLst>
          </p:cNvPr>
          <p:cNvSpPr>
            <a:spLocks noGrp="1"/>
          </p:cNvSpPr>
          <p:nvPr/>
        </p:nvSpPr>
        <p:spPr>
          <a:xfrm>
            <a:off x="61488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64" name="copy-89">
            <a:extLst>
              <a:ext uri="{FF2B5EF4-FFF2-40B4-BE49-F238E27FC236}">
                <a16:creationId xmlns:a16="http://schemas.microsoft.com/office/drawing/2014/main" id="{34FFDB7E-AF56-47A7-8723-1C00AA8FB940}"/>
              </a:ext>
            </a:extLst>
          </p:cNvPr>
          <p:cNvSpPr>
            <a:spLocks noGrp="1"/>
          </p:cNvSpPr>
          <p:nvPr/>
        </p:nvSpPr>
        <p:spPr>
          <a:xfrm>
            <a:off x="70704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65" name="copy-90">
            <a:extLst>
              <a:ext uri="{FF2B5EF4-FFF2-40B4-BE49-F238E27FC236}">
                <a16:creationId xmlns:a16="http://schemas.microsoft.com/office/drawing/2014/main" id="{F32178C2-7B16-49FC-8636-7B5AD162308A}"/>
              </a:ext>
            </a:extLst>
          </p:cNvPr>
          <p:cNvSpPr>
            <a:spLocks noGrp="1"/>
          </p:cNvSpPr>
          <p:nvPr/>
        </p:nvSpPr>
        <p:spPr>
          <a:xfrm>
            <a:off x="8748000" y="25704000"/>
            <a:ext cx="4608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366" name="heat-candidate-0-0">
            <a:extLst>
              <a:ext uri="{FF2B5EF4-FFF2-40B4-BE49-F238E27FC236}">
                <a16:creationId xmlns:a16="http://schemas.microsoft.com/office/drawing/2014/main" id="{FDE47C23-3230-4B27-B32E-FEAE673B9BD2}"/>
              </a:ext>
            </a:extLst>
          </p:cNvPr>
          <p:cNvSpPr>
            <a:spLocks noGrp="1"/>
          </p:cNvSpPr>
          <p:nvPr/>
        </p:nvSpPr>
        <p:spPr>
          <a:xfrm>
            <a:off x="87480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copy-91">
            <a:extLst>
              <a:ext uri="{FF2B5EF4-FFF2-40B4-BE49-F238E27FC236}">
                <a16:creationId xmlns:a16="http://schemas.microsoft.com/office/drawing/2014/main" id="{F042BD3E-83C4-4164-9116-E0CB5742D499}"/>
              </a:ext>
            </a:extLst>
          </p:cNvPr>
          <p:cNvSpPr>
            <a:spLocks noGrp="1"/>
          </p:cNvSpPr>
          <p:nvPr/>
        </p:nvSpPr>
        <p:spPr>
          <a:xfrm>
            <a:off x="87480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8" name="heat-candidate-0-1">
            <a:extLst>
              <a:ext uri="{FF2B5EF4-FFF2-40B4-BE49-F238E27FC236}">
                <a16:creationId xmlns:a16="http://schemas.microsoft.com/office/drawing/2014/main" id="{DF715234-EC2F-4BF8-9570-74D3CE29012A}"/>
              </a:ext>
            </a:extLst>
          </p:cNvPr>
          <p:cNvSpPr>
            <a:spLocks noGrp="1"/>
          </p:cNvSpPr>
          <p:nvPr/>
        </p:nvSpPr>
        <p:spPr>
          <a:xfrm>
            <a:off x="96696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copy-92">
            <a:extLst>
              <a:ext uri="{FF2B5EF4-FFF2-40B4-BE49-F238E27FC236}">
                <a16:creationId xmlns:a16="http://schemas.microsoft.com/office/drawing/2014/main" id="{41D8D054-F7C0-4CBF-ADE0-55F63D877AE9}"/>
              </a:ext>
            </a:extLst>
          </p:cNvPr>
          <p:cNvSpPr>
            <a:spLocks noGrp="1"/>
          </p:cNvSpPr>
          <p:nvPr/>
        </p:nvSpPr>
        <p:spPr>
          <a:xfrm>
            <a:off x="96696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0" name="heat-candidate-0-2">
            <a:extLst>
              <a:ext uri="{FF2B5EF4-FFF2-40B4-BE49-F238E27FC236}">
                <a16:creationId xmlns:a16="http://schemas.microsoft.com/office/drawing/2014/main" id="{8C83A90B-9A20-4ECF-A965-08AA7958E30D}"/>
              </a:ext>
            </a:extLst>
          </p:cNvPr>
          <p:cNvSpPr>
            <a:spLocks noGrp="1"/>
          </p:cNvSpPr>
          <p:nvPr/>
        </p:nvSpPr>
        <p:spPr>
          <a:xfrm>
            <a:off x="10591200" y="261360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copy-93">
            <a:extLst>
              <a:ext uri="{FF2B5EF4-FFF2-40B4-BE49-F238E27FC236}">
                <a16:creationId xmlns:a16="http://schemas.microsoft.com/office/drawing/2014/main" id="{B4BD0935-2ABB-449A-BA05-986F68E42A4A}"/>
              </a:ext>
            </a:extLst>
          </p:cNvPr>
          <p:cNvSpPr>
            <a:spLocks noGrp="1"/>
          </p:cNvSpPr>
          <p:nvPr/>
        </p:nvSpPr>
        <p:spPr>
          <a:xfrm>
            <a:off x="105912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2" name="heat-candidate-0-3">
            <a:extLst>
              <a:ext uri="{FF2B5EF4-FFF2-40B4-BE49-F238E27FC236}">
                <a16:creationId xmlns:a16="http://schemas.microsoft.com/office/drawing/2014/main" id="{6E82C496-7FA6-4A8C-A13D-C6D5035D3A19}"/>
              </a:ext>
            </a:extLst>
          </p:cNvPr>
          <p:cNvSpPr>
            <a:spLocks noGrp="1"/>
          </p:cNvSpPr>
          <p:nvPr/>
        </p:nvSpPr>
        <p:spPr>
          <a:xfrm>
            <a:off x="11512800" y="26136000"/>
            <a:ext cx="885600" cy="252000"/>
          </a:xfrm>
          <a:prstGeom prst="rect">
            <a:avLst/>
          </a:prstGeom>
          <a:solidFill>
            <a:srgbClr val="E7A1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" name="copy-94">
            <a:extLst>
              <a:ext uri="{FF2B5EF4-FFF2-40B4-BE49-F238E27FC236}">
                <a16:creationId xmlns:a16="http://schemas.microsoft.com/office/drawing/2014/main" id="{9721CA65-E0B2-4C10-B8BB-CC088995F306}"/>
              </a:ext>
            </a:extLst>
          </p:cNvPr>
          <p:cNvSpPr>
            <a:spLocks noGrp="1"/>
          </p:cNvSpPr>
          <p:nvPr/>
        </p:nvSpPr>
        <p:spPr>
          <a:xfrm>
            <a:off x="115128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4" name="heat-candidate-0-4">
            <a:extLst>
              <a:ext uri="{FF2B5EF4-FFF2-40B4-BE49-F238E27FC236}">
                <a16:creationId xmlns:a16="http://schemas.microsoft.com/office/drawing/2014/main" id="{EFE1FD86-4A0F-4A5D-9B24-B244A4926A47}"/>
              </a:ext>
            </a:extLst>
          </p:cNvPr>
          <p:cNvSpPr>
            <a:spLocks noGrp="1"/>
          </p:cNvSpPr>
          <p:nvPr/>
        </p:nvSpPr>
        <p:spPr>
          <a:xfrm>
            <a:off x="12434400" y="26136000"/>
            <a:ext cx="885600" cy="252000"/>
          </a:xfrm>
          <a:prstGeom prst="rect">
            <a:avLst/>
          </a:prstGeom>
          <a:solidFill>
            <a:srgbClr val="D3733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5" name="copy-95">
            <a:extLst>
              <a:ext uri="{FF2B5EF4-FFF2-40B4-BE49-F238E27FC236}">
                <a16:creationId xmlns:a16="http://schemas.microsoft.com/office/drawing/2014/main" id="{A15B7556-A0E1-4792-803C-3DB4EE119C81}"/>
              </a:ext>
            </a:extLst>
          </p:cNvPr>
          <p:cNvSpPr>
            <a:spLocks noGrp="1"/>
          </p:cNvSpPr>
          <p:nvPr/>
        </p:nvSpPr>
        <p:spPr>
          <a:xfrm>
            <a:off x="12434400" y="261414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6" name="heat-candidate-1-0">
            <a:extLst>
              <a:ext uri="{FF2B5EF4-FFF2-40B4-BE49-F238E27FC236}">
                <a16:creationId xmlns:a16="http://schemas.microsoft.com/office/drawing/2014/main" id="{71E53FF7-F559-4995-BCDA-CFDE6F4D13AF}"/>
              </a:ext>
            </a:extLst>
          </p:cNvPr>
          <p:cNvSpPr>
            <a:spLocks noGrp="1"/>
          </p:cNvSpPr>
          <p:nvPr/>
        </p:nvSpPr>
        <p:spPr>
          <a:xfrm>
            <a:off x="87480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7" name="copy-96">
            <a:extLst>
              <a:ext uri="{FF2B5EF4-FFF2-40B4-BE49-F238E27FC236}">
                <a16:creationId xmlns:a16="http://schemas.microsoft.com/office/drawing/2014/main" id="{6E805A1A-491B-4667-B789-807CC45583B1}"/>
              </a:ext>
            </a:extLst>
          </p:cNvPr>
          <p:cNvSpPr>
            <a:spLocks noGrp="1"/>
          </p:cNvSpPr>
          <p:nvPr/>
        </p:nvSpPr>
        <p:spPr>
          <a:xfrm>
            <a:off x="87480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8" name="heat-candidate-1-1">
            <a:extLst>
              <a:ext uri="{FF2B5EF4-FFF2-40B4-BE49-F238E27FC236}">
                <a16:creationId xmlns:a16="http://schemas.microsoft.com/office/drawing/2014/main" id="{22EA1CFB-14A1-4D30-BEEC-88D5F332D991}"/>
              </a:ext>
            </a:extLst>
          </p:cNvPr>
          <p:cNvSpPr>
            <a:spLocks noGrp="1"/>
          </p:cNvSpPr>
          <p:nvPr/>
        </p:nvSpPr>
        <p:spPr>
          <a:xfrm>
            <a:off x="96696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copy-97">
            <a:extLst>
              <a:ext uri="{FF2B5EF4-FFF2-40B4-BE49-F238E27FC236}">
                <a16:creationId xmlns:a16="http://schemas.microsoft.com/office/drawing/2014/main" id="{865BB842-DE6C-421E-88B9-2A6E33B84304}"/>
              </a:ext>
            </a:extLst>
          </p:cNvPr>
          <p:cNvSpPr>
            <a:spLocks noGrp="1"/>
          </p:cNvSpPr>
          <p:nvPr/>
        </p:nvSpPr>
        <p:spPr>
          <a:xfrm>
            <a:off x="96696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0" name="heat-candidate-1-2">
            <a:extLst>
              <a:ext uri="{FF2B5EF4-FFF2-40B4-BE49-F238E27FC236}">
                <a16:creationId xmlns:a16="http://schemas.microsoft.com/office/drawing/2014/main" id="{88A5CAD0-68DF-4FC2-A8C9-9CE8CD511CFE}"/>
              </a:ext>
            </a:extLst>
          </p:cNvPr>
          <p:cNvSpPr>
            <a:spLocks noGrp="1"/>
          </p:cNvSpPr>
          <p:nvPr/>
        </p:nvSpPr>
        <p:spPr>
          <a:xfrm>
            <a:off x="105912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1" name="copy-98">
            <a:extLst>
              <a:ext uri="{FF2B5EF4-FFF2-40B4-BE49-F238E27FC236}">
                <a16:creationId xmlns:a16="http://schemas.microsoft.com/office/drawing/2014/main" id="{5390709A-9128-400A-9DAC-9A05D66A6C88}"/>
              </a:ext>
            </a:extLst>
          </p:cNvPr>
          <p:cNvSpPr>
            <a:spLocks noGrp="1"/>
          </p:cNvSpPr>
          <p:nvPr/>
        </p:nvSpPr>
        <p:spPr>
          <a:xfrm>
            <a:off x="105912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2" name="heat-candidate-1-3">
            <a:extLst>
              <a:ext uri="{FF2B5EF4-FFF2-40B4-BE49-F238E27FC236}">
                <a16:creationId xmlns:a16="http://schemas.microsoft.com/office/drawing/2014/main" id="{9B800E69-7EB8-4AA5-82CC-0BFEF99EC778}"/>
              </a:ext>
            </a:extLst>
          </p:cNvPr>
          <p:cNvSpPr>
            <a:spLocks noGrp="1"/>
          </p:cNvSpPr>
          <p:nvPr/>
        </p:nvSpPr>
        <p:spPr>
          <a:xfrm>
            <a:off x="11512800" y="264132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3" name="copy-99">
            <a:extLst>
              <a:ext uri="{FF2B5EF4-FFF2-40B4-BE49-F238E27FC236}">
                <a16:creationId xmlns:a16="http://schemas.microsoft.com/office/drawing/2014/main" id="{B056B83A-2C52-4F26-89B9-2772A74D2FED}"/>
              </a:ext>
            </a:extLst>
          </p:cNvPr>
          <p:cNvSpPr>
            <a:spLocks noGrp="1"/>
          </p:cNvSpPr>
          <p:nvPr/>
        </p:nvSpPr>
        <p:spPr>
          <a:xfrm>
            <a:off x="115128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4" name="heat-candidate-1-4">
            <a:extLst>
              <a:ext uri="{FF2B5EF4-FFF2-40B4-BE49-F238E27FC236}">
                <a16:creationId xmlns:a16="http://schemas.microsoft.com/office/drawing/2014/main" id="{5180155C-F919-4407-9D7F-58DC46DC3685}"/>
              </a:ext>
            </a:extLst>
          </p:cNvPr>
          <p:cNvSpPr>
            <a:spLocks noGrp="1"/>
          </p:cNvSpPr>
          <p:nvPr/>
        </p:nvSpPr>
        <p:spPr>
          <a:xfrm>
            <a:off x="12434400" y="26413200"/>
            <a:ext cx="885600" cy="252000"/>
          </a:xfrm>
          <a:prstGeom prst="rect">
            <a:avLst/>
          </a:prstGeom>
          <a:solidFill>
            <a:srgbClr val="E1935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5" name="copy-100">
            <a:extLst>
              <a:ext uri="{FF2B5EF4-FFF2-40B4-BE49-F238E27FC236}">
                <a16:creationId xmlns:a16="http://schemas.microsoft.com/office/drawing/2014/main" id="{C90B2C47-7AFC-494B-8807-958B0C36644C}"/>
              </a:ext>
            </a:extLst>
          </p:cNvPr>
          <p:cNvSpPr>
            <a:spLocks noGrp="1"/>
          </p:cNvSpPr>
          <p:nvPr/>
        </p:nvSpPr>
        <p:spPr>
          <a:xfrm>
            <a:off x="12434400" y="264186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6" name="heat-candidate-2-0">
            <a:extLst>
              <a:ext uri="{FF2B5EF4-FFF2-40B4-BE49-F238E27FC236}">
                <a16:creationId xmlns:a16="http://schemas.microsoft.com/office/drawing/2014/main" id="{2AA214D6-6BD1-49A7-AC43-766E330713CB}"/>
              </a:ext>
            </a:extLst>
          </p:cNvPr>
          <p:cNvSpPr>
            <a:spLocks noGrp="1"/>
          </p:cNvSpPr>
          <p:nvPr/>
        </p:nvSpPr>
        <p:spPr>
          <a:xfrm>
            <a:off x="87480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copy-101">
            <a:extLst>
              <a:ext uri="{FF2B5EF4-FFF2-40B4-BE49-F238E27FC236}">
                <a16:creationId xmlns:a16="http://schemas.microsoft.com/office/drawing/2014/main" id="{CBE44D69-B275-4D65-B5DC-BD23720CFF88}"/>
              </a:ext>
            </a:extLst>
          </p:cNvPr>
          <p:cNvSpPr>
            <a:spLocks noGrp="1"/>
          </p:cNvSpPr>
          <p:nvPr/>
        </p:nvSpPr>
        <p:spPr>
          <a:xfrm>
            <a:off x="87480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8" name="heat-candidate-2-1">
            <a:extLst>
              <a:ext uri="{FF2B5EF4-FFF2-40B4-BE49-F238E27FC236}">
                <a16:creationId xmlns:a16="http://schemas.microsoft.com/office/drawing/2014/main" id="{D2D17CAA-C890-4559-A53A-BE5DDEB6FD20}"/>
              </a:ext>
            </a:extLst>
          </p:cNvPr>
          <p:cNvSpPr>
            <a:spLocks noGrp="1"/>
          </p:cNvSpPr>
          <p:nvPr/>
        </p:nvSpPr>
        <p:spPr>
          <a:xfrm>
            <a:off x="96696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copy-102">
            <a:extLst>
              <a:ext uri="{FF2B5EF4-FFF2-40B4-BE49-F238E27FC236}">
                <a16:creationId xmlns:a16="http://schemas.microsoft.com/office/drawing/2014/main" id="{6746F8A2-8113-410D-8195-57FEC9892E92}"/>
              </a:ext>
            </a:extLst>
          </p:cNvPr>
          <p:cNvSpPr>
            <a:spLocks noGrp="1"/>
          </p:cNvSpPr>
          <p:nvPr/>
        </p:nvSpPr>
        <p:spPr>
          <a:xfrm>
            <a:off x="96696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0" name="heat-candidate-2-2">
            <a:extLst>
              <a:ext uri="{FF2B5EF4-FFF2-40B4-BE49-F238E27FC236}">
                <a16:creationId xmlns:a16="http://schemas.microsoft.com/office/drawing/2014/main" id="{1EBC9657-D36F-4AFC-A91E-2E1776CD8111}"/>
              </a:ext>
            </a:extLst>
          </p:cNvPr>
          <p:cNvSpPr>
            <a:spLocks noGrp="1"/>
          </p:cNvSpPr>
          <p:nvPr/>
        </p:nvSpPr>
        <p:spPr>
          <a:xfrm>
            <a:off x="105912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copy-103">
            <a:extLst>
              <a:ext uri="{FF2B5EF4-FFF2-40B4-BE49-F238E27FC236}">
                <a16:creationId xmlns:a16="http://schemas.microsoft.com/office/drawing/2014/main" id="{AAAD80FD-75AE-46BE-9CC6-F1EA482EB47C}"/>
              </a:ext>
            </a:extLst>
          </p:cNvPr>
          <p:cNvSpPr>
            <a:spLocks noGrp="1"/>
          </p:cNvSpPr>
          <p:nvPr/>
        </p:nvSpPr>
        <p:spPr>
          <a:xfrm>
            <a:off x="105912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2" name="heat-candidate-2-3">
            <a:extLst>
              <a:ext uri="{FF2B5EF4-FFF2-40B4-BE49-F238E27FC236}">
                <a16:creationId xmlns:a16="http://schemas.microsoft.com/office/drawing/2014/main" id="{74758B4A-BF77-402F-9B06-FD58ECDAF06D}"/>
              </a:ext>
            </a:extLst>
          </p:cNvPr>
          <p:cNvSpPr>
            <a:spLocks noGrp="1"/>
          </p:cNvSpPr>
          <p:nvPr/>
        </p:nvSpPr>
        <p:spPr>
          <a:xfrm>
            <a:off x="11512800" y="266904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3" name="copy-104">
            <a:extLst>
              <a:ext uri="{FF2B5EF4-FFF2-40B4-BE49-F238E27FC236}">
                <a16:creationId xmlns:a16="http://schemas.microsoft.com/office/drawing/2014/main" id="{48A20491-8485-4386-9D28-FC794122E9FD}"/>
              </a:ext>
            </a:extLst>
          </p:cNvPr>
          <p:cNvSpPr>
            <a:spLocks noGrp="1"/>
          </p:cNvSpPr>
          <p:nvPr/>
        </p:nvSpPr>
        <p:spPr>
          <a:xfrm>
            <a:off x="115128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4" name="heat-candidate-2-4">
            <a:extLst>
              <a:ext uri="{FF2B5EF4-FFF2-40B4-BE49-F238E27FC236}">
                <a16:creationId xmlns:a16="http://schemas.microsoft.com/office/drawing/2014/main" id="{D2EF552F-BFE2-4132-B09E-A027B488B0B6}"/>
              </a:ext>
            </a:extLst>
          </p:cNvPr>
          <p:cNvSpPr>
            <a:spLocks noGrp="1"/>
          </p:cNvSpPr>
          <p:nvPr/>
        </p:nvSpPr>
        <p:spPr>
          <a:xfrm>
            <a:off x="12434400" y="26690400"/>
            <a:ext cx="885600" cy="252000"/>
          </a:xfrm>
          <a:prstGeom prst="rect">
            <a:avLst/>
          </a:prstGeom>
          <a:solidFill>
            <a:srgbClr val="B7563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copy-105">
            <a:extLst>
              <a:ext uri="{FF2B5EF4-FFF2-40B4-BE49-F238E27FC236}">
                <a16:creationId xmlns:a16="http://schemas.microsoft.com/office/drawing/2014/main" id="{E85AEF08-D03B-4F57-9D4D-3E9ABEF7270B}"/>
              </a:ext>
            </a:extLst>
          </p:cNvPr>
          <p:cNvSpPr>
            <a:spLocks noGrp="1"/>
          </p:cNvSpPr>
          <p:nvPr/>
        </p:nvSpPr>
        <p:spPr>
          <a:xfrm>
            <a:off x="12434400" y="266958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96" name="heat-candidate-3-0">
            <a:extLst>
              <a:ext uri="{FF2B5EF4-FFF2-40B4-BE49-F238E27FC236}">
                <a16:creationId xmlns:a16="http://schemas.microsoft.com/office/drawing/2014/main" id="{E5C8EC99-300F-487B-B4B1-2098C4261915}"/>
              </a:ext>
            </a:extLst>
          </p:cNvPr>
          <p:cNvSpPr>
            <a:spLocks noGrp="1"/>
          </p:cNvSpPr>
          <p:nvPr/>
        </p:nvSpPr>
        <p:spPr>
          <a:xfrm>
            <a:off x="87480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7" name="copy-106">
            <a:extLst>
              <a:ext uri="{FF2B5EF4-FFF2-40B4-BE49-F238E27FC236}">
                <a16:creationId xmlns:a16="http://schemas.microsoft.com/office/drawing/2014/main" id="{8F963C74-B1DD-4D06-90B5-294707AF351A}"/>
              </a:ext>
            </a:extLst>
          </p:cNvPr>
          <p:cNvSpPr>
            <a:spLocks noGrp="1"/>
          </p:cNvSpPr>
          <p:nvPr/>
        </p:nvSpPr>
        <p:spPr>
          <a:xfrm>
            <a:off x="87480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8" name="heat-candidate-3-1">
            <a:extLst>
              <a:ext uri="{FF2B5EF4-FFF2-40B4-BE49-F238E27FC236}">
                <a16:creationId xmlns:a16="http://schemas.microsoft.com/office/drawing/2014/main" id="{4E3E20C7-2599-4BAD-878C-A81D603D05BA}"/>
              </a:ext>
            </a:extLst>
          </p:cNvPr>
          <p:cNvSpPr>
            <a:spLocks noGrp="1"/>
          </p:cNvSpPr>
          <p:nvPr/>
        </p:nvSpPr>
        <p:spPr>
          <a:xfrm>
            <a:off x="96696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copy-107">
            <a:extLst>
              <a:ext uri="{FF2B5EF4-FFF2-40B4-BE49-F238E27FC236}">
                <a16:creationId xmlns:a16="http://schemas.microsoft.com/office/drawing/2014/main" id="{35F210E7-353E-4CB2-A5DC-4250F09B8AA8}"/>
              </a:ext>
            </a:extLst>
          </p:cNvPr>
          <p:cNvSpPr>
            <a:spLocks noGrp="1"/>
          </p:cNvSpPr>
          <p:nvPr/>
        </p:nvSpPr>
        <p:spPr>
          <a:xfrm>
            <a:off x="96696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0" name="heat-candidate-3-2">
            <a:extLst>
              <a:ext uri="{FF2B5EF4-FFF2-40B4-BE49-F238E27FC236}">
                <a16:creationId xmlns:a16="http://schemas.microsoft.com/office/drawing/2014/main" id="{21F34906-BD0D-49F3-B946-D01D8224609F}"/>
              </a:ext>
            </a:extLst>
          </p:cNvPr>
          <p:cNvSpPr>
            <a:spLocks noGrp="1"/>
          </p:cNvSpPr>
          <p:nvPr/>
        </p:nvSpPr>
        <p:spPr>
          <a:xfrm>
            <a:off x="105912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" name="copy-108">
            <a:extLst>
              <a:ext uri="{FF2B5EF4-FFF2-40B4-BE49-F238E27FC236}">
                <a16:creationId xmlns:a16="http://schemas.microsoft.com/office/drawing/2014/main" id="{61EEC705-44B7-441F-8457-723BC882B549}"/>
              </a:ext>
            </a:extLst>
          </p:cNvPr>
          <p:cNvSpPr>
            <a:spLocks noGrp="1"/>
          </p:cNvSpPr>
          <p:nvPr/>
        </p:nvSpPr>
        <p:spPr>
          <a:xfrm>
            <a:off x="105912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2" name="heat-candidate-3-3">
            <a:extLst>
              <a:ext uri="{FF2B5EF4-FFF2-40B4-BE49-F238E27FC236}">
                <a16:creationId xmlns:a16="http://schemas.microsoft.com/office/drawing/2014/main" id="{E04C14B8-4C5D-4307-A827-0B3DBA9D2895}"/>
              </a:ext>
            </a:extLst>
          </p:cNvPr>
          <p:cNvSpPr>
            <a:spLocks noGrp="1"/>
          </p:cNvSpPr>
          <p:nvPr/>
        </p:nvSpPr>
        <p:spPr>
          <a:xfrm>
            <a:off x="11512800" y="26967600"/>
            <a:ext cx="885600" cy="2520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copy-109">
            <a:extLst>
              <a:ext uri="{FF2B5EF4-FFF2-40B4-BE49-F238E27FC236}">
                <a16:creationId xmlns:a16="http://schemas.microsoft.com/office/drawing/2014/main" id="{6648F9AA-96E5-44CB-B1FB-36D7851542C0}"/>
              </a:ext>
            </a:extLst>
          </p:cNvPr>
          <p:cNvSpPr>
            <a:spLocks noGrp="1"/>
          </p:cNvSpPr>
          <p:nvPr/>
        </p:nvSpPr>
        <p:spPr>
          <a:xfrm>
            <a:off x="115128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4" name="heat-candidate-3-4">
            <a:extLst>
              <a:ext uri="{FF2B5EF4-FFF2-40B4-BE49-F238E27FC236}">
                <a16:creationId xmlns:a16="http://schemas.microsoft.com/office/drawing/2014/main" id="{AB8F1095-77B3-4072-B82C-13D144C09A31}"/>
              </a:ext>
            </a:extLst>
          </p:cNvPr>
          <p:cNvSpPr>
            <a:spLocks noGrp="1"/>
          </p:cNvSpPr>
          <p:nvPr/>
        </p:nvSpPr>
        <p:spPr>
          <a:xfrm>
            <a:off x="12434400" y="26967600"/>
            <a:ext cx="885600" cy="252000"/>
          </a:xfrm>
          <a:prstGeom prst="rect">
            <a:avLst/>
          </a:prstGeom>
          <a:solidFill>
            <a:srgbClr val="7A182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copy-110">
            <a:extLst>
              <a:ext uri="{FF2B5EF4-FFF2-40B4-BE49-F238E27FC236}">
                <a16:creationId xmlns:a16="http://schemas.microsoft.com/office/drawing/2014/main" id="{E6320DF2-B652-4229-856B-66760C374E9C}"/>
              </a:ext>
            </a:extLst>
          </p:cNvPr>
          <p:cNvSpPr>
            <a:spLocks noGrp="1"/>
          </p:cNvSpPr>
          <p:nvPr/>
        </p:nvSpPr>
        <p:spPr>
          <a:xfrm>
            <a:off x="12434400" y="26973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06" name="copy-111">
            <a:extLst>
              <a:ext uri="{FF2B5EF4-FFF2-40B4-BE49-F238E27FC236}">
                <a16:creationId xmlns:a16="http://schemas.microsoft.com/office/drawing/2014/main" id="{E89EE39C-869F-4B01-B7A0-CAD2D2F7C390}"/>
              </a:ext>
            </a:extLst>
          </p:cNvPr>
          <p:cNvSpPr>
            <a:spLocks noGrp="1"/>
          </p:cNvSpPr>
          <p:nvPr/>
        </p:nvSpPr>
        <p:spPr>
          <a:xfrm>
            <a:off x="87480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7" name="copy-112">
            <a:extLst>
              <a:ext uri="{FF2B5EF4-FFF2-40B4-BE49-F238E27FC236}">
                <a16:creationId xmlns:a16="http://schemas.microsoft.com/office/drawing/2014/main" id="{C45A83A5-D699-473B-9D72-0C761F796003}"/>
              </a:ext>
            </a:extLst>
          </p:cNvPr>
          <p:cNvSpPr>
            <a:spLocks noGrp="1"/>
          </p:cNvSpPr>
          <p:nvPr/>
        </p:nvSpPr>
        <p:spPr>
          <a:xfrm>
            <a:off x="96696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08" name="copy-113">
            <a:extLst>
              <a:ext uri="{FF2B5EF4-FFF2-40B4-BE49-F238E27FC236}">
                <a16:creationId xmlns:a16="http://schemas.microsoft.com/office/drawing/2014/main" id="{9362FC4C-791A-4A06-9D29-774812789F9B}"/>
              </a:ext>
            </a:extLst>
          </p:cNvPr>
          <p:cNvSpPr>
            <a:spLocks noGrp="1"/>
          </p:cNvSpPr>
          <p:nvPr/>
        </p:nvSpPr>
        <p:spPr>
          <a:xfrm>
            <a:off x="105912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09" name="copy-114">
            <a:extLst>
              <a:ext uri="{FF2B5EF4-FFF2-40B4-BE49-F238E27FC236}">
                <a16:creationId xmlns:a16="http://schemas.microsoft.com/office/drawing/2014/main" id="{D41B2508-59A6-4323-B9E6-C27EC8B07B03}"/>
              </a:ext>
            </a:extLst>
          </p:cNvPr>
          <p:cNvSpPr>
            <a:spLocks noGrp="1"/>
          </p:cNvSpPr>
          <p:nvPr/>
        </p:nvSpPr>
        <p:spPr>
          <a:xfrm>
            <a:off x="115128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10" name="copy-115">
            <a:extLst>
              <a:ext uri="{FF2B5EF4-FFF2-40B4-BE49-F238E27FC236}">
                <a16:creationId xmlns:a16="http://schemas.microsoft.com/office/drawing/2014/main" id="{9EB823E5-D4C6-4E4F-8B0D-DAB337CBE579}"/>
              </a:ext>
            </a:extLst>
          </p:cNvPr>
          <p:cNvSpPr>
            <a:spLocks noGrp="1"/>
          </p:cNvSpPr>
          <p:nvPr/>
        </p:nvSpPr>
        <p:spPr>
          <a:xfrm>
            <a:off x="12434400" y="27252000"/>
            <a:ext cx="8856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411" name="panel-116">
            <a:extLst>
              <a:ext uri="{FF2B5EF4-FFF2-40B4-BE49-F238E27FC236}">
                <a16:creationId xmlns:a16="http://schemas.microsoft.com/office/drawing/2014/main" id="{BF2990A2-3FA3-43FE-831E-FC739158EA15}"/>
              </a:ext>
            </a:extLst>
          </p:cNvPr>
          <p:cNvSpPr>
            <a:spLocks noGrp="1"/>
          </p:cNvSpPr>
          <p:nvPr/>
        </p:nvSpPr>
        <p:spPr>
          <a:xfrm>
            <a:off x="13896000" y="26136000"/>
            <a:ext cx="180000" cy="2196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" name="panel-117">
            <a:extLst>
              <a:ext uri="{FF2B5EF4-FFF2-40B4-BE49-F238E27FC236}">
                <a16:creationId xmlns:a16="http://schemas.microsoft.com/office/drawing/2014/main" id="{A2EF048F-0A58-4569-A566-D70B683BECEB}"/>
              </a:ext>
            </a:extLst>
          </p:cNvPr>
          <p:cNvSpPr>
            <a:spLocks noGrp="1"/>
          </p:cNvSpPr>
          <p:nvPr/>
        </p:nvSpPr>
        <p:spPr>
          <a:xfrm>
            <a:off x="13896000" y="26355600"/>
            <a:ext cx="180000" cy="219600"/>
          </a:xfrm>
          <a:prstGeom prst="rect">
            <a:avLst/>
          </a:prstGeom>
          <a:solidFill>
            <a:srgbClr val="E7A1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panel-118">
            <a:extLst>
              <a:ext uri="{FF2B5EF4-FFF2-40B4-BE49-F238E27FC236}">
                <a16:creationId xmlns:a16="http://schemas.microsoft.com/office/drawing/2014/main" id="{5EC1F63E-F551-49B6-9CBD-8C61E83B78A5}"/>
              </a:ext>
            </a:extLst>
          </p:cNvPr>
          <p:cNvSpPr>
            <a:spLocks noGrp="1"/>
          </p:cNvSpPr>
          <p:nvPr/>
        </p:nvSpPr>
        <p:spPr>
          <a:xfrm>
            <a:off x="13896000" y="26575200"/>
            <a:ext cx="180000" cy="219600"/>
          </a:xfrm>
          <a:prstGeom prst="rect">
            <a:avLst/>
          </a:prstGeom>
          <a:solidFill>
            <a:srgbClr val="D3733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4" name="panel-119">
            <a:extLst>
              <a:ext uri="{FF2B5EF4-FFF2-40B4-BE49-F238E27FC236}">
                <a16:creationId xmlns:a16="http://schemas.microsoft.com/office/drawing/2014/main" id="{25048A06-2DE3-4223-8F96-59380D92AE17}"/>
              </a:ext>
            </a:extLst>
          </p:cNvPr>
          <p:cNvSpPr>
            <a:spLocks noGrp="1"/>
          </p:cNvSpPr>
          <p:nvPr/>
        </p:nvSpPr>
        <p:spPr>
          <a:xfrm>
            <a:off x="13896000" y="26794800"/>
            <a:ext cx="180000" cy="219600"/>
          </a:xfrm>
          <a:prstGeom prst="rect">
            <a:avLst/>
          </a:prstGeom>
          <a:solidFill>
            <a:srgbClr val="B7563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5" name="panel-120">
            <a:extLst>
              <a:ext uri="{FF2B5EF4-FFF2-40B4-BE49-F238E27FC236}">
                <a16:creationId xmlns:a16="http://schemas.microsoft.com/office/drawing/2014/main" id="{E59B24E2-D37F-4185-9AE0-FE5AB0AB1D33}"/>
              </a:ext>
            </a:extLst>
          </p:cNvPr>
          <p:cNvSpPr>
            <a:spLocks noGrp="1"/>
          </p:cNvSpPr>
          <p:nvPr/>
        </p:nvSpPr>
        <p:spPr>
          <a:xfrm>
            <a:off x="13896000" y="27014400"/>
            <a:ext cx="180000" cy="219600"/>
          </a:xfrm>
          <a:prstGeom prst="rect">
            <a:avLst/>
          </a:prstGeom>
          <a:solidFill>
            <a:srgbClr val="7A182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6" name="copy-121">
            <a:extLst>
              <a:ext uri="{FF2B5EF4-FFF2-40B4-BE49-F238E27FC236}">
                <a16:creationId xmlns:a16="http://schemas.microsoft.com/office/drawing/2014/main" id="{80848185-2238-4469-B98B-060E1555CB05}"/>
              </a:ext>
            </a:extLst>
          </p:cNvPr>
          <p:cNvSpPr>
            <a:spLocks noGrp="1"/>
          </p:cNvSpPr>
          <p:nvPr/>
        </p:nvSpPr>
        <p:spPr>
          <a:xfrm>
            <a:off x="14184000" y="26136000"/>
            <a:ext cx="576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7" name="copy-122">
            <a:extLst>
              <a:ext uri="{FF2B5EF4-FFF2-40B4-BE49-F238E27FC236}">
                <a16:creationId xmlns:a16="http://schemas.microsoft.com/office/drawing/2014/main" id="{9D0F1857-728D-47DD-8377-729BFAD4B9F4}"/>
              </a:ext>
            </a:extLst>
          </p:cNvPr>
          <p:cNvSpPr>
            <a:spLocks noGrp="1"/>
          </p:cNvSpPr>
          <p:nvPr/>
        </p:nvSpPr>
        <p:spPr>
          <a:xfrm>
            <a:off x="14184000" y="27036000"/>
            <a:ext cx="72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18" name="copy-123">
            <a:extLst>
              <a:ext uri="{FF2B5EF4-FFF2-40B4-BE49-F238E27FC236}">
                <a16:creationId xmlns:a16="http://schemas.microsoft.com/office/drawing/2014/main" id="{996FF95B-D010-42F4-B377-0C89F080986B}"/>
              </a:ext>
            </a:extLst>
          </p:cNvPr>
          <p:cNvSpPr>
            <a:spLocks noGrp="1"/>
          </p:cNvSpPr>
          <p:nvPr/>
        </p:nvSpPr>
        <p:spPr>
          <a:xfrm>
            <a:off x="6264000" y="27540000"/>
            <a:ext cx="4176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Delay (ms)</a:t>
            </a:r>
          </a:p>
        </p:txBody>
      </p:sp>
      <p:sp>
        <p:nvSpPr>
          <p:cNvPr id="419" name="copy-124">
            <a:extLst>
              <a:ext uri="{FF2B5EF4-FFF2-40B4-BE49-F238E27FC236}">
                <a16:creationId xmlns:a16="http://schemas.microsoft.com/office/drawing/2014/main" id="{F466F783-D2D8-4999-99EE-B8A61F098418}"/>
              </a:ext>
            </a:extLst>
          </p:cNvPr>
          <p:cNvSpPr>
            <a:spLocks noGrp="1"/>
          </p:cNvSpPr>
          <p:nvPr/>
        </p:nvSpPr>
        <p:spPr>
          <a:xfrm>
            <a:off x="900000" y="27828000"/>
            <a:ext cx="14040000" cy="97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73149"/>
                </a:solidFill>
              </a:rPr>
              <a:t>Deployment Specification: </a:t>
            </a:r>
            <a:r>
              <a:t>Zero termination events through 40 ms support a provisional </a:t>
            </a:r>
            <a:r>
              <a:rPr b="1">
                <a:solidFill>
                  <a:srgbClr val="173149"/>
                </a:solidFill>
              </a:rPr>
              <a:t>≤40 ms control latency budget</a:t>
            </a:r>
            <a:r>
              <a:t>. Higher delays expose residual fragility; validate this budget on hardware before physical deployment.</a:t>
            </a:r>
          </a:p>
        </p:txBody>
      </p:sp>
      <p:sp>
        <p:nvSpPr>
          <p:cNvPr id="420" name="copy-125">
            <a:extLst>
              <a:ext uri="{FF2B5EF4-FFF2-40B4-BE49-F238E27FC236}">
                <a16:creationId xmlns:a16="http://schemas.microsoft.com/office/drawing/2014/main" id="{9F0A601D-F84A-4C0D-BFE6-F655E59403EE}"/>
              </a:ext>
            </a:extLst>
          </p:cNvPr>
          <p:cNvSpPr>
            <a:spLocks noGrp="1"/>
          </p:cNvSpPr>
          <p:nvPr/>
        </p:nvSpPr>
        <p:spPr>
          <a:xfrm>
            <a:off x="15588000" y="24696000"/>
            <a:ext cx="4896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9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04  Simulation demo</a:t>
            </a:r>
          </a:p>
        </p:txBody>
      </p:sp>
      <p:pic>
        <p:nvPicPr>
          <p:cNvPr id="632" name="图片 63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6920000" y="25416000"/>
            <a:ext cx="2088000" cy="2088000"/>
          </a:xfrm>
          <a:prstGeom prst="rect">
            <a:avLst/>
          </a:prstGeom>
        </p:spPr>
      </p:pic>
      <p:sp>
        <p:nvSpPr>
          <p:cNvPr id="422" name="demo-cta">
            <a:extLst>
              <a:ext uri="{FF2B5EF4-FFF2-40B4-BE49-F238E27FC236}">
                <a16:creationId xmlns:a16="http://schemas.microsoft.com/office/drawing/2014/main" id="{ABDCC4B1-5AD5-47AD-A684-34286BDFB4D3}"/>
              </a:ext>
            </a:extLst>
          </p:cNvPr>
          <p:cNvSpPr>
            <a:spLocks noGrp="1"/>
          </p:cNvSpPr>
          <p:nvPr/>
        </p:nvSpPr>
        <p:spPr>
          <a:xfrm>
            <a:off x="15408000" y="27576000"/>
            <a:ext cx="5076000" cy="61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Scan for Push-Recovery Demo</a:t>
            </a:r>
          </a:p>
        </p:txBody>
      </p:sp>
      <p:sp>
        <p:nvSpPr>
          <p:cNvPr id="424" name="demo-subtitle">
            <a:extLst>
              <a:ext uri="{FF2B5EF4-FFF2-40B4-BE49-F238E27FC236}">
                <a16:creationId xmlns:a16="http://schemas.microsoft.com/office/drawing/2014/main" id="{30FA05B4-0811-40B3-91C0-9511ACFD1759}"/>
              </a:ext>
            </a:extLst>
          </p:cNvPr>
          <p:cNvSpPr>
            <a:spLocks noGrp="1"/>
          </p:cNvSpPr>
          <p:nvPr/>
        </p:nvSpPr>
        <p:spPr>
          <a:xfrm>
            <a:off x="15408000" y="28116000"/>
            <a:ext cx="5076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165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149"/>
                </a:solidFill>
                <a:latin typeface="Arial"/>
                <a:ea typeface="Arial"/>
                <a:cs typeface="Arial"/>
              </a:rPr>
              <a:t>MuJoCo physics · Side-by-side comparison</a:t>
            </a:r>
          </a:p>
          <a:p>
            <a:pPr algn="ctr">
              <a:defRPr sz="165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149"/>
                </a:solidFill>
                <a:latin typeface="Arial"/>
                <a:ea typeface="Arial"/>
                <a:cs typeface="Arial"/>
              </a:rPr>
              <a:t>Reproducible simulation workflow</a:t>
            </a:r>
          </a:p>
        </p:txBody>
      </p:sp>
      <p:cxnSp>
        <p:nvCxnSpPr>
          <p:cNvPr id="5" name="direct-leader-after">
            <a:extLst>
              <a:ext uri="{FF2B5EF4-FFF2-40B4-BE49-F238E27FC236}">
                <a16:creationId xmlns:a16="http://schemas.microsoft.com/office/drawing/2014/main" id="{499A74D4-E68B-F875-F72A-6C362FDD985B}"/>
              </a:ext>
            </a:extLst>
          </p:cNvPr>
          <p:cNvCxnSpPr/>
          <p:nvPr/>
        </p:nvCxnSpPr>
        <p:spPr>
          <a:xfrm flipV="1">
            <a:off x="7050760" y="14706000"/>
            <a:ext cx="221240" cy="20562"/>
          </a:xfrm>
          <a:prstGeom prst="line">
            <a:avLst/>
          </a:prstGeom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irect-leader-before">
            <a:extLst>
              <a:ext uri="{FF2B5EF4-FFF2-40B4-BE49-F238E27FC236}">
                <a16:creationId xmlns:a16="http://schemas.microsoft.com/office/drawing/2014/main" id="{66F213FB-44BF-41FE-ECE2-20C7260DB1E1}"/>
              </a:ext>
            </a:extLst>
          </p:cNvPr>
          <p:cNvCxnSpPr/>
          <p:nvPr/>
        </p:nvCxnSpPr>
        <p:spPr>
          <a:xfrm>
            <a:off x="7050760" y="15494877"/>
            <a:ext cx="221240" cy="39124"/>
          </a:xfrm>
          <a:prstGeom prst="line">
            <a:avLst/>
          </a:prstGeom>
          <a:ln w="12700">
            <a:solidFill>
              <a:srgbClr val="6B7E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1A6464D0-8C3D-CF16-8E6E-3356C82B91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315151"/>
            <a:ext cx="8557011" cy="630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>
            <a:spLocks noGrp="1"/>
          </p:cNvSpPr>
          <p:nvPr/>
        </p:nvSpPr>
        <p:spPr>
          <a:xfrm>
            <a:off x="0" y="-34698"/>
            <a:ext cx="21384000" cy="2109247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2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3" y="401677"/>
            <a:ext cx="3532333" cy="1307733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>
            <a:spLocks noGrp="1"/>
          </p:cNvSpPr>
          <p:nvPr/>
        </p:nvSpPr>
        <p:spPr>
          <a:xfrm>
            <a:off x="0" y="28908000"/>
            <a:ext cx="21384000" cy="13680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>
            <a:spLocks noGrp="1"/>
          </p:cNvSpPr>
          <p:nvPr/>
        </p:nvSpPr>
        <p:spPr>
          <a:xfrm>
            <a:off x="6723458" y="960616"/>
            <a:ext cx="14148000" cy="7989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 u="none" cap="none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Science and Engineering</a:t>
            </a:r>
            <a:endParaRPr sz="28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>
            <a:spLocks noGrp="1"/>
          </p:cNvSpPr>
          <p:nvPr/>
        </p:nvSpPr>
        <p:spPr>
          <a:xfrm>
            <a:off x="11016000" y="29303999"/>
            <a:ext cx="9684000" cy="3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buNone/>
              <a:defRPr sz="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Zijie Zhang (20721407)</a:t>
            </a:r>
            <a:endParaRPr sz="2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main-title">
            <a:extLst>
              <a:ext uri="{FF2B5EF4-FFF2-40B4-BE49-F238E27FC236}">
                <a16:creationId xmlns:a16="http://schemas.microsoft.com/office/drawing/2014/main" id="{6924D869-A0AC-4310-9BB3-7548D8CB020C}"/>
              </a:ext>
            </a:extLst>
          </p:cNvPr>
          <p:cNvSpPr>
            <a:spLocks noGrp="1"/>
          </p:cNvSpPr>
          <p:nvPr/>
        </p:nvSpPr>
        <p:spPr>
          <a:xfrm>
            <a:off x="352286" y="2510679"/>
            <a:ext cx="20247428" cy="10893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2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52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Posture-Aware Hybrid Control</a:t>
            </a:r>
            <a:r>
              <a:rPr lang="en-US" sz="52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 </a:t>
            </a:r>
            <a:r>
              <a:rPr sz="52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for a Two-Wheeled Legged Robot</a:t>
            </a:r>
          </a:p>
        </p:txBody>
      </p:sp>
      <p:sp>
        <p:nvSpPr>
          <p:cNvPr id="220" name="subtitle">
            <a:extLst>
              <a:ext uri="{FF2B5EF4-FFF2-40B4-BE49-F238E27FC236}">
                <a16:creationId xmlns:a16="http://schemas.microsoft.com/office/drawing/2014/main" id="{1BC66BBF-4828-4795-AE5F-4226FEC9AC79}"/>
              </a:ext>
            </a:extLst>
          </p:cNvPr>
          <p:cNvSpPr>
            <a:spLocks noGrp="1"/>
          </p:cNvSpPr>
          <p:nvPr/>
        </p:nvSpPr>
        <p:spPr>
          <a:xfrm>
            <a:off x="352286" y="3677677"/>
            <a:ext cx="19584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27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From Analytical Compensation to Bounded Residual Recovery</a:t>
            </a:r>
            <a:endParaRPr sz="2700" b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hero-caption">
            <a:extLst>
              <a:ext uri="{FF2B5EF4-FFF2-40B4-BE49-F238E27FC236}">
                <a16:creationId xmlns:a16="http://schemas.microsoft.com/office/drawing/2014/main" id="{413ECFB2-2026-4366-9250-CE51E8D6EBC5}"/>
              </a:ext>
            </a:extLst>
          </p:cNvPr>
          <p:cNvSpPr>
            <a:spLocks noGrp="1"/>
          </p:cNvSpPr>
          <p:nvPr/>
        </p:nvSpPr>
        <p:spPr>
          <a:xfrm>
            <a:off x="1903074" y="10456682"/>
            <a:ext cx="10008000" cy="3793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1800" b="1" err="1">
                <a:solidFill>
                  <a:srgbClr val="002244"/>
                </a:solidFill>
                <a:latin typeface="Arial"/>
                <a:ea typeface="Arial"/>
                <a:cs typeface="Arial"/>
              </a:rPr>
              <a:t>HopperTrex</a:t>
            </a:r>
            <a:r>
              <a:rPr sz="18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err="1">
                <a:solidFill>
                  <a:srgbClr val="002244"/>
                </a:solidFill>
                <a:latin typeface="Arial"/>
                <a:ea typeface="Arial"/>
                <a:cs typeface="Arial"/>
              </a:rPr>
              <a:t>Kinodynamic</a:t>
            </a:r>
            <a:r>
              <a:rPr sz="18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 Model &amp; Perturbation Profile</a:t>
            </a:r>
          </a:p>
        </p:txBody>
      </p:sp>
      <p:sp>
        <p:nvSpPr>
          <p:cNvPr id="243" name="panel-15">
            <a:extLst>
              <a:ext uri="{FF2B5EF4-FFF2-40B4-BE49-F238E27FC236}">
                <a16:creationId xmlns:a16="http://schemas.microsoft.com/office/drawing/2014/main" id="{8E3CA662-EA7D-4E4A-B193-C240760930C8}"/>
              </a:ext>
            </a:extLst>
          </p:cNvPr>
          <p:cNvSpPr>
            <a:spLocks noGrp="1"/>
          </p:cNvSpPr>
          <p:nvPr/>
        </p:nvSpPr>
        <p:spPr>
          <a:xfrm>
            <a:off x="11231999" y="4903377"/>
            <a:ext cx="7705705" cy="5337306"/>
          </a:xfrm>
          <a:prstGeom prst="rect">
            <a:avLst/>
          </a:prstGeom>
          <a:solidFill>
            <a:srgbClr val="EFF8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copy-16">
            <a:extLst>
              <a:ext uri="{FF2B5EF4-FFF2-40B4-BE49-F238E27FC236}">
                <a16:creationId xmlns:a16="http://schemas.microsoft.com/office/drawing/2014/main" id="{71857753-C876-4E0E-94D3-262B31FF9744}"/>
              </a:ext>
            </a:extLst>
          </p:cNvPr>
          <p:cNvSpPr>
            <a:spLocks noGrp="1"/>
          </p:cNvSpPr>
          <p:nvPr/>
        </p:nvSpPr>
        <p:spPr>
          <a:xfrm>
            <a:off x="11772000" y="5237735"/>
            <a:ext cx="8208000" cy="5105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lang="en-US" sz="33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Key Results at a Glance</a:t>
            </a:r>
            <a:endParaRPr sz="3300" b="1">
              <a:solidFill>
                <a:srgbClr val="00224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contribution-pill-01">
            <a:extLst>
              <a:ext uri="{FF2B5EF4-FFF2-40B4-BE49-F238E27FC236}">
                <a16:creationId xmlns:a16="http://schemas.microsoft.com/office/drawing/2014/main" id="{BB493FB2-B433-4DB8-A122-41E8D94018FF}"/>
              </a:ext>
            </a:extLst>
          </p:cNvPr>
          <p:cNvSpPr>
            <a:spLocks noGrp="1"/>
          </p:cNvSpPr>
          <p:nvPr/>
        </p:nvSpPr>
        <p:spPr>
          <a:xfrm>
            <a:off x="11772000" y="6025896"/>
            <a:ext cx="504000" cy="347707"/>
          </a:xfrm>
          <a:prstGeom prst="roundRect">
            <a:avLst>
              <a:gd name="adj" fmla="val 18182"/>
            </a:avLst>
          </a:prstGeom>
          <a:solidFill>
            <a:srgbClr val="087F8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copy-17">
            <a:extLst>
              <a:ext uri="{FF2B5EF4-FFF2-40B4-BE49-F238E27FC236}">
                <a16:creationId xmlns:a16="http://schemas.microsoft.com/office/drawing/2014/main" id="{60AFFDFB-0F0C-4026-A3BA-04EA21CFDECD}"/>
              </a:ext>
            </a:extLst>
          </p:cNvPr>
          <p:cNvSpPr>
            <a:spLocks noGrp="1"/>
          </p:cNvSpPr>
          <p:nvPr/>
        </p:nvSpPr>
        <p:spPr>
          <a:xfrm>
            <a:off x="11772000" y="6053328"/>
            <a:ext cx="504000" cy="312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7" name="copy-18">
            <a:extLst>
              <a:ext uri="{FF2B5EF4-FFF2-40B4-BE49-F238E27FC236}">
                <a16:creationId xmlns:a16="http://schemas.microsoft.com/office/drawing/2014/main" id="{EB765835-E22B-4EA9-A043-60AE0DFA3B2B}"/>
              </a:ext>
            </a:extLst>
          </p:cNvPr>
          <p:cNvSpPr>
            <a:spLocks noGrp="1"/>
          </p:cNvSpPr>
          <p:nvPr/>
        </p:nvSpPr>
        <p:spPr>
          <a:xfrm>
            <a:off x="12456000" y="5934456"/>
            <a:ext cx="748800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84%</a:t>
            </a:r>
            <a:r>
              <a:rPr lang="en-US" sz="2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less drift</a:t>
            </a:r>
            <a:endParaRPr sz="220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copy-19">
            <a:extLst>
              <a:ext uri="{FF2B5EF4-FFF2-40B4-BE49-F238E27FC236}">
                <a16:creationId xmlns:a16="http://schemas.microsoft.com/office/drawing/2014/main" id="{D8799D53-877E-4C1F-92A2-B12C7AAB3257}"/>
              </a:ext>
            </a:extLst>
          </p:cNvPr>
          <p:cNvSpPr>
            <a:spLocks noGrp="1"/>
          </p:cNvSpPr>
          <p:nvPr/>
        </p:nvSpPr>
        <p:spPr>
          <a:xfrm>
            <a:off x="11772000" y="6528816"/>
            <a:ext cx="8208000" cy="7586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Physics-based compensation cancels posture drift;</a:t>
            </a:r>
          </a:p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command shaping cuts speed peaks by 94%.</a:t>
            </a:r>
            <a:endParaRPr sz="2100" b="0">
              <a:solidFill>
                <a:srgbClr val="1731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contribution-pill-02">
            <a:extLst>
              <a:ext uri="{FF2B5EF4-FFF2-40B4-BE49-F238E27FC236}">
                <a16:creationId xmlns:a16="http://schemas.microsoft.com/office/drawing/2014/main" id="{E3463223-DD98-4833-8B3F-69F21590E282}"/>
              </a:ext>
            </a:extLst>
          </p:cNvPr>
          <p:cNvSpPr>
            <a:spLocks noGrp="1"/>
          </p:cNvSpPr>
          <p:nvPr/>
        </p:nvSpPr>
        <p:spPr>
          <a:xfrm>
            <a:off x="11772000" y="7443216"/>
            <a:ext cx="504000" cy="347707"/>
          </a:xfrm>
          <a:prstGeom prst="roundRect">
            <a:avLst>
              <a:gd name="adj" fmla="val 18182"/>
            </a:avLst>
          </a:prstGeom>
          <a:solidFill>
            <a:srgbClr val="00224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copy-20">
            <a:extLst>
              <a:ext uri="{FF2B5EF4-FFF2-40B4-BE49-F238E27FC236}">
                <a16:creationId xmlns:a16="http://schemas.microsoft.com/office/drawing/2014/main" id="{29946104-8461-4272-B2D2-48882BAE47BB}"/>
              </a:ext>
            </a:extLst>
          </p:cNvPr>
          <p:cNvSpPr>
            <a:spLocks noGrp="1"/>
          </p:cNvSpPr>
          <p:nvPr/>
        </p:nvSpPr>
        <p:spPr>
          <a:xfrm>
            <a:off x="11772000" y="7470648"/>
            <a:ext cx="504000" cy="312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1" name="copy-21">
            <a:extLst>
              <a:ext uri="{FF2B5EF4-FFF2-40B4-BE49-F238E27FC236}">
                <a16:creationId xmlns:a16="http://schemas.microsoft.com/office/drawing/2014/main" id="{1300123B-C795-4C2E-B887-D350F5379C7A}"/>
              </a:ext>
            </a:extLst>
          </p:cNvPr>
          <p:cNvSpPr>
            <a:spLocks noGrp="1"/>
          </p:cNvSpPr>
          <p:nvPr/>
        </p:nvSpPr>
        <p:spPr>
          <a:xfrm>
            <a:off x="12456000" y="7351776"/>
            <a:ext cx="748800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12%</a:t>
            </a:r>
            <a:r>
              <a:rPr lang="en-US" sz="2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faster push recovery</a:t>
            </a:r>
            <a:endParaRPr sz="220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copy-22">
            <a:extLst>
              <a:ext uri="{FF2B5EF4-FFF2-40B4-BE49-F238E27FC236}">
                <a16:creationId xmlns:a16="http://schemas.microsoft.com/office/drawing/2014/main" id="{DE4C1EA6-2355-4C7C-9ED8-560A80F1BA97}"/>
              </a:ext>
            </a:extLst>
          </p:cNvPr>
          <p:cNvSpPr>
            <a:spLocks noGrp="1"/>
          </p:cNvSpPr>
          <p:nvPr/>
        </p:nvSpPr>
        <p:spPr>
          <a:xfrm>
            <a:off x="11772000" y="7946136"/>
            <a:ext cx="8208000" cy="7586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Learned wheel–leg corrections; masking the leg</a:t>
            </a:r>
          </a:p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channels drops the gain to 3.8%.</a:t>
            </a:r>
            <a:endParaRPr sz="2100" b="0">
              <a:solidFill>
                <a:srgbClr val="1731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contribution-pill-03">
            <a:extLst>
              <a:ext uri="{FF2B5EF4-FFF2-40B4-BE49-F238E27FC236}">
                <a16:creationId xmlns:a16="http://schemas.microsoft.com/office/drawing/2014/main" id="{78C21C6D-5296-481F-A47D-AA0A6D5DC7CC}"/>
              </a:ext>
            </a:extLst>
          </p:cNvPr>
          <p:cNvSpPr>
            <a:spLocks noGrp="1"/>
          </p:cNvSpPr>
          <p:nvPr/>
        </p:nvSpPr>
        <p:spPr>
          <a:xfrm>
            <a:off x="11772000" y="8860536"/>
            <a:ext cx="504000" cy="347707"/>
          </a:xfrm>
          <a:prstGeom prst="roundRect">
            <a:avLst>
              <a:gd name="adj" fmla="val 18182"/>
            </a:avLst>
          </a:prstGeom>
          <a:solidFill>
            <a:srgbClr val="087F8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copy-23">
            <a:extLst>
              <a:ext uri="{FF2B5EF4-FFF2-40B4-BE49-F238E27FC236}">
                <a16:creationId xmlns:a16="http://schemas.microsoft.com/office/drawing/2014/main" id="{EC3CB145-DF84-4337-A919-96AD6A97758D}"/>
              </a:ext>
            </a:extLst>
          </p:cNvPr>
          <p:cNvSpPr>
            <a:spLocks noGrp="1"/>
          </p:cNvSpPr>
          <p:nvPr/>
        </p:nvSpPr>
        <p:spPr>
          <a:xfrm>
            <a:off x="11772000" y="8897112"/>
            <a:ext cx="504000" cy="312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5" name="copy-24">
            <a:extLst>
              <a:ext uri="{FF2B5EF4-FFF2-40B4-BE49-F238E27FC236}">
                <a16:creationId xmlns:a16="http://schemas.microsoft.com/office/drawing/2014/main" id="{7CFFE0C2-288A-4253-B721-880F9CCDFEA3}"/>
              </a:ext>
            </a:extLst>
          </p:cNvPr>
          <p:cNvSpPr>
            <a:spLocks noGrp="1"/>
          </p:cNvSpPr>
          <p:nvPr/>
        </p:nvSpPr>
        <p:spPr>
          <a:xfrm>
            <a:off x="12456000" y="8769096"/>
            <a:ext cx="748800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≤40 ms</a:t>
            </a:r>
            <a:r>
              <a:rPr lang="en-US" sz="2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safe latency budget</a:t>
            </a:r>
            <a:endParaRPr sz="220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copy-25">
            <a:extLst>
              <a:ext uri="{FF2B5EF4-FFF2-40B4-BE49-F238E27FC236}">
                <a16:creationId xmlns:a16="http://schemas.microsoft.com/office/drawing/2014/main" id="{7A5D9BF0-7507-478D-AD62-AC1EC95D400C}"/>
              </a:ext>
            </a:extLst>
          </p:cNvPr>
          <p:cNvSpPr>
            <a:spLocks noGrp="1"/>
          </p:cNvSpPr>
          <p:nvPr/>
        </p:nvSpPr>
        <p:spPr>
          <a:xfrm>
            <a:off x="11772000" y="9363456"/>
            <a:ext cx="8208000" cy="7586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Zero failures up to 40 ms across 40 delay/noise</a:t>
            </a:r>
          </a:p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tests; learned corrections turn fragile beyond.</a:t>
            </a:r>
            <a:endParaRPr sz="2100" b="0">
              <a:solidFill>
                <a:srgbClr val="1731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copy-26">
            <a:extLst>
              <a:ext uri="{FF2B5EF4-FFF2-40B4-BE49-F238E27FC236}">
                <a16:creationId xmlns:a16="http://schemas.microsoft.com/office/drawing/2014/main" id="{09D8B235-1E3E-4E15-B98E-27FE022B50FB}"/>
              </a:ext>
            </a:extLst>
          </p:cNvPr>
          <p:cNvSpPr>
            <a:spLocks noGrp="1"/>
          </p:cNvSpPr>
          <p:nvPr/>
        </p:nvSpPr>
        <p:spPr>
          <a:xfrm>
            <a:off x="1600200" y="11304000"/>
            <a:ext cx="1888236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2090" b="1">
                <a:solidFill>
                  <a:srgbClr val="173149"/>
                </a:solidFill>
              </a:rPr>
              <a:t>The Problem: </a:t>
            </a:r>
            <a:r>
              <a:rPr lang="en-US" sz="2090"/>
              <a:t>Changing leg posture shifts the robot's balance point, while the same wheels must both drive and balance—so legs and wheels are tightly coupled.</a:t>
            </a:r>
            <a:endParaRPr sz="2090"/>
          </a:p>
        </p:txBody>
      </p:sp>
      <p:sp>
        <p:nvSpPr>
          <p:cNvPr id="258" name="copy-27">
            <a:extLst>
              <a:ext uri="{FF2B5EF4-FFF2-40B4-BE49-F238E27FC236}">
                <a16:creationId xmlns:a16="http://schemas.microsoft.com/office/drawing/2014/main" id="{2FE11124-077A-4C03-9608-3D5DE9C26148}"/>
              </a:ext>
            </a:extLst>
          </p:cNvPr>
          <p:cNvSpPr>
            <a:spLocks noGrp="1"/>
          </p:cNvSpPr>
          <p:nvPr/>
        </p:nvSpPr>
        <p:spPr>
          <a:xfrm>
            <a:off x="1600200" y="12096000"/>
            <a:ext cx="1888236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173149"/>
                </a:solidFill>
              </a:rPr>
              <a:t>Our Approach: </a:t>
            </a:r>
            <a:r>
              <a:rPr lang="en-US"/>
              <a:t>A physics model removes predictable drift; a bounded learned policy adds fast recovery from sudden pushes.</a:t>
            </a:r>
            <a:endParaRPr/>
          </a:p>
        </p:txBody>
      </p:sp>
      <p:sp>
        <p:nvSpPr>
          <p:cNvPr id="259" name="line-28">
            <a:extLst>
              <a:ext uri="{FF2B5EF4-FFF2-40B4-BE49-F238E27FC236}">
                <a16:creationId xmlns:a16="http://schemas.microsoft.com/office/drawing/2014/main" id="{ED7D3E27-1A82-4352-BA78-7F80846FAE82}"/>
              </a:ext>
            </a:extLst>
          </p:cNvPr>
          <p:cNvSpPr>
            <a:spLocks noGrp="1"/>
          </p:cNvSpPr>
          <p:nvPr/>
        </p:nvSpPr>
        <p:spPr>
          <a:xfrm>
            <a:off x="900000" y="12924000"/>
            <a:ext cx="19584000" cy="0"/>
          </a:xfrm>
          <a:prstGeom prst="line">
            <a:avLst/>
          </a:prstGeom>
          <a:noFill/>
          <a:ln w="1524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" name="copy-29">
            <a:extLst>
              <a:ext uri="{FF2B5EF4-FFF2-40B4-BE49-F238E27FC236}">
                <a16:creationId xmlns:a16="http://schemas.microsoft.com/office/drawing/2014/main" id="{18770A57-8DEE-4941-AD76-0C251B0A8B54}"/>
              </a:ext>
            </a:extLst>
          </p:cNvPr>
          <p:cNvSpPr>
            <a:spLocks noGrp="1"/>
          </p:cNvSpPr>
          <p:nvPr/>
        </p:nvSpPr>
        <p:spPr>
          <a:xfrm>
            <a:off x="900000" y="13104000"/>
            <a:ext cx="19584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01  Nominal compensation &amp; reference shaping</a:t>
            </a:r>
          </a:p>
        </p:txBody>
      </p:sp>
      <p:graphicFrame>
        <p:nvGraphicFramePr>
          <p:cNvPr id="472" name="Chart"/>
          <p:cNvGraphicFramePr/>
          <p:nvPr>
            <p:extLst>
              <p:ext uri="{D42A27DB-BD31-4B8C-83A1-F6EECF244321}">
                <p14:modId xmlns:p14="http://schemas.microsoft.com/office/powerpoint/2010/main" val="188397131"/>
              </p:ext>
            </p:extLst>
          </p:nvPr>
        </p:nvGraphicFramePr>
        <p:xfrm>
          <a:off x="900000" y="13734288"/>
          <a:ext cx="964800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73" name="Chart"/>
          <p:cNvGraphicFramePr/>
          <p:nvPr>
            <p:extLst>
              <p:ext uri="{D42A27DB-BD31-4B8C-83A1-F6EECF244321}">
                <p14:modId xmlns:p14="http://schemas.microsoft.com/office/powerpoint/2010/main" val="1269817577"/>
              </p:ext>
            </p:extLst>
          </p:nvPr>
        </p:nvGraphicFramePr>
        <p:xfrm>
          <a:off x="11232000" y="13734288"/>
          <a:ext cx="925200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3" name="callout-compensated">
            <a:extLst>
              <a:ext uri="{FF2B5EF4-FFF2-40B4-BE49-F238E27FC236}">
                <a16:creationId xmlns:a16="http://schemas.microsoft.com/office/drawing/2014/main" id="{C78884CB-33C8-43D2-AF6E-33CD551B7569}"/>
              </a:ext>
            </a:extLst>
          </p:cNvPr>
          <p:cNvSpPr>
            <a:spLocks noGrp="1"/>
          </p:cNvSpPr>
          <p:nvPr/>
        </p:nvSpPr>
        <p:spPr>
          <a:xfrm>
            <a:off x="7498080" y="14401800"/>
            <a:ext cx="3017520" cy="5257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Compensated</a:t>
            </a:r>
          </a:p>
          <a:p>
            <a:pPr algn="l">
              <a:defRPr sz="1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(−83.68%)</a:t>
            </a:r>
            <a:endParaRPr sz="170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callout-uncompensated">
            <a:extLst>
              <a:ext uri="{FF2B5EF4-FFF2-40B4-BE49-F238E27FC236}">
                <a16:creationId xmlns:a16="http://schemas.microsoft.com/office/drawing/2014/main" id="{2D1C1DF5-FF89-43C6-86A0-2EA17D0AFC51}"/>
              </a:ext>
            </a:extLst>
          </p:cNvPr>
          <p:cNvSpPr>
            <a:spLocks noGrp="1"/>
          </p:cNvSpPr>
          <p:nvPr/>
        </p:nvSpPr>
        <p:spPr>
          <a:xfrm>
            <a:off x="7498080" y="15297912"/>
            <a:ext cx="3017520" cy="5257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6B7E91"/>
                </a:solidFill>
                <a:latin typeface="Arial"/>
                <a:ea typeface="Arial"/>
                <a:cs typeface="Arial"/>
              </a:rPr>
              <a:t>Uncompensated</a:t>
            </a:r>
          </a:p>
          <a:p>
            <a:pPr algn="l">
              <a:defRPr sz="1700" b="1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lang="en-US" sz="1700" b="1">
                <a:solidFill>
                  <a:srgbClr val="6B7E91"/>
                </a:solidFill>
                <a:latin typeface="Arial"/>
                <a:ea typeface="Arial"/>
                <a:cs typeface="Arial"/>
              </a:rPr>
              <a:t>(Drifting)</a:t>
            </a:r>
            <a:endParaRPr sz="1700" b="1">
              <a:solidFill>
                <a:srgbClr val="6B7E9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panel-30">
            <a:extLst>
              <a:ext uri="{FF2B5EF4-FFF2-40B4-BE49-F238E27FC236}">
                <a16:creationId xmlns:a16="http://schemas.microsoft.com/office/drawing/2014/main" id="{54CD2B1B-8EC4-40EB-85AA-0FEB1A6475F3}"/>
              </a:ext>
            </a:extLst>
          </p:cNvPr>
          <p:cNvSpPr>
            <a:spLocks noGrp="1"/>
          </p:cNvSpPr>
          <p:nvPr/>
        </p:nvSpPr>
        <p:spPr>
          <a:xfrm>
            <a:off x="900000" y="16596000"/>
            <a:ext cx="19584000" cy="756000"/>
          </a:xfrm>
          <a:prstGeom prst="rect">
            <a:avLst/>
          </a:prstGeom>
          <a:solidFill>
            <a:srgbClr val="F0F7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copy-31">
            <a:extLst>
              <a:ext uri="{FF2B5EF4-FFF2-40B4-BE49-F238E27FC236}">
                <a16:creationId xmlns:a16="http://schemas.microsoft.com/office/drawing/2014/main" id="{12460119-2A95-44E3-ACF6-194B08963BBE}"/>
              </a:ext>
            </a:extLst>
          </p:cNvPr>
          <p:cNvSpPr>
            <a:spLocks noGrp="1"/>
          </p:cNvSpPr>
          <p:nvPr/>
        </p:nvSpPr>
        <p:spPr>
          <a:xfrm>
            <a:off x="1044000" y="16668000"/>
            <a:ext cx="19296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F8C"/>
                </a:solidFill>
              </a:rPr>
              <a:t>Trade-off: </a:t>
            </a:r>
            <a:r>
              <a:t>Command shaping suppresses velocity peaks by </a:t>
            </a:r>
            <a:r>
              <a:rPr b="1">
                <a:solidFill>
                  <a:srgbClr val="173149"/>
                </a:solidFill>
              </a:rPr>
              <a:t>94.44%</a:t>
            </a:r>
            <a:r>
              <a:t> at the designed cost of settling time (</a:t>
            </a:r>
            <a:r>
              <a:rPr b="1">
                <a:solidFill>
                  <a:srgbClr val="173149"/>
                </a:solidFill>
              </a:rPr>
              <a:t>0.78 s → 1.74 s</a:t>
            </a:r>
            <a:r>
              <a:t>), reducing actuator shock before learning is applied.</a:t>
            </a:r>
          </a:p>
        </p:txBody>
      </p:sp>
      <p:sp>
        <p:nvSpPr>
          <p:cNvPr id="267" name="copy-32">
            <a:extLst>
              <a:ext uri="{FF2B5EF4-FFF2-40B4-BE49-F238E27FC236}">
                <a16:creationId xmlns:a16="http://schemas.microsoft.com/office/drawing/2014/main" id="{1E98A275-D864-432B-83ED-5E0FAF1225D3}"/>
              </a:ext>
            </a:extLst>
          </p:cNvPr>
          <p:cNvSpPr>
            <a:spLocks noGrp="1"/>
          </p:cNvSpPr>
          <p:nvPr/>
        </p:nvSpPr>
        <p:spPr>
          <a:xfrm>
            <a:off x="900000" y="17460000"/>
            <a:ext cx="19584000" cy="46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002244"/>
                </a:solidFill>
              </a:rPr>
              <a:t>Insight: </a:t>
            </a:r>
            <a:r>
              <a:rPr lang="en-US"/>
              <a:t>Classical compensation removes predictable drift, giving a strong baseline before any learning is added.</a:t>
            </a:r>
            <a:endParaRPr/>
          </a:p>
        </p:txBody>
      </p:sp>
      <p:sp>
        <p:nvSpPr>
          <p:cNvPr id="268" name="line-33">
            <a:extLst>
              <a:ext uri="{FF2B5EF4-FFF2-40B4-BE49-F238E27FC236}">
                <a16:creationId xmlns:a16="http://schemas.microsoft.com/office/drawing/2014/main" id="{3347A71C-BC9D-4027-A012-F580E7A366DE}"/>
              </a:ext>
            </a:extLst>
          </p:cNvPr>
          <p:cNvSpPr>
            <a:spLocks noGrp="1"/>
          </p:cNvSpPr>
          <p:nvPr/>
        </p:nvSpPr>
        <p:spPr>
          <a:xfrm>
            <a:off x="900000" y="18036000"/>
            <a:ext cx="19584000" cy="0"/>
          </a:xfrm>
          <a:prstGeom prst="line">
            <a:avLst/>
          </a:prstGeom>
          <a:noFill/>
          <a:ln w="1524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copy-34">
            <a:extLst>
              <a:ext uri="{FF2B5EF4-FFF2-40B4-BE49-F238E27FC236}">
                <a16:creationId xmlns:a16="http://schemas.microsoft.com/office/drawing/2014/main" id="{8B95CD3E-CEAF-438F-9A93-DBBD9D62FCEC}"/>
              </a:ext>
            </a:extLst>
          </p:cNvPr>
          <p:cNvSpPr>
            <a:spLocks noGrp="1"/>
          </p:cNvSpPr>
          <p:nvPr/>
        </p:nvSpPr>
        <p:spPr>
          <a:xfrm>
            <a:off x="900000" y="18216000"/>
            <a:ext cx="19584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02  Bounded residual learning &amp; leg-channel ablation</a:t>
            </a:r>
          </a:p>
        </p:txBody>
      </p:sp>
      <p:sp>
        <p:nvSpPr>
          <p:cNvPr id="270" name="module-State +">
            <a:extLst>
              <a:ext uri="{FF2B5EF4-FFF2-40B4-BE49-F238E27FC236}">
                <a16:creationId xmlns:a16="http://schemas.microsoft.com/office/drawing/2014/main" id="{94C3E153-A40F-428B-B4EE-2FDA30DE9BEF}"/>
              </a:ext>
            </a:extLst>
          </p:cNvPr>
          <p:cNvSpPr>
            <a:spLocks noGrp="1"/>
          </p:cNvSpPr>
          <p:nvPr/>
        </p:nvSpPr>
        <p:spPr>
          <a:xfrm>
            <a:off x="900000" y="19440000"/>
            <a:ext cx="1836000" cy="1080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copy-35">
            <a:extLst>
              <a:ext uri="{FF2B5EF4-FFF2-40B4-BE49-F238E27FC236}">
                <a16:creationId xmlns:a16="http://schemas.microsoft.com/office/drawing/2014/main" id="{ACFB4673-D33B-46A0-A44A-6E125A4ACBD4}"/>
              </a:ext>
            </a:extLst>
          </p:cNvPr>
          <p:cNvSpPr>
            <a:spLocks noGrp="1"/>
          </p:cNvSpPr>
          <p:nvPr/>
        </p:nvSpPr>
        <p:spPr>
          <a:xfrm>
            <a:off x="972000" y="19548000"/>
            <a:ext cx="169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State +</a:t>
            </a:r>
          </a:p>
        </p:txBody>
      </p:sp>
      <p:sp>
        <p:nvSpPr>
          <p:cNvPr id="272" name="copy-36">
            <a:extLst>
              <a:ext uri="{FF2B5EF4-FFF2-40B4-BE49-F238E27FC236}">
                <a16:creationId xmlns:a16="http://schemas.microsoft.com/office/drawing/2014/main" id="{2F1A856E-E4CB-4A06-8366-E2B7F772799B}"/>
              </a:ext>
            </a:extLst>
          </p:cNvPr>
          <p:cNvSpPr>
            <a:spLocks noGrp="1"/>
          </p:cNvSpPr>
          <p:nvPr/>
        </p:nvSpPr>
        <p:spPr>
          <a:xfrm>
            <a:off x="972000" y="19908000"/>
            <a:ext cx="1692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commands</a:t>
            </a:r>
          </a:p>
        </p:txBody>
      </p:sp>
      <p:sp>
        <p:nvSpPr>
          <p:cNvPr id="273" name="module-Classical backbone">
            <a:extLst>
              <a:ext uri="{FF2B5EF4-FFF2-40B4-BE49-F238E27FC236}">
                <a16:creationId xmlns:a16="http://schemas.microsoft.com/office/drawing/2014/main" id="{796810FA-C945-490A-8321-6A42A66ED684}"/>
              </a:ext>
            </a:extLst>
          </p:cNvPr>
          <p:cNvSpPr>
            <a:spLocks noGrp="1"/>
          </p:cNvSpPr>
          <p:nvPr/>
        </p:nvSpPr>
        <p:spPr>
          <a:xfrm>
            <a:off x="3096000" y="19008000"/>
            <a:ext cx="4104000" cy="86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copy-37">
            <a:extLst>
              <a:ext uri="{FF2B5EF4-FFF2-40B4-BE49-F238E27FC236}">
                <a16:creationId xmlns:a16="http://schemas.microsoft.com/office/drawing/2014/main" id="{CB99B764-2911-44A7-A9B2-B091EC3DEB62}"/>
              </a:ext>
            </a:extLst>
          </p:cNvPr>
          <p:cNvSpPr>
            <a:spLocks noGrp="1"/>
          </p:cNvSpPr>
          <p:nvPr/>
        </p:nvSpPr>
        <p:spPr>
          <a:xfrm>
            <a:off x="3168000" y="19116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Classical backbone</a:t>
            </a:r>
          </a:p>
        </p:txBody>
      </p:sp>
      <p:sp>
        <p:nvSpPr>
          <p:cNvPr id="275" name="copy-38">
            <a:extLst>
              <a:ext uri="{FF2B5EF4-FFF2-40B4-BE49-F238E27FC236}">
                <a16:creationId xmlns:a16="http://schemas.microsoft.com/office/drawing/2014/main" id="{875F26E0-A2B4-4616-A670-2ED2AC3DF0FF}"/>
              </a:ext>
            </a:extLst>
          </p:cNvPr>
          <p:cNvSpPr>
            <a:spLocks noGrp="1"/>
          </p:cNvSpPr>
          <p:nvPr/>
        </p:nvSpPr>
        <p:spPr>
          <a:xfrm>
            <a:off x="3168000" y="19476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LQR · yaw FF · posture</a:t>
            </a:r>
          </a:p>
        </p:txBody>
      </p:sp>
      <p:sp>
        <p:nvSpPr>
          <p:cNvPr id="276" name="module-Residual policy">
            <a:extLst>
              <a:ext uri="{FF2B5EF4-FFF2-40B4-BE49-F238E27FC236}">
                <a16:creationId xmlns:a16="http://schemas.microsoft.com/office/drawing/2014/main" id="{1DCCDF2F-7243-4C91-A75B-7AF047E0F71F}"/>
              </a:ext>
            </a:extLst>
          </p:cNvPr>
          <p:cNvSpPr>
            <a:spLocks noGrp="1"/>
          </p:cNvSpPr>
          <p:nvPr/>
        </p:nvSpPr>
        <p:spPr>
          <a:xfrm>
            <a:off x="3096000" y="20196000"/>
            <a:ext cx="4104000" cy="864000"/>
          </a:xfrm>
          <a:prstGeom prst="rect">
            <a:avLst/>
          </a:prstGeom>
          <a:solidFill>
            <a:srgbClr val="EFF8F8"/>
          </a:solidFill>
          <a:ln w="13970">
            <a:solidFill>
              <a:srgbClr val="087F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7" name="copy-39">
            <a:extLst>
              <a:ext uri="{FF2B5EF4-FFF2-40B4-BE49-F238E27FC236}">
                <a16:creationId xmlns:a16="http://schemas.microsoft.com/office/drawing/2014/main" id="{8357DC69-39AD-4432-BD46-683FE5501C59}"/>
              </a:ext>
            </a:extLst>
          </p:cNvPr>
          <p:cNvSpPr>
            <a:spLocks noGrp="1"/>
          </p:cNvSpPr>
          <p:nvPr/>
        </p:nvSpPr>
        <p:spPr>
          <a:xfrm>
            <a:off x="3168000" y="20304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Residual policy</a:t>
            </a:r>
          </a:p>
        </p:txBody>
      </p:sp>
      <p:sp>
        <p:nvSpPr>
          <p:cNvPr id="278" name="copy-40">
            <a:extLst>
              <a:ext uri="{FF2B5EF4-FFF2-40B4-BE49-F238E27FC236}">
                <a16:creationId xmlns:a16="http://schemas.microsoft.com/office/drawing/2014/main" id="{ECBFD5C3-2EF3-4036-BA6E-87A0179BF757}"/>
              </a:ext>
            </a:extLst>
          </p:cNvPr>
          <p:cNvSpPr>
            <a:spLocks noGrp="1"/>
          </p:cNvSpPr>
          <p:nvPr/>
        </p:nvSpPr>
        <p:spPr>
          <a:xfrm>
            <a:off x="3168000" y="20664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Balance · yaw · 4 leg channels</a:t>
            </a:r>
          </a:p>
        </p:txBody>
      </p:sp>
      <p:sp>
        <p:nvSpPr>
          <p:cNvPr id="279" name="module-Bounded authority">
            <a:extLst>
              <a:ext uri="{FF2B5EF4-FFF2-40B4-BE49-F238E27FC236}">
                <a16:creationId xmlns:a16="http://schemas.microsoft.com/office/drawing/2014/main" id="{C6B6D956-8310-4367-8C38-B57CC641AE5F}"/>
              </a:ext>
            </a:extLst>
          </p:cNvPr>
          <p:cNvSpPr>
            <a:spLocks noGrp="1"/>
          </p:cNvSpPr>
          <p:nvPr/>
        </p:nvSpPr>
        <p:spPr>
          <a:xfrm>
            <a:off x="3096000" y="21420000"/>
            <a:ext cx="4104000" cy="1008000"/>
          </a:xfrm>
          <a:prstGeom prst="rect">
            <a:avLst/>
          </a:prstGeom>
          <a:solidFill>
            <a:srgbClr val="EFF8F8"/>
          </a:solidFill>
          <a:ln w="13970">
            <a:solidFill>
              <a:srgbClr val="087F8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copy-41">
            <a:extLst>
              <a:ext uri="{FF2B5EF4-FFF2-40B4-BE49-F238E27FC236}">
                <a16:creationId xmlns:a16="http://schemas.microsoft.com/office/drawing/2014/main" id="{4921D7D7-5543-4722-A455-7462C1FF77E5}"/>
              </a:ext>
            </a:extLst>
          </p:cNvPr>
          <p:cNvSpPr>
            <a:spLocks noGrp="1"/>
          </p:cNvSpPr>
          <p:nvPr/>
        </p:nvSpPr>
        <p:spPr>
          <a:xfrm>
            <a:off x="3168000" y="21528000"/>
            <a:ext cx="3960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Bounded authority</a:t>
            </a:r>
          </a:p>
        </p:txBody>
      </p:sp>
      <p:sp>
        <p:nvSpPr>
          <p:cNvPr id="281" name="copy-42">
            <a:extLst>
              <a:ext uri="{FF2B5EF4-FFF2-40B4-BE49-F238E27FC236}">
                <a16:creationId xmlns:a16="http://schemas.microsoft.com/office/drawing/2014/main" id="{A6591243-C470-411C-B8ED-6428D5A9D682}"/>
              </a:ext>
            </a:extLst>
          </p:cNvPr>
          <p:cNvSpPr>
            <a:spLocks noGrp="1"/>
          </p:cNvSpPr>
          <p:nvPr/>
        </p:nvSpPr>
        <p:spPr>
          <a:xfrm>
            <a:off x="3168000" y="21888000"/>
            <a:ext cx="3960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Clip → Mask → Scale</a:t>
            </a:r>
          </a:p>
        </p:txBody>
      </p:sp>
      <p:sp>
        <p:nvSpPr>
          <p:cNvPr id="282" name="module-Compose">
            <a:extLst>
              <a:ext uri="{FF2B5EF4-FFF2-40B4-BE49-F238E27FC236}">
                <a16:creationId xmlns:a16="http://schemas.microsoft.com/office/drawing/2014/main" id="{41B90E17-4C12-476D-A484-39A8E567D757}"/>
              </a:ext>
            </a:extLst>
          </p:cNvPr>
          <p:cNvSpPr>
            <a:spLocks noGrp="1"/>
          </p:cNvSpPr>
          <p:nvPr/>
        </p:nvSpPr>
        <p:spPr>
          <a:xfrm>
            <a:off x="8100000" y="19008000"/>
            <a:ext cx="2376000" cy="86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copy-43">
            <a:extLst>
              <a:ext uri="{FF2B5EF4-FFF2-40B4-BE49-F238E27FC236}">
                <a16:creationId xmlns:a16="http://schemas.microsoft.com/office/drawing/2014/main" id="{9578E381-3F68-4095-A3AB-D09753CC9ABE}"/>
              </a:ext>
            </a:extLst>
          </p:cNvPr>
          <p:cNvSpPr>
            <a:spLocks noGrp="1"/>
          </p:cNvSpPr>
          <p:nvPr/>
        </p:nvSpPr>
        <p:spPr>
          <a:xfrm>
            <a:off x="8172000" y="191160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284" name="copy-44">
            <a:extLst>
              <a:ext uri="{FF2B5EF4-FFF2-40B4-BE49-F238E27FC236}">
                <a16:creationId xmlns:a16="http://schemas.microsoft.com/office/drawing/2014/main" id="{3381794D-D44D-4505-88E7-11940E396C7E}"/>
              </a:ext>
            </a:extLst>
          </p:cNvPr>
          <p:cNvSpPr>
            <a:spLocks noGrp="1"/>
          </p:cNvSpPr>
          <p:nvPr/>
        </p:nvSpPr>
        <p:spPr>
          <a:xfrm>
            <a:off x="8172000" y="194760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Nominal + residual</a:t>
            </a:r>
          </a:p>
        </p:txBody>
      </p:sp>
      <p:sp>
        <p:nvSpPr>
          <p:cNvPr id="285" name="channel-limits">
            <a:extLst>
              <a:ext uri="{FF2B5EF4-FFF2-40B4-BE49-F238E27FC236}">
                <a16:creationId xmlns:a16="http://schemas.microsoft.com/office/drawing/2014/main" id="{8616D162-CEB6-4051-AC9E-80FA8263D863}"/>
              </a:ext>
            </a:extLst>
          </p:cNvPr>
          <p:cNvSpPr>
            <a:spLocks noGrp="1"/>
          </p:cNvSpPr>
          <p:nvPr/>
        </p:nvSpPr>
        <p:spPr>
          <a:xfrm>
            <a:off x="8100000" y="20196000"/>
            <a:ext cx="2376000" cy="1404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copy-45">
            <a:extLst>
              <a:ext uri="{FF2B5EF4-FFF2-40B4-BE49-F238E27FC236}">
                <a16:creationId xmlns:a16="http://schemas.microsoft.com/office/drawing/2014/main" id="{991D5300-273B-4AD6-808F-8C987B68A960}"/>
              </a:ext>
            </a:extLst>
          </p:cNvPr>
          <p:cNvSpPr>
            <a:spLocks noGrp="1"/>
          </p:cNvSpPr>
          <p:nvPr/>
        </p:nvSpPr>
        <p:spPr>
          <a:xfrm>
            <a:off x="8244000" y="20340000"/>
            <a:ext cx="2088000" cy="11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Wheels</a:t>
            </a:r>
          </a:p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Speed limit</a:t>
            </a:r>
          </a:p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Legs</a:t>
            </a:r>
          </a:p>
          <a:p>
            <a:pPr algn="ctr">
              <a:defRPr sz="165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sz="165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Position limit</a:t>
            </a:r>
            <a:endParaRPr sz="1650" b="0">
              <a:solidFill>
                <a:srgbClr val="17314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module-Actuator / Robot">
            <a:extLst>
              <a:ext uri="{FF2B5EF4-FFF2-40B4-BE49-F238E27FC236}">
                <a16:creationId xmlns:a16="http://schemas.microsoft.com/office/drawing/2014/main" id="{FCB2C9E9-B173-49BB-AF0E-6A851F376813}"/>
              </a:ext>
            </a:extLst>
          </p:cNvPr>
          <p:cNvSpPr>
            <a:spLocks noGrp="1"/>
          </p:cNvSpPr>
          <p:nvPr/>
        </p:nvSpPr>
        <p:spPr>
          <a:xfrm>
            <a:off x="8100000" y="22068000"/>
            <a:ext cx="2376000" cy="75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copy-46">
            <a:extLst>
              <a:ext uri="{FF2B5EF4-FFF2-40B4-BE49-F238E27FC236}">
                <a16:creationId xmlns:a16="http://schemas.microsoft.com/office/drawing/2014/main" id="{DB33D8ED-28C2-4D28-9197-6F6BBBD8E0EC}"/>
              </a:ext>
            </a:extLst>
          </p:cNvPr>
          <p:cNvSpPr>
            <a:spLocks noGrp="1"/>
          </p:cNvSpPr>
          <p:nvPr/>
        </p:nvSpPr>
        <p:spPr>
          <a:xfrm>
            <a:off x="8172000" y="22176000"/>
            <a:ext cx="2232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Actuator / Robot</a:t>
            </a:r>
          </a:p>
        </p:txBody>
      </p:sp>
      <p:sp>
        <p:nvSpPr>
          <p:cNvPr id="289" name="input-to-classical">
            <a:extLst>
              <a:ext uri="{FF2B5EF4-FFF2-40B4-BE49-F238E27FC236}">
                <a16:creationId xmlns:a16="http://schemas.microsoft.com/office/drawing/2014/main" id="{4B8595D7-20E6-4BF6-A80A-DF6484655C03}"/>
              </a:ext>
            </a:extLst>
          </p:cNvPr>
          <p:cNvSpPr>
            <a:spLocks noGrp="1"/>
          </p:cNvSpPr>
          <p:nvPr/>
        </p:nvSpPr>
        <p:spPr>
          <a:xfrm>
            <a:off x="2736000" y="19440000"/>
            <a:ext cx="360000" cy="540000"/>
          </a:xfrm>
          <a:custGeom>
            <a:avLst/>
            <a:gdLst/>
            <a:ahLst/>
            <a:cxnLst/>
            <a:rect l="0" t="0" r="0" b="0"/>
            <a:pathLst>
              <a:path w="360000" h="540000">
                <a:moveTo>
                  <a:pt x="0" y="540000"/>
                </a:moveTo>
                <a:lnTo>
                  <a:pt x="180000" y="540000"/>
                </a:lnTo>
                <a:lnTo>
                  <a:pt x="180000" y="0"/>
                </a:lnTo>
                <a:lnTo>
                  <a:pt x="360000" y="0"/>
                </a:lnTo>
              </a:path>
            </a:pathLst>
          </a:custGeom>
          <a:noFill/>
          <a:ln w="2159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0" name="input-to-classical-arrowhead-47">
            <a:extLst>
              <a:ext uri="{FF2B5EF4-FFF2-40B4-BE49-F238E27FC236}">
                <a16:creationId xmlns:a16="http://schemas.microsoft.com/office/drawing/2014/main" id="{EC96D6BF-7674-40B1-BEBB-0A3F9684F454}"/>
              </a:ext>
            </a:extLst>
          </p:cNvPr>
          <p:cNvSpPr>
            <a:spLocks noGrp="1"/>
          </p:cNvSpPr>
          <p:nvPr/>
        </p:nvSpPr>
        <p:spPr>
          <a:xfrm>
            <a:off x="2988180" y="19387584"/>
            <a:ext cx="107820" cy="104832"/>
          </a:xfrm>
          <a:custGeom>
            <a:avLst/>
            <a:gdLst/>
            <a:ahLst/>
            <a:cxnLst/>
            <a:rect l="0" t="0" r="0" b="0"/>
            <a:pathLst>
              <a:path w="107820" h="104832">
                <a:moveTo>
                  <a:pt x="107820" y="52416"/>
                </a:moveTo>
                <a:lnTo>
                  <a:pt x="0" y="0"/>
                </a:lnTo>
                <a:lnTo>
                  <a:pt x="0" y="104832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input-to-residual">
            <a:extLst>
              <a:ext uri="{FF2B5EF4-FFF2-40B4-BE49-F238E27FC236}">
                <a16:creationId xmlns:a16="http://schemas.microsoft.com/office/drawing/2014/main" id="{BA689D13-2652-4DA6-8984-BF401641013B}"/>
              </a:ext>
            </a:extLst>
          </p:cNvPr>
          <p:cNvSpPr>
            <a:spLocks noGrp="1"/>
          </p:cNvSpPr>
          <p:nvPr/>
        </p:nvSpPr>
        <p:spPr>
          <a:xfrm>
            <a:off x="2916000" y="19980000"/>
            <a:ext cx="180000" cy="648000"/>
          </a:xfrm>
          <a:custGeom>
            <a:avLst/>
            <a:gdLst/>
            <a:ahLst/>
            <a:cxnLst/>
            <a:rect l="0" t="0" r="0" b="0"/>
            <a:pathLst>
              <a:path w="180000" h="648000">
                <a:moveTo>
                  <a:pt x="0" y="0"/>
                </a:moveTo>
                <a:lnTo>
                  <a:pt x="0" y="648000"/>
                </a:lnTo>
                <a:lnTo>
                  <a:pt x="180000" y="648000"/>
                </a:lnTo>
              </a:path>
            </a:pathLst>
          </a:custGeom>
          <a:noFill/>
          <a:ln w="13970">
            <a:solidFill>
              <a:srgbClr val="087F8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input-to-residual-arrowhead-48">
            <a:extLst>
              <a:ext uri="{FF2B5EF4-FFF2-40B4-BE49-F238E27FC236}">
                <a16:creationId xmlns:a16="http://schemas.microsoft.com/office/drawing/2014/main" id="{4FE10BF4-B6DD-4D8D-A74B-1EBF137D9050}"/>
              </a:ext>
            </a:extLst>
          </p:cNvPr>
          <p:cNvSpPr>
            <a:spLocks noGrp="1"/>
          </p:cNvSpPr>
          <p:nvPr/>
        </p:nvSpPr>
        <p:spPr>
          <a:xfrm>
            <a:off x="2995740" y="20579472"/>
            <a:ext cx="100260" cy="97056"/>
          </a:xfrm>
          <a:custGeom>
            <a:avLst/>
            <a:gdLst/>
            <a:ahLst/>
            <a:cxnLst/>
            <a:rect l="0" t="0" r="0" b="0"/>
            <a:pathLst>
              <a:path w="100260" h="97056">
                <a:moveTo>
                  <a:pt x="100260" y="48528"/>
                </a:moveTo>
                <a:lnTo>
                  <a:pt x="0" y="0"/>
                </a:lnTo>
                <a:lnTo>
                  <a:pt x="0" y="97056"/>
                </a:lnTo>
                <a:close/>
              </a:path>
            </a:pathLst>
          </a:cu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3" name="classical-straight-to-compose">
            <a:extLst>
              <a:ext uri="{FF2B5EF4-FFF2-40B4-BE49-F238E27FC236}">
                <a16:creationId xmlns:a16="http://schemas.microsoft.com/office/drawing/2014/main" id="{422AD38E-F32E-4E84-BE06-28693ACD9662}"/>
              </a:ext>
            </a:extLst>
          </p:cNvPr>
          <p:cNvSpPr>
            <a:spLocks noGrp="1"/>
          </p:cNvSpPr>
          <p:nvPr/>
        </p:nvSpPr>
        <p:spPr>
          <a:xfrm>
            <a:off x="7200000" y="19440000"/>
            <a:ext cx="900000" cy="360"/>
          </a:xfrm>
          <a:custGeom>
            <a:avLst/>
            <a:gdLst/>
            <a:ahLst/>
            <a:cxnLst/>
            <a:rect l="0" t="0" r="0" b="0"/>
            <a:pathLst>
              <a:path w="900000" h="360">
                <a:moveTo>
                  <a:pt x="0" y="0"/>
                </a:moveTo>
                <a:lnTo>
                  <a:pt x="900000" y="0"/>
                </a:lnTo>
              </a:path>
            </a:pathLst>
          </a:custGeom>
          <a:noFill/>
          <a:ln w="2540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" name="classical-straight-to-compose-arrowhead-49">
            <a:extLst>
              <a:ext uri="{FF2B5EF4-FFF2-40B4-BE49-F238E27FC236}">
                <a16:creationId xmlns:a16="http://schemas.microsoft.com/office/drawing/2014/main" id="{DDB90D8D-874B-454F-8E11-7D054AC47CEA}"/>
              </a:ext>
            </a:extLst>
          </p:cNvPr>
          <p:cNvSpPr>
            <a:spLocks noGrp="1"/>
          </p:cNvSpPr>
          <p:nvPr/>
        </p:nvSpPr>
        <p:spPr>
          <a:xfrm>
            <a:off x="7988400" y="19385640"/>
            <a:ext cx="111600" cy="108720"/>
          </a:xfrm>
          <a:custGeom>
            <a:avLst/>
            <a:gdLst/>
            <a:ahLst/>
            <a:cxnLst/>
            <a:rect l="0" t="0" r="0" b="0"/>
            <a:pathLst>
              <a:path w="111600" h="108720">
                <a:moveTo>
                  <a:pt x="111600" y="54360"/>
                </a:moveTo>
                <a:lnTo>
                  <a:pt x="0" y="0"/>
                </a:lnTo>
                <a:lnTo>
                  <a:pt x="0" y="108720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policy-to-authority">
            <a:extLst>
              <a:ext uri="{FF2B5EF4-FFF2-40B4-BE49-F238E27FC236}">
                <a16:creationId xmlns:a16="http://schemas.microsoft.com/office/drawing/2014/main" id="{86E89746-5A46-43FC-BB4F-8B1B14F95793}"/>
              </a:ext>
            </a:extLst>
          </p:cNvPr>
          <p:cNvSpPr>
            <a:spLocks noGrp="1"/>
          </p:cNvSpPr>
          <p:nvPr/>
        </p:nvSpPr>
        <p:spPr>
          <a:xfrm>
            <a:off x="5148000" y="21060000"/>
            <a:ext cx="360" cy="360000"/>
          </a:xfrm>
          <a:custGeom>
            <a:avLst/>
            <a:gdLst/>
            <a:ahLst/>
            <a:cxnLst/>
            <a:rect l="0" t="0" r="0" b="0"/>
            <a:pathLst>
              <a:path w="360" h="360000">
                <a:moveTo>
                  <a:pt x="0" y="0"/>
                </a:moveTo>
                <a:lnTo>
                  <a:pt x="0" y="360000"/>
                </a:lnTo>
              </a:path>
            </a:pathLst>
          </a:custGeom>
          <a:noFill/>
          <a:ln w="16510">
            <a:solidFill>
              <a:srgbClr val="087F8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6" name="policy-to-authority-arrowhead-50">
            <a:extLst>
              <a:ext uri="{FF2B5EF4-FFF2-40B4-BE49-F238E27FC236}">
                <a16:creationId xmlns:a16="http://schemas.microsoft.com/office/drawing/2014/main" id="{21002113-1D58-400C-8B60-B8A93FFCBA27}"/>
              </a:ext>
            </a:extLst>
          </p:cNvPr>
          <p:cNvSpPr>
            <a:spLocks noGrp="1"/>
          </p:cNvSpPr>
          <p:nvPr/>
        </p:nvSpPr>
        <p:spPr>
          <a:xfrm>
            <a:off x="5098176" y="21317220"/>
            <a:ext cx="99648" cy="102780"/>
          </a:xfrm>
          <a:custGeom>
            <a:avLst/>
            <a:gdLst/>
            <a:ahLst/>
            <a:cxnLst/>
            <a:rect l="0" t="0" r="0" b="0"/>
            <a:pathLst>
              <a:path w="99648" h="102780">
                <a:moveTo>
                  <a:pt x="49824" y="102780"/>
                </a:moveTo>
                <a:lnTo>
                  <a:pt x="996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bounded-residual-to-compose">
            <a:extLst>
              <a:ext uri="{FF2B5EF4-FFF2-40B4-BE49-F238E27FC236}">
                <a16:creationId xmlns:a16="http://schemas.microsoft.com/office/drawing/2014/main" id="{9071E5C8-F301-4848-8ED3-97704B6611FF}"/>
              </a:ext>
            </a:extLst>
          </p:cNvPr>
          <p:cNvSpPr>
            <a:spLocks noGrp="1"/>
          </p:cNvSpPr>
          <p:nvPr/>
        </p:nvSpPr>
        <p:spPr>
          <a:xfrm>
            <a:off x="7200000" y="19656000"/>
            <a:ext cx="900000" cy="2268000"/>
          </a:xfrm>
          <a:custGeom>
            <a:avLst/>
            <a:gdLst/>
            <a:ahLst/>
            <a:cxnLst/>
            <a:rect l="0" t="0" r="0" b="0"/>
            <a:pathLst>
              <a:path w="900000" h="2268000">
                <a:moveTo>
                  <a:pt x="0" y="2268000"/>
                </a:moveTo>
                <a:lnTo>
                  <a:pt x="396000" y="2268000"/>
                </a:lnTo>
                <a:lnTo>
                  <a:pt x="396000" y="0"/>
                </a:lnTo>
                <a:lnTo>
                  <a:pt x="900000" y="0"/>
                </a:lnTo>
              </a:path>
            </a:pathLst>
          </a:custGeom>
          <a:noFill/>
          <a:ln w="16510">
            <a:solidFill>
              <a:srgbClr val="087F8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bounded-residual-to-compose-arrowhead-51">
            <a:extLst>
              <a:ext uri="{FF2B5EF4-FFF2-40B4-BE49-F238E27FC236}">
                <a16:creationId xmlns:a16="http://schemas.microsoft.com/office/drawing/2014/main" id="{3E702632-D207-4688-AD8C-997DD5A3D6D8}"/>
              </a:ext>
            </a:extLst>
          </p:cNvPr>
          <p:cNvSpPr>
            <a:spLocks noGrp="1"/>
          </p:cNvSpPr>
          <p:nvPr/>
        </p:nvSpPr>
        <p:spPr>
          <a:xfrm>
            <a:off x="7997220" y="19606176"/>
            <a:ext cx="102780" cy="99648"/>
          </a:xfrm>
          <a:custGeom>
            <a:avLst/>
            <a:gdLst/>
            <a:ahLst/>
            <a:cxnLst/>
            <a:rect l="0" t="0" r="0" b="0"/>
            <a:pathLst>
              <a:path w="102780" h="99648">
                <a:moveTo>
                  <a:pt x="102780" y="49824"/>
                </a:moveTo>
                <a:lnTo>
                  <a:pt x="0" y="0"/>
                </a:lnTo>
                <a:lnTo>
                  <a:pt x="0" y="99648"/>
                </a:lnTo>
                <a:close/>
              </a:path>
            </a:pathLst>
          </a:custGeom>
          <a:solidFill>
            <a:srgbClr val="087F8C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compose-to-limits">
            <a:extLst>
              <a:ext uri="{FF2B5EF4-FFF2-40B4-BE49-F238E27FC236}">
                <a16:creationId xmlns:a16="http://schemas.microsoft.com/office/drawing/2014/main" id="{5D2D96C5-48D0-432E-B446-C984CAD7BE0B}"/>
              </a:ext>
            </a:extLst>
          </p:cNvPr>
          <p:cNvSpPr>
            <a:spLocks noGrp="1"/>
          </p:cNvSpPr>
          <p:nvPr/>
        </p:nvSpPr>
        <p:spPr>
          <a:xfrm>
            <a:off x="9288000" y="19872000"/>
            <a:ext cx="360" cy="324000"/>
          </a:xfrm>
          <a:custGeom>
            <a:avLst/>
            <a:gdLst/>
            <a:ahLst/>
            <a:cxnLst/>
            <a:rect l="0" t="0" r="0" b="0"/>
            <a:pathLst>
              <a:path w="360" h="324000">
                <a:moveTo>
                  <a:pt x="0" y="0"/>
                </a:moveTo>
                <a:lnTo>
                  <a:pt x="0" y="324000"/>
                </a:lnTo>
              </a:path>
            </a:pathLst>
          </a:custGeom>
          <a:noFill/>
          <a:ln w="1905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compose-to-limits-arrowhead-52">
            <a:extLst>
              <a:ext uri="{FF2B5EF4-FFF2-40B4-BE49-F238E27FC236}">
                <a16:creationId xmlns:a16="http://schemas.microsoft.com/office/drawing/2014/main" id="{1CDDF4DD-C3FC-455F-86DA-D8A0DE7F4650}"/>
              </a:ext>
            </a:extLst>
          </p:cNvPr>
          <p:cNvSpPr>
            <a:spLocks noGrp="1"/>
          </p:cNvSpPr>
          <p:nvPr/>
        </p:nvSpPr>
        <p:spPr>
          <a:xfrm>
            <a:off x="9236880" y="20090700"/>
            <a:ext cx="102240" cy="105300"/>
          </a:xfrm>
          <a:custGeom>
            <a:avLst/>
            <a:gdLst/>
            <a:ahLst/>
            <a:cxnLst/>
            <a:rect l="0" t="0" r="0" b="0"/>
            <a:pathLst>
              <a:path w="102240" h="105300">
                <a:moveTo>
                  <a:pt x="51120" y="105300"/>
                </a:moveTo>
                <a:lnTo>
                  <a:pt x="102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limits-to-robot">
            <a:extLst>
              <a:ext uri="{FF2B5EF4-FFF2-40B4-BE49-F238E27FC236}">
                <a16:creationId xmlns:a16="http://schemas.microsoft.com/office/drawing/2014/main" id="{C0BB35F9-F67A-4B1D-88C6-B6B8FC915C97}"/>
              </a:ext>
            </a:extLst>
          </p:cNvPr>
          <p:cNvSpPr>
            <a:spLocks noGrp="1"/>
          </p:cNvSpPr>
          <p:nvPr/>
        </p:nvSpPr>
        <p:spPr>
          <a:xfrm>
            <a:off x="9288000" y="21600000"/>
            <a:ext cx="360" cy="468000"/>
          </a:xfrm>
          <a:custGeom>
            <a:avLst/>
            <a:gdLst/>
            <a:ahLst/>
            <a:cxnLst/>
            <a:rect l="0" t="0" r="0" b="0"/>
            <a:pathLst>
              <a:path w="360" h="468000">
                <a:moveTo>
                  <a:pt x="0" y="0"/>
                </a:moveTo>
                <a:lnTo>
                  <a:pt x="0" y="468000"/>
                </a:lnTo>
              </a:path>
            </a:pathLst>
          </a:custGeom>
          <a:noFill/>
          <a:ln w="19050">
            <a:solidFill>
              <a:srgbClr val="00224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limits-to-robot-arrowhead-53">
            <a:extLst>
              <a:ext uri="{FF2B5EF4-FFF2-40B4-BE49-F238E27FC236}">
                <a16:creationId xmlns:a16="http://schemas.microsoft.com/office/drawing/2014/main" id="{2E4D6630-B2AD-47DF-9E64-EF2CBC8A7CA2}"/>
              </a:ext>
            </a:extLst>
          </p:cNvPr>
          <p:cNvSpPr>
            <a:spLocks noGrp="1"/>
          </p:cNvSpPr>
          <p:nvPr/>
        </p:nvSpPr>
        <p:spPr>
          <a:xfrm>
            <a:off x="9236880" y="21962700"/>
            <a:ext cx="102240" cy="105300"/>
          </a:xfrm>
          <a:custGeom>
            <a:avLst/>
            <a:gdLst/>
            <a:ahLst/>
            <a:cxnLst/>
            <a:rect l="0" t="0" r="0" b="0"/>
            <a:pathLst>
              <a:path w="102240" h="105300">
                <a:moveTo>
                  <a:pt x="51120" y="105300"/>
                </a:moveTo>
                <a:lnTo>
                  <a:pt x="102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24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3" name="state-feedback-loop">
            <a:extLst>
              <a:ext uri="{FF2B5EF4-FFF2-40B4-BE49-F238E27FC236}">
                <a16:creationId xmlns:a16="http://schemas.microsoft.com/office/drawing/2014/main" id="{78EC4A7F-3231-4C5C-B573-B036B565128D}"/>
              </a:ext>
            </a:extLst>
          </p:cNvPr>
          <p:cNvSpPr>
            <a:spLocks noGrp="1"/>
          </p:cNvSpPr>
          <p:nvPr/>
        </p:nvSpPr>
        <p:spPr>
          <a:xfrm>
            <a:off x="1620000" y="20520000"/>
            <a:ext cx="7668000" cy="2520000"/>
          </a:xfrm>
          <a:custGeom>
            <a:avLst/>
            <a:gdLst/>
            <a:ahLst/>
            <a:cxnLst/>
            <a:rect l="0" t="0" r="0" b="0"/>
            <a:pathLst>
              <a:path w="7668000" h="2520000">
                <a:moveTo>
                  <a:pt x="7668000" y="2304000"/>
                </a:moveTo>
                <a:lnTo>
                  <a:pt x="7668000" y="2520000"/>
                </a:lnTo>
                <a:lnTo>
                  <a:pt x="0" y="2520000"/>
                </a:lnTo>
                <a:lnTo>
                  <a:pt x="0" y="0"/>
                </a:lnTo>
              </a:path>
            </a:pathLst>
          </a:custGeom>
          <a:noFill/>
          <a:ln w="13970">
            <a:solidFill>
              <a:srgbClr val="78A9B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state-feedback-loop-arrowhead-54">
            <a:extLst>
              <a:ext uri="{FF2B5EF4-FFF2-40B4-BE49-F238E27FC236}">
                <a16:creationId xmlns:a16="http://schemas.microsoft.com/office/drawing/2014/main" id="{4130D883-332D-4365-930C-D0FA80BEFAE1}"/>
              </a:ext>
            </a:extLst>
          </p:cNvPr>
          <p:cNvSpPr>
            <a:spLocks noGrp="1"/>
          </p:cNvSpPr>
          <p:nvPr/>
        </p:nvSpPr>
        <p:spPr>
          <a:xfrm>
            <a:off x="1571472" y="20520000"/>
            <a:ext cx="97056" cy="100260"/>
          </a:xfrm>
          <a:custGeom>
            <a:avLst/>
            <a:gdLst/>
            <a:ahLst/>
            <a:cxnLst/>
            <a:rect l="0" t="0" r="0" b="0"/>
            <a:pathLst>
              <a:path w="97056" h="100260">
                <a:moveTo>
                  <a:pt x="48528" y="0"/>
                </a:moveTo>
                <a:lnTo>
                  <a:pt x="0" y="100260"/>
                </a:lnTo>
                <a:lnTo>
                  <a:pt x="97056" y="100260"/>
                </a:lnTo>
                <a:close/>
              </a:path>
            </a:pathLst>
          </a:custGeom>
          <a:solidFill>
            <a:srgbClr val="78A9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5" name="state-feedback-label">
            <a:extLst>
              <a:ext uri="{FF2B5EF4-FFF2-40B4-BE49-F238E27FC236}">
                <a16:creationId xmlns:a16="http://schemas.microsoft.com/office/drawing/2014/main" id="{510F62DC-AE8F-4DE0-97D6-47396F8BC56B}"/>
              </a:ext>
            </a:extLst>
          </p:cNvPr>
          <p:cNvSpPr>
            <a:spLocks noGrp="1"/>
          </p:cNvSpPr>
          <p:nvPr/>
        </p:nvSpPr>
        <p:spPr>
          <a:xfrm>
            <a:off x="2808000" y="22680000"/>
            <a:ext cx="5076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State Feedback (q, q̇, θ, θ̇)</a:t>
            </a:r>
          </a:p>
        </p:txBody>
      </p:sp>
      <p:graphicFrame>
        <p:nvGraphicFramePr>
          <p:cNvPr id="517" name="Chart"/>
          <p:cNvGraphicFramePr/>
          <p:nvPr>
            <p:extLst>
              <p:ext uri="{D42A27DB-BD31-4B8C-83A1-F6EECF244321}">
                <p14:modId xmlns:p14="http://schemas.microsoft.com/office/powerpoint/2010/main" val="3746488910"/>
              </p:ext>
            </p:extLst>
          </p:nvPr>
        </p:nvGraphicFramePr>
        <p:xfrm>
          <a:off x="11232000" y="18900000"/>
          <a:ext cx="9252000" cy="20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18" name="Chart"/>
          <p:cNvGraphicFramePr/>
          <p:nvPr>
            <p:extLst>
              <p:ext uri="{D42A27DB-BD31-4B8C-83A1-F6EECF244321}">
                <p14:modId xmlns:p14="http://schemas.microsoft.com/office/powerpoint/2010/main" val="2508278512"/>
              </p:ext>
            </p:extLst>
          </p:nvPr>
        </p:nvGraphicFramePr>
        <p:xfrm>
          <a:off x="11232000" y="21096000"/>
          <a:ext cx="9252000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8" name="predefined-target-line">
            <a:extLst>
              <a:ext uri="{FF2B5EF4-FFF2-40B4-BE49-F238E27FC236}">
                <a16:creationId xmlns:a16="http://schemas.microsoft.com/office/drawing/2014/main" id="{43A875FD-364F-4BAA-91D0-4E9D5BDA1442}"/>
              </a:ext>
            </a:extLst>
          </p:cNvPr>
          <p:cNvSpPr>
            <a:spLocks noGrp="1"/>
          </p:cNvSpPr>
          <p:nvPr/>
        </p:nvSpPr>
        <p:spPr>
          <a:xfrm>
            <a:off x="17529466" y="21635053"/>
            <a:ext cx="0" cy="537474"/>
          </a:xfrm>
          <a:prstGeom prst="line">
            <a:avLst/>
          </a:prstGeom>
          <a:noFill/>
          <a:ln w="13970">
            <a:solidFill>
              <a:srgbClr val="6B7E9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predefined-target-label">
            <a:extLst>
              <a:ext uri="{FF2B5EF4-FFF2-40B4-BE49-F238E27FC236}">
                <a16:creationId xmlns:a16="http://schemas.microsoft.com/office/drawing/2014/main" id="{CD7ED3EA-DE5C-4033-A02A-DE3DF3136BDB}"/>
              </a:ext>
            </a:extLst>
          </p:cNvPr>
          <p:cNvSpPr>
            <a:spLocks noGrp="1"/>
          </p:cNvSpPr>
          <p:nvPr/>
        </p:nvSpPr>
        <p:spPr>
          <a:xfrm>
            <a:off x="17446752" y="21372252"/>
            <a:ext cx="342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↓ Predefined 10% target</a:t>
            </a:r>
          </a:p>
        </p:txBody>
      </p:sp>
      <p:sp>
        <p:nvSpPr>
          <p:cNvPr id="310" name="copy-55">
            <a:extLst>
              <a:ext uri="{FF2B5EF4-FFF2-40B4-BE49-F238E27FC236}">
                <a16:creationId xmlns:a16="http://schemas.microsoft.com/office/drawing/2014/main" id="{C480CF54-6832-4694-B46C-6E80BBEB852C}"/>
              </a:ext>
            </a:extLst>
          </p:cNvPr>
          <p:cNvSpPr>
            <a:spLocks noGrp="1"/>
          </p:cNvSpPr>
          <p:nvPr/>
        </p:nvSpPr>
        <p:spPr>
          <a:xfrm>
            <a:off x="900000" y="23256000"/>
            <a:ext cx="19584000" cy="82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73149"/>
                </a:solidFill>
              </a:rPr>
              <a:t>Key Result: </a:t>
            </a:r>
            <a:r>
              <a:rPr lang="en-US" dirty="0"/>
              <a:t>Full residual beats the 10% target (</a:t>
            </a:r>
            <a:r>
              <a:rPr lang="en-US" b="1" dirty="0">
                <a:solidFill>
                  <a:srgbClr val="173149"/>
                </a:solidFill>
              </a:rPr>
              <a:t>12.42%</a:t>
            </a:r>
            <a:r>
              <a:rPr lang="en-US" dirty="0"/>
              <a:t> faster recovery). Masking leg residuals removes </a:t>
            </a:r>
            <a:r>
              <a:rPr lang="en-US" b="1" dirty="0">
                <a:solidFill>
                  <a:srgbClr val="173149"/>
                </a:solidFill>
              </a:rPr>
              <a:t>~70% of the learning benefit</a:t>
            </a:r>
            <a:r>
              <a:rPr lang="en-US" dirty="0"/>
              <a:t>: the gain falls to </a:t>
            </a:r>
            <a:r>
              <a:rPr lang="en-US" b="1" dirty="0">
                <a:solidFill>
                  <a:srgbClr val="173149"/>
                </a:solidFill>
              </a:rPr>
              <a:t>3.82%</a:t>
            </a:r>
            <a:r>
              <a:rPr lang="en-US" dirty="0"/>
              <a:t>, showing wheel–leg coordination matters.</a:t>
            </a:r>
            <a:endParaRPr dirty="0"/>
          </a:p>
        </p:txBody>
      </p:sp>
      <p:sp>
        <p:nvSpPr>
          <p:cNvPr id="311" name="copy-56">
            <a:extLst>
              <a:ext uri="{FF2B5EF4-FFF2-40B4-BE49-F238E27FC236}">
                <a16:creationId xmlns:a16="http://schemas.microsoft.com/office/drawing/2014/main" id="{2AC05731-8A74-462E-9C82-5B72DDAABA4C}"/>
              </a:ext>
            </a:extLst>
          </p:cNvPr>
          <p:cNvSpPr>
            <a:spLocks noGrp="1"/>
          </p:cNvSpPr>
          <p:nvPr/>
        </p:nvSpPr>
        <p:spPr>
          <a:xfrm>
            <a:off x="900000" y="24120000"/>
            <a:ext cx="19584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Simulation · one training seed · 128 events per arm · same checkpoint, evaluation-time masking · own matched baselines</a:t>
            </a:r>
          </a:p>
        </p:txBody>
      </p:sp>
      <p:sp>
        <p:nvSpPr>
          <p:cNvPr id="312" name="line-57">
            <a:extLst>
              <a:ext uri="{FF2B5EF4-FFF2-40B4-BE49-F238E27FC236}">
                <a16:creationId xmlns:a16="http://schemas.microsoft.com/office/drawing/2014/main" id="{DCCC380D-CF5E-41D9-9A2F-7BF9A49E6CD2}"/>
              </a:ext>
            </a:extLst>
          </p:cNvPr>
          <p:cNvSpPr>
            <a:spLocks noGrp="1"/>
          </p:cNvSpPr>
          <p:nvPr/>
        </p:nvSpPr>
        <p:spPr>
          <a:xfrm>
            <a:off x="900000" y="24516000"/>
            <a:ext cx="19584000" cy="0"/>
          </a:xfrm>
          <a:prstGeom prst="line">
            <a:avLst/>
          </a:prstGeom>
          <a:noFill/>
          <a:ln w="15240">
            <a:solidFill>
              <a:srgbClr val="0022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" name="copy-58">
            <a:extLst>
              <a:ext uri="{FF2B5EF4-FFF2-40B4-BE49-F238E27FC236}">
                <a16:creationId xmlns:a16="http://schemas.microsoft.com/office/drawing/2014/main" id="{5CE661F3-0B40-4308-9CA0-A204E2B321CC}"/>
              </a:ext>
            </a:extLst>
          </p:cNvPr>
          <p:cNvSpPr>
            <a:spLocks noGrp="1"/>
          </p:cNvSpPr>
          <p:nvPr/>
        </p:nvSpPr>
        <p:spPr>
          <a:xfrm>
            <a:off x="900000" y="24696000"/>
            <a:ext cx="13932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03  Operational boundary: delay &amp; noise</a:t>
            </a:r>
          </a:p>
        </p:txBody>
      </p:sp>
      <p:sp>
        <p:nvSpPr>
          <p:cNvPr id="314" name="copy-59">
            <a:extLst>
              <a:ext uri="{FF2B5EF4-FFF2-40B4-BE49-F238E27FC236}">
                <a16:creationId xmlns:a16="http://schemas.microsoft.com/office/drawing/2014/main" id="{98CCCAD4-4F10-4817-80E4-F424B9B6F660}"/>
              </a:ext>
            </a:extLst>
          </p:cNvPr>
          <p:cNvSpPr>
            <a:spLocks noGrp="1"/>
          </p:cNvSpPr>
          <p:nvPr/>
        </p:nvSpPr>
        <p:spPr>
          <a:xfrm>
            <a:off x="900000" y="25272000"/>
            <a:ext cx="13932000" cy="28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lang="en-US" sz="17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Termination events (lower is better) · dashed box = ≤40 ms safe zone · scale 0–22</a:t>
            </a:r>
            <a:endParaRPr sz="1700" b="0">
              <a:solidFill>
                <a:srgbClr val="6B7E9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copy-60">
            <a:extLst>
              <a:ext uri="{FF2B5EF4-FFF2-40B4-BE49-F238E27FC236}">
                <a16:creationId xmlns:a16="http://schemas.microsoft.com/office/drawing/2014/main" id="{BC8A4985-F23A-44BF-9391-F20FE5D351E7}"/>
              </a:ext>
            </a:extLst>
          </p:cNvPr>
          <p:cNvSpPr>
            <a:spLocks noGrp="1"/>
          </p:cNvSpPr>
          <p:nvPr/>
        </p:nvSpPr>
        <p:spPr>
          <a:xfrm>
            <a:off x="900000" y="26014680"/>
            <a:ext cx="24120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316" name="copy-61">
            <a:extLst>
              <a:ext uri="{FF2B5EF4-FFF2-40B4-BE49-F238E27FC236}">
                <a16:creationId xmlns:a16="http://schemas.microsoft.com/office/drawing/2014/main" id="{237A4E35-84F6-46D9-AF9E-823C26F82695}"/>
              </a:ext>
            </a:extLst>
          </p:cNvPr>
          <p:cNvSpPr>
            <a:spLocks noGrp="1"/>
          </p:cNvSpPr>
          <p:nvPr/>
        </p:nvSpPr>
        <p:spPr>
          <a:xfrm>
            <a:off x="900000" y="26362152"/>
            <a:ext cx="24120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17" name="copy-62">
            <a:extLst>
              <a:ext uri="{FF2B5EF4-FFF2-40B4-BE49-F238E27FC236}">
                <a16:creationId xmlns:a16="http://schemas.microsoft.com/office/drawing/2014/main" id="{2DC61BAB-F351-4E6C-B687-0BAA17DAE4E7}"/>
              </a:ext>
            </a:extLst>
          </p:cNvPr>
          <p:cNvSpPr>
            <a:spLocks noGrp="1"/>
          </p:cNvSpPr>
          <p:nvPr/>
        </p:nvSpPr>
        <p:spPr>
          <a:xfrm>
            <a:off x="900000" y="26709624"/>
            <a:ext cx="24120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MEMS IMU</a:t>
            </a:r>
          </a:p>
        </p:txBody>
      </p:sp>
      <p:sp>
        <p:nvSpPr>
          <p:cNvPr id="318" name="copy-63">
            <a:extLst>
              <a:ext uri="{FF2B5EF4-FFF2-40B4-BE49-F238E27FC236}">
                <a16:creationId xmlns:a16="http://schemas.microsoft.com/office/drawing/2014/main" id="{23BB80CA-B5B3-4A3B-A1FC-B89FA33AE290}"/>
              </a:ext>
            </a:extLst>
          </p:cNvPr>
          <p:cNvSpPr>
            <a:spLocks noGrp="1"/>
          </p:cNvSpPr>
          <p:nvPr/>
        </p:nvSpPr>
        <p:spPr>
          <a:xfrm>
            <a:off x="900000" y="27057096"/>
            <a:ext cx="24120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73149"/>
                </a:solidFill>
                <a:latin typeface="Arial"/>
                <a:ea typeface="Arial"/>
                <a:cs typeface="Arial"/>
              </a:rPr>
              <a:t>MEMS IMU ×2</a:t>
            </a:r>
          </a:p>
        </p:txBody>
      </p:sp>
      <p:sp>
        <p:nvSpPr>
          <p:cNvPr id="319" name="copy-64">
            <a:extLst>
              <a:ext uri="{FF2B5EF4-FFF2-40B4-BE49-F238E27FC236}">
                <a16:creationId xmlns:a16="http://schemas.microsoft.com/office/drawing/2014/main" id="{D254B411-066F-47F0-80B3-FC360FA19B1E}"/>
              </a:ext>
            </a:extLst>
          </p:cNvPr>
          <p:cNvSpPr>
            <a:spLocks noGrp="1"/>
          </p:cNvSpPr>
          <p:nvPr/>
        </p:nvSpPr>
        <p:spPr>
          <a:xfrm>
            <a:off x="3384000" y="25584912"/>
            <a:ext cx="4608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320" name="heat-zero_residual-0-0">
            <a:extLst>
              <a:ext uri="{FF2B5EF4-FFF2-40B4-BE49-F238E27FC236}">
                <a16:creationId xmlns:a16="http://schemas.microsoft.com/office/drawing/2014/main" id="{D23E33E5-C71A-4EA8-BFE6-6890163A8EB0}"/>
              </a:ext>
            </a:extLst>
          </p:cNvPr>
          <p:cNvSpPr>
            <a:spLocks noGrp="1"/>
          </p:cNvSpPr>
          <p:nvPr/>
        </p:nvSpPr>
        <p:spPr>
          <a:xfrm>
            <a:off x="33840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1" name="copy-65">
            <a:extLst>
              <a:ext uri="{FF2B5EF4-FFF2-40B4-BE49-F238E27FC236}">
                <a16:creationId xmlns:a16="http://schemas.microsoft.com/office/drawing/2014/main" id="{5412DF46-AA74-453D-A5B5-82176ABC0AFB}"/>
              </a:ext>
            </a:extLst>
          </p:cNvPr>
          <p:cNvSpPr>
            <a:spLocks noGrp="1"/>
          </p:cNvSpPr>
          <p:nvPr/>
        </p:nvSpPr>
        <p:spPr>
          <a:xfrm>
            <a:off x="33840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2" name="heat-zero_residual-0-1">
            <a:extLst>
              <a:ext uri="{FF2B5EF4-FFF2-40B4-BE49-F238E27FC236}">
                <a16:creationId xmlns:a16="http://schemas.microsoft.com/office/drawing/2014/main" id="{AC7FC41A-8BC7-4E9F-A6F7-BAFD68292B7C}"/>
              </a:ext>
            </a:extLst>
          </p:cNvPr>
          <p:cNvSpPr>
            <a:spLocks noGrp="1"/>
          </p:cNvSpPr>
          <p:nvPr/>
        </p:nvSpPr>
        <p:spPr>
          <a:xfrm>
            <a:off x="43056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copy-66">
            <a:extLst>
              <a:ext uri="{FF2B5EF4-FFF2-40B4-BE49-F238E27FC236}">
                <a16:creationId xmlns:a16="http://schemas.microsoft.com/office/drawing/2014/main" id="{57575D5D-77CA-4ACC-94C7-00A617BE1410}"/>
              </a:ext>
            </a:extLst>
          </p:cNvPr>
          <p:cNvSpPr>
            <a:spLocks noGrp="1"/>
          </p:cNvSpPr>
          <p:nvPr/>
        </p:nvSpPr>
        <p:spPr>
          <a:xfrm>
            <a:off x="43056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4" name="heat-zero_residual-0-2">
            <a:extLst>
              <a:ext uri="{FF2B5EF4-FFF2-40B4-BE49-F238E27FC236}">
                <a16:creationId xmlns:a16="http://schemas.microsoft.com/office/drawing/2014/main" id="{3F88E0AC-F328-4CD8-8ADB-C079AEF57986}"/>
              </a:ext>
            </a:extLst>
          </p:cNvPr>
          <p:cNvSpPr>
            <a:spLocks noGrp="1"/>
          </p:cNvSpPr>
          <p:nvPr/>
        </p:nvSpPr>
        <p:spPr>
          <a:xfrm>
            <a:off x="52272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copy-67">
            <a:extLst>
              <a:ext uri="{FF2B5EF4-FFF2-40B4-BE49-F238E27FC236}">
                <a16:creationId xmlns:a16="http://schemas.microsoft.com/office/drawing/2014/main" id="{FC2CDFE4-A878-438A-8667-5A5E6F72B5A8}"/>
              </a:ext>
            </a:extLst>
          </p:cNvPr>
          <p:cNvSpPr>
            <a:spLocks noGrp="1"/>
          </p:cNvSpPr>
          <p:nvPr/>
        </p:nvSpPr>
        <p:spPr>
          <a:xfrm>
            <a:off x="52272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6" name="heat-zero_residual-0-3">
            <a:extLst>
              <a:ext uri="{FF2B5EF4-FFF2-40B4-BE49-F238E27FC236}">
                <a16:creationId xmlns:a16="http://schemas.microsoft.com/office/drawing/2014/main" id="{C5039493-CCDC-46B9-9C58-6E8F59698077}"/>
              </a:ext>
            </a:extLst>
          </p:cNvPr>
          <p:cNvSpPr>
            <a:spLocks noGrp="1"/>
          </p:cNvSpPr>
          <p:nvPr/>
        </p:nvSpPr>
        <p:spPr>
          <a:xfrm>
            <a:off x="61488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" name="copy-68">
            <a:extLst>
              <a:ext uri="{FF2B5EF4-FFF2-40B4-BE49-F238E27FC236}">
                <a16:creationId xmlns:a16="http://schemas.microsoft.com/office/drawing/2014/main" id="{E15B8CD9-2257-40A6-AE1D-AADAD4A20848}"/>
              </a:ext>
            </a:extLst>
          </p:cNvPr>
          <p:cNvSpPr>
            <a:spLocks noGrp="1"/>
          </p:cNvSpPr>
          <p:nvPr/>
        </p:nvSpPr>
        <p:spPr>
          <a:xfrm>
            <a:off x="61488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8" name="heat-zero_residual-0-4">
            <a:extLst>
              <a:ext uri="{FF2B5EF4-FFF2-40B4-BE49-F238E27FC236}">
                <a16:creationId xmlns:a16="http://schemas.microsoft.com/office/drawing/2014/main" id="{F84B3607-C654-44DD-85E7-57855AB30F1E}"/>
              </a:ext>
            </a:extLst>
          </p:cNvPr>
          <p:cNvSpPr>
            <a:spLocks noGrp="1"/>
          </p:cNvSpPr>
          <p:nvPr/>
        </p:nvSpPr>
        <p:spPr>
          <a:xfrm>
            <a:off x="70704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copy-69">
            <a:extLst>
              <a:ext uri="{FF2B5EF4-FFF2-40B4-BE49-F238E27FC236}">
                <a16:creationId xmlns:a16="http://schemas.microsoft.com/office/drawing/2014/main" id="{284DC8CF-B394-439E-BD8C-5F79375E6A02}"/>
              </a:ext>
            </a:extLst>
          </p:cNvPr>
          <p:cNvSpPr>
            <a:spLocks noGrp="1"/>
          </p:cNvSpPr>
          <p:nvPr/>
        </p:nvSpPr>
        <p:spPr>
          <a:xfrm>
            <a:off x="70704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0" name="heat-zero_residual-1-0">
            <a:extLst>
              <a:ext uri="{FF2B5EF4-FFF2-40B4-BE49-F238E27FC236}">
                <a16:creationId xmlns:a16="http://schemas.microsoft.com/office/drawing/2014/main" id="{4AE53E9B-0A05-4493-AB4D-8CA6CE96DC6F}"/>
              </a:ext>
            </a:extLst>
          </p:cNvPr>
          <p:cNvSpPr>
            <a:spLocks noGrp="1"/>
          </p:cNvSpPr>
          <p:nvPr/>
        </p:nvSpPr>
        <p:spPr>
          <a:xfrm>
            <a:off x="33840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copy-70">
            <a:extLst>
              <a:ext uri="{FF2B5EF4-FFF2-40B4-BE49-F238E27FC236}">
                <a16:creationId xmlns:a16="http://schemas.microsoft.com/office/drawing/2014/main" id="{F680270E-E37E-444F-B1E0-95C68DEE0773}"/>
              </a:ext>
            </a:extLst>
          </p:cNvPr>
          <p:cNvSpPr>
            <a:spLocks noGrp="1"/>
          </p:cNvSpPr>
          <p:nvPr/>
        </p:nvSpPr>
        <p:spPr>
          <a:xfrm>
            <a:off x="33840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2" name="heat-zero_residual-1-1">
            <a:extLst>
              <a:ext uri="{FF2B5EF4-FFF2-40B4-BE49-F238E27FC236}">
                <a16:creationId xmlns:a16="http://schemas.microsoft.com/office/drawing/2014/main" id="{C3E9AE2C-26AF-463E-926C-7AAE8291DF85}"/>
              </a:ext>
            </a:extLst>
          </p:cNvPr>
          <p:cNvSpPr>
            <a:spLocks noGrp="1"/>
          </p:cNvSpPr>
          <p:nvPr/>
        </p:nvSpPr>
        <p:spPr>
          <a:xfrm>
            <a:off x="43056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3" name="copy-71">
            <a:extLst>
              <a:ext uri="{FF2B5EF4-FFF2-40B4-BE49-F238E27FC236}">
                <a16:creationId xmlns:a16="http://schemas.microsoft.com/office/drawing/2014/main" id="{F48E5E9B-E498-4B2D-A599-0B7DE8AE1344}"/>
              </a:ext>
            </a:extLst>
          </p:cNvPr>
          <p:cNvSpPr>
            <a:spLocks noGrp="1"/>
          </p:cNvSpPr>
          <p:nvPr/>
        </p:nvSpPr>
        <p:spPr>
          <a:xfrm>
            <a:off x="43056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4" name="heat-zero_residual-1-2">
            <a:extLst>
              <a:ext uri="{FF2B5EF4-FFF2-40B4-BE49-F238E27FC236}">
                <a16:creationId xmlns:a16="http://schemas.microsoft.com/office/drawing/2014/main" id="{D9C69C60-7D0C-49B0-97C0-799B97117BE4}"/>
              </a:ext>
            </a:extLst>
          </p:cNvPr>
          <p:cNvSpPr>
            <a:spLocks noGrp="1"/>
          </p:cNvSpPr>
          <p:nvPr/>
        </p:nvSpPr>
        <p:spPr>
          <a:xfrm>
            <a:off x="52272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copy-72">
            <a:extLst>
              <a:ext uri="{FF2B5EF4-FFF2-40B4-BE49-F238E27FC236}">
                <a16:creationId xmlns:a16="http://schemas.microsoft.com/office/drawing/2014/main" id="{5014C87F-4404-4D7B-BB28-8F537848BAD7}"/>
              </a:ext>
            </a:extLst>
          </p:cNvPr>
          <p:cNvSpPr>
            <a:spLocks noGrp="1"/>
          </p:cNvSpPr>
          <p:nvPr/>
        </p:nvSpPr>
        <p:spPr>
          <a:xfrm>
            <a:off x="52272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6" name="heat-zero_residual-1-3">
            <a:extLst>
              <a:ext uri="{FF2B5EF4-FFF2-40B4-BE49-F238E27FC236}">
                <a16:creationId xmlns:a16="http://schemas.microsoft.com/office/drawing/2014/main" id="{BB3E8425-131C-4C0B-BE6C-834B28CDB8FD}"/>
              </a:ext>
            </a:extLst>
          </p:cNvPr>
          <p:cNvSpPr>
            <a:spLocks noGrp="1"/>
          </p:cNvSpPr>
          <p:nvPr/>
        </p:nvSpPr>
        <p:spPr>
          <a:xfrm>
            <a:off x="61488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copy-73">
            <a:extLst>
              <a:ext uri="{FF2B5EF4-FFF2-40B4-BE49-F238E27FC236}">
                <a16:creationId xmlns:a16="http://schemas.microsoft.com/office/drawing/2014/main" id="{870E8A65-E2A4-44CB-BA60-6A45740308CD}"/>
              </a:ext>
            </a:extLst>
          </p:cNvPr>
          <p:cNvSpPr>
            <a:spLocks noGrp="1"/>
          </p:cNvSpPr>
          <p:nvPr/>
        </p:nvSpPr>
        <p:spPr>
          <a:xfrm>
            <a:off x="61488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8" name="heat-zero_residual-1-4">
            <a:extLst>
              <a:ext uri="{FF2B5EF4-FFF2-40B4-BE49-F238E27FC236}">
                <a16:creationId xmlns:a16="http://schemas.microsoft.com/office/drawing/2014/main" id="{BEB6E05A-0D0A-49E2-AE02-9CE2A649EEE7}"/>
              </a:ext>
            </a:extLst>
          </p:cNvPr>
          <p:cNvSpPr>
            <a:spLocks noGrp="1"/>
          </p:cNvSpPr>
          <p:nvPr/>
        </p:nvSpPr>
        <p:spPr>
          <a:xfrm>
            <a:off x="70704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copy-74">
            <a:extLst>
              <a:ext uri="{FF2B5EF4-FFF2-40B4-BE49-F238E27FC236}">
                <a16:creationId xmlns:a16="http://schemas.microsoft.com/office/drawing/2014/main" id="{52F29E65-D3B2-4692-9165-602E4595B8B4}"/>
              </a:ext>
            </a:extLst>
          </p:cNvPr>
          <p:cNvSpPr>
            <a:spLocks noGrp="1"/>
          </p:cNvSpPr>
          <p:nvPr/>
        </p:nvSpPr>
        <p:spPr>
          <a:xfrm>
            <a:off x="70704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0" name="heat-zero_residual-2-0">
            <a:extLst>
              <a:ext uri="{FF2B5EF4-FFF2-40B4-BE49-F238E27FC236}">
                <a16:creationId xmlns:a16="http://schemas.microsoft.com/office/drawing/2014/main" id="{5CF5BF11-661D-4582-9405-399B2CAE0843}"/>
              </a:ext>
            </a:extLst>
          </p:cNvPr>
          <p:cNvSpPr>
            <a:spLocks noGrp="1"/>
          </p:cNvSpPr>
          <p:nvPr/>
        </p:nvSpPr>
        <p:spPr>
          <a:xfrm>
            <a:off x="33840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1" name="copy-75">
            <a:extLst>
              <a:ext uri="{FF2B5EF4-FFF2-40B4-BE49-F238E27FC236}">
                <a16:creationId xmlns:a16="http://schemas.microsoft.com/office/drawing/2014/main" id="{F9563F07-958F-4B73-A6FA-EE25A58510B3}"/>
              </a:ext>
            </a:extLst>
          </p:cNvPr>
          <p:cNvSpPr>
            <a:spLocks noGrp="1"/>
          </p:cNvSpPr>
          <p:nvPr/>
        </p:nvSpPr>
        <p:spPr>
          <a:xfrm>
            <a:off x="33840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2" name="heat-zero_residual-2-1">
            <a:extLst>
              <a:ext uri="{FF2B5EF4-FFF2-40B4-BE49-F238E27FC236}">
                <a16:creationId xmlns:a16="http://schemas.microsoft.com/office/drawing/2014/main" id="{5E8B83FB-0CF7-4F17-A9A1-B5E3D50C0B8E}"/>
              </a:ext>
            </a:extLst>
          </p:cNvPr>
          <p:cNvSpPr>
            <a:spLocks noGrp="1"/>
          </p:cNvSpPr>
          <p:nvPr/>
        </p:nvSpPr>
        <p:spPr>
          <a:xfrm>
            <a:off x="43056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copy-76">
            <a:extLst>
              <a:ext uri="{FF2B5EF4-FFF2-40B4-BE49-F238E27FC236}">
                <a16:creationId xmlns:a16="http://schemas.microsoft.com/office/drawing/2014/main" id="{14C03C7C-675E-4129-9044-A078CB161C3C}"/>
              </a:ext>
            </a:extLst>
          </p:cNvPr>
          <p:cNvSpPr>
            <a:spLocks noGrp="1"/>
          </p:cNvSpPr>
          <p:nvPr/>
        </p:nvSpPr>
        <p:spPr>
          <a:xfrm>
            <a:off x="43056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4" name="heat-zero_residual-2-2">
            <a:extLst>
              <a:ext uri="{FF2B5EF4-FFF2-40B4-BE49-F238E27FC236}">
                <a16:creationId xmlns:a16="http://schemas.microsoft.com/office/drawing/2014/main" id="{30178D08-A92A-4965-8CD5-FC4B09F8CC3B}"/>
              </a:ext>
            </a:extLst>
          </p:cNvPr>
          <p:cNvSpPr>
            <a:spLocks noGrp="1"/>
          </p:cNvSpPr>
          <p:nvPr/>
        </p:nvSpPr>
        <p:spPr>
          <a:xfrm>
            <a:off x="52272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5" name="copy-77">
            <a:extLst>
              <a:ext uri="{FF2B5EF4-FFF2-40B4-BE49-F238E27FC236}">
                <a16:creationId xmlns:a16="http://schemas.microsoft.com/office/drawing/2014/main" id="{84CDF7F5-AE9B-4005-860C-A5D25C0AC643}"/>
              </a:ext>
            </a:extLst>
          </p:cNvPr>
          <p:cNvSpPr>
            <a:spLocks noGrp="1"/>
          </p:cNvSpPr>
          <p:nvPr/>
        </p:nvSpPr>
        <p:spPr>
          <a:xfrm>
            <a:off x="52272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6" name="heat-zero_residual-2-3">
            <a:extLst>
              <a:ext uri="{FF2B5EF4-FFF2-40B4-BE49-F238E27FC236}">
                <a16:creationId xmlns:a16="http://schemas.microsoft.com/office/drawing/2014/main" id="{E78CE454-515D-496B-9874-D13FDEA404D6}"/>
              </a:ext>
            </a:extLst>
          </p:cNvPr>
          <p:cNvSpPr>
            <a:spLocks noGrp="1"/>
          </p:cNvSpPr>
          <p:nvPr/>
        </p:nvSpPr>
        <p:spPr>
          <a:xfrm>
            <a:off x="61488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7" name="copy-78">
            <a:extLst>
              <a:ext uri="{FF2B5EF4-FFF2-40B4-BE49-F238E27FC236}">
                <a16:creationId xmlns:a16="http://schemas.microsoft.com/office/drawing/2014/main" id="{11DF23B1-5360-4FE6-9050-A9C107A6122C}"/>
              </a:ext>
            </a:extLst>
          </p:cNvPr>
          <p:cNvSpPr>
            <a:spLocks noGrp="1"/>
          </p:cNvSpPr>
          <p:nvPr/>
        </p:nvSpPr>
        <p:spPr>
          <a:xfrm>
            <a:off x="61488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8" name="heat-zero_residual-2-4">
            <a:extLst>
              <a:ext uri="{FF2B5EF4-FFF2-40B4-BE49-F238E27FC236}">
                <a16:creationId xmlns:a16="http://schemas.microsoft.com/office/drawing/2014/main" id="{335BA8B4-3C2E-4B29-898E-AC21B36BFF91}"/>
              </a:ext>
            </a:extLst>
          </p:cNvPr>
          <p:cNvSpPr>
            <a:spLocks noGrp="1"/>
          </p:cNvSpPr>
          <p:nvPr/>
        </p:nvSpPr>
        <p:spPr>
          <a:xfrm>
            <a:off x="7070400" y="26709624"/>
            <a:ext cx="885600" cy="329184"/>
          </a:xfrm>
          <a:prstGeom prst="rect">
            <a:avLst/>
          </a:prstGeom>
          <a:solidFill>
            <a:srgbClr val="EEB48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copy-79">
            <a:extLst>
              <a:ext uri="{FF2B5EF4-FFF2-40B4-BE49-F238E27FC236}">
                <a16:creationId xmlns:a16="http://schemas.microsoft.com/office/drawing/2014/main" id="{BC38ADCF-EF51-42F8-A47C-B02E1DB83C46}"/>
              </a:ext>
            </a:extLst>
          </p:cNvPr>
          <p:cNvSpPr>
            <a:spLocks noGrp="1"/>
          </p:cNvSpPr>
          <p:nvPr/>
        </p:nvSpPr>
        <p:spPr>
          <a:xfrm>
            <a:off x="70704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0" name="heat-zero_residual-3-0">
            <a:extLst>
              <a:ext uri="{FF2B5EF4-FFF2-40B4-BE49-F238E27FC236}">
                <a16:creationId xmlns:a16="http://schemas.microsoft.com/office/drawing/2014/main" id="{FDF6E8D8-7159-4525-A88A-43FD887A8424}"/>
              </a:ext>
            </a:extLst>
          </p:cNvPr>
          <p:cNvSpPr>
            <a:spLocks noGrp="1"/>
          </p:cNvSpPr>
          <p:nvPr/>
        </p:nvSpPr>
        <p:spPr>
          <a:xfrm>
            <a:off x="33840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copy-80">
            <a:extLst>
              <a:ext uri="{FF2B5EF4-FFF2-40B4-BE49-F238E27FC236}">
                <a16:creationId xmlns:a16="http://schemas.microsoft.com/office/drawing/2014/main" id="{9A7BC340-3B75-4B5F-8E5E-2C1D561917D3}"/>
              </a:ext>
            </a:extLst>
          </p:cNvPr>
          <p:cNvSpPr>
            <a:spLocks noGrp="1"/>
          </p:cNvSpPr>
          <p:nvPr/>
        </p:nvSpPr>
        <p:spPr>
          <a:xfrm>
            <a:off x="33840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2" name="heat-zero_residual-3-1">
            <a:extLst>
              <a:ext uri="{FF2B5EF4-FFF2-40B4-BE49-F238E27FC236}">
                <a16:creationId xmlns:a16="http://schemas.microsoft.com/office/drawing/2014/main" id="{BF95D26A-B639-4091-A119-C979A6663C45}"/>
              </a:ext>
            </a:extLst>
          </p:cNvPr>
          <p:cNvSpPr>
            <a:spLocks noGrp="1"/>
          </p:cNvSpPr>
          <p:nvPr/>
        </p:nvSpPr>
        <p:spPr>
          <a:xfrm>
            <a:off x="43056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3" name="copy-81">
            <a:extLst>
              <a:ext uri="{FF2B5EF4-FFF2-40B4-BE49-F238E27FC236}">
                <a16:creationId xmlns:a16="http://schemas.microsoft.com/office/drawing/2014/main" id="{CFFF71F3-9CC7-49EA-9E6F-8C3C9B7AB35A}"/>
              </a:ext>
            </a:extLst>
          </p:cNvPr>
          <p:cNvSpPr>
            <a:spLocks noGrp="1"/>
          </p:cNvSpPr>
          <p:nvPr/>
        </p:nvSpPr>
        <p:spPr>
          <a:xfrm>
            <a:off x="43056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4" name="heat-zero_residual-3-2">
            <a:extLst>
              <a:ext uri="{FF2B5EF4-FFF2-40B4-BE49-F238E27FC236}">
                <a16:creationId xmlns:a16="http://schemas.microsoft.com/office/drawing/2014/main" id="{FBF24E9E-9C94-4D8A-ACCC-9620AA6BAC23}"/>
              </a:ext>
            </a:extLst>
          </p:cNvPr>
          <p:cNvSpPr>
            <a:spLocks noGrp="1"/>
          </p:cNvSpPr>
          <p:nvPr/>
        </p:nvSpPr>
        <p:spPr>
          <a:xfrm>
            <a:off x="52272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copy-82">
            <a:extLst>
              <a:ext uri="{FF2B5EF4-FFF2-40B4-BE49-F238E27FC236}">
                <a16:creationId xmlns:a16="http://schemas.microsoft.com/office/drawing/2014/main" id="{49587E0E-855E-4B90-A6A2-02F9BD9F69D1}"/>
              </a:ext>
            </a:extLst>
          </p:cNvPr>
          <p:cNvSpPr>
            <a:spLocks noGrp="1"/>
          </p:cNvSpPr>
          <p:nvPr/>
        </p:nvSpPr>
        <p:spPr>
          <a:xfrm>
            <a:off x="52272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6" name="heat-zero_residual-3-3">
            <a:extLst>
              <a:ext uri="{FF2B5EF4-FFF2-40B4-BE49-F238E27FC236}">
                <a16:creationId xmlns:a16="http://schemas.microsoft.com/office/drawing/2014/main" id="{6A33B80C-801E-4DEB-8FD2-838E409FBED2}"/>
              </a:ext>
            </a:extLst>
          </p:cNvPr>
          <p:cNvSpPr>
            <a:spLocks noGrp="1"/>
          </p:cNvSpPr>
          <p:nvPr/>
        </p:nvSpPr>
        <p:spPr>
          <a:xfrm>
            <a:off x="61488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copy-83">
            <a:extLst>
              <a:ext uri="{FF2B5EF4-FFF2-40B4-BE49-F238E27FC236}">
                <a16:creationId xmlns:a16="http://schemas.microsoft.com/office/drawing/2014/main" id="{2553FE36-1C2C-4A67-ADEE-8A32479D9F32}"/>
              </a:ext>
            </a:extLst>
          </p:cNvPr>
          <p:cNvSpPr>
            <a:spLocks noGrp="1"/>
          </p:cNvSpPr>
          <p:nvPr/>
        </p:nvSpPr>
        <p:spPr>
          <a:xfrm>
            <a:off x="61488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8" name="heat-zero_residual-3-4">
            <a:extLst>
              <a:ext uri="{FF2B5EF4-FFF2-40B4-BE49-F238E27FC236}">
                <a16:creationId xmlns:a16="http://schemas.microsoft.com/office/drawing/2014/main" id="{01D4B18E-7F80-4ACE-B944-2615641B8584}"/>
              </a:ext>
            </a:extLst>
          </p:cNvPr>
          <p:cNvSpPr>
            <a:spLocks noGrp="1"/>
          </p:cNvSpPr>
          <p:nvPr/>
        </p:nvSpPr>
        <p:spPr>
          <a:xfrm>
            <a:off x="7070400" y="27057096"/>
            <a:ext cx="885600" cy="329184"/>
          </a:xfrm>
          <a:prstGeom prst="rect">
            <a:avLst/>
          </a:prstGeom>
          <a:solidFill>
            <a:srgbClr val="E7A1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9" name="copy-84">
            <a:extLst>
              <a:ext uri="{FF2B5EF4-FFF2-40B4-BE49-F238E27FC236}">
                <a16:creationId xmlns:a16="http://schemas.microsoft.com/office/drawing/2014/main" id="{48FC0D1C-D74C-4450-A65B-1A1E632FE34E}"/>
              </a:ext>
            </a:extLst>
          </p:cNvPr>
          <p:cNvSpPr>
            <a:spLocks noGrp="1"/>
          </p:cNvSpPr>
          <p:nvPr/>
        </p:nvSpPr>
        <p:spPr>
          <a:xfrm>
            <a:off x="70704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0" name="copy-85">
            <a:extLst>
              <a:ext uri="{FF2B5EF4-FFF2-40B4-BE49-F238E27FC236}">
                <a16:creationId xmlns:a16="http://schemas.microsoft.com/office/drawing/2014/main" id="{DCA23416-1F57-43DD-94EB-7A530AFFA93D}"/>
              </a:ext>
            </a:extLst>
          </p:cNvPr>
          <p:cNvSpPr>
            <a:spLocks noGrp="1"/>
          </p:cNvSpPr>
          <p:nvPr/>
        </p:nvSpPr>
        <p:spPr>
          <a:xfrm>
            <a:off x="33840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1" name="copy-86">
            <a:extLst>
              <a:ext uri="{FF2B5EF4-FFF2-40B4-BE49-F238E27FC236}">
                <a16:creationId xmlns:a16="http://schemas.microsoft.com/office/drawing/2014/main" id="{4698C2D7-93FA-479F-A629-13B2D9CE05E5}"/>
              </a:ext>
            </a:extLst>
          </p:cNvPr>
          <p:cNvSpPr>
            <a:spLocks noGrp="1"/>
          </p:cNvSpPr>
          <p:nvPr/>
        </p:nvSpPr>
        <p:spPr>
          <a:xfrm>
            <a:off x="43056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62" name="copy-87">
            <a:extLst>
              <a:ext uri="{FF2B5EF4-FFF2-40B4-BE49-F238E27FC236}">
                <a16:creationId xmlns:a16="http://schemas.microsoft.com/office/drawing/2014/main" id="{7414089D-1E2D-41AE-AC69-75C874231B3B}"/>
              </a:ext>
            </a:extLst>
          </p:cNvPr>
          <p:cNvSpPr>
            <a:spLocks noGrp="1"/>
          </p:cNvSpPr>
          <p:nvPr/>
        </p:nvSpPr>
        <p:spPr>
          <a:xfrm>
            <a:off x="52272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63" name="copy-88">
            <a:extLst>
              <a:ext uri="{FF2B5EF4-FFF2-40B4-BE49-F238E27FC236}">
                <a16:creationId xmlns:a16="http://schemas.microsoft.com/office/drawing/2014/main" id="{095C6446-35D7-4778-97CA-B28B411C5A3E}"/>
              </a:ext>
            </a:extLst>
          </p:cNvPr>
          <p:cNvSpPr>
            <a:spLocks noGrp="1"/>
          </p:cNvSpPr>
          <p:nvPr/>
        </p:nvSpPr>
        <p:spPr>
          <a:xfrm>
            <a:off x="61488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64" name="copy-89">
            <a:extLst>
              <a:ext uri="{FF2B5EF4-FFF2-40B4-BE49-F238E27FC236}">
                <a16:creationId xmlns:a16="http://schemas.microsoft.com/office/drawing/2014/main" id="{34FFDB7E-AF56-47A7-8723-1C00AA8FB940}"/>
              </a:ext>
            </a:extLst>
          </p:cNvPr>
          <p:cNvSpPr>
            <a:spLocks noGrp="1"/>
          </p:cNvSpPr>
          <p:nvPr/>
        </p:nvSpPr>
        <p:spPr>
          <a:xfrm>
            <a:off x="70704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65" name="copy-90">
            <a:extLst>
              <a:ext uri="{FF2B5EF4-FFF2-40B4-BE49-F238E27FC236}">
                <a16:creationId xmlns:a16="http://schemas.microsoft.com/office/drawing/2014/main" id="{F32178C2-7B16-49FC-8636-7B5AD162308A}"/>
              </a:ext>
            </a:extLst>
          </p:cNvPr>
          <p:cNvSpPr>
            <a:spLocks noGrp="1"/>
          </p:cNvSpPr>
          <p:nvPr/>
        </p:nvSpPr>
        <p:spPr>
          <a:xfrm>
            <a:off x="8748000" y="25584912"/>
            <a:ext cx="4608000" cy="3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Hybrid</a:t>
            </a:r>
          </a:p>
        </p:txBody>
      </p:sp>
      <p:sp>
        <p:nvSpPr>
          <p:cNvPr id="366" name="heat-candidate-0-0">
            <a:extLst>
              <a:ext uri="{FF2B5EF4-FFF2-40B4-BE49-F238E27FC236}">
                <a16:creationId xmlns:a16="http://schemas.microsoft.com/office/drawing/2014/main" id="{FDE47C23-3230-4B27-B32E-FEAE673B9BD2}"/>
              </a:ext>
            </a:extLst>
          </p:cNvPr>
          <p:cNvSpPr>
            <a:spLocks noGrp="1"/>
          </p:cNvSpPr>
          <p:nvPr/>
        </p:nvSpPr>
        <p:spPr>
          <a:xfrm>
            <a:off x="87480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copy-91">
            <a:extLst>
              <a:ext uri="{FF2B5EF4-FFF2-40B4-BE49-F238E27FC236}">
                <a16:creationId xmlns:a16="http://schemas.microsoft.com/office/drawing/2014/main" id="{F042BD3E-83C4-4164-9116-E0CB5742D499}"/>
              </a:ext>
            </a:extLst>
          </p:cNvPr>
          <p:cNvSpPr>
            <a:spLocks noGrp="1"/>
          </p:cNvSpPr>
          <p:nvPr/>
        </p:nvSpPr>
        <p:spPr>
          <a:xfrm>
            <a:off x="87480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8" name="heat-candidate-0-1">
            <a:extLst>
              <a:ext uri="{FF2B5EF4-FFF2-40B4-BE49-F238E27FC236}">
                <a16:creationId xmlns:a16="http://schemas.microsoft.com/office/drawing/2014/main" id="{DF715234-EC2F-4BF8-9570-74D3CE29012A}"/>
              </a:ext>
            </a:extLst>
          </p:cNvPr>
          <p:cNvSpPr>
            <a:spLocks noGrp="1"/>
          </p:cNvSpPr>
          <p:nvPr/>
        </p:nvSpPr>
        <p:spPr>
          <a:xfrm>
            <a:off x="96696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copy-92">
            <a:extLst>
              <a:ext uri="{FF2B5EF4-FFF2-40B4-BE49-F238E27FC236}">
                <a16:creationId xmlns:a16="http://schemas.microsoft.com/office/drawing/2014/main" id="{41D8D054-F7C0-4CBF-ADE0-55F63D877AE9}"/>
              </a:ext>
            </a:extLst>
          </p:cNvPr>
          <p:cNvSpPr>
            <a:spLocks noGrp="1"/>
          </p:cNvSpPr>
          <p:nvPr/>
        </p:nvSpPr>
        <p:spPr>
          <a:xfrm>
            <a:off x="96696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0" name="heat-candidate-0-2">
            <a:extLst>
              <a:ext uri="{FF2B5EF4-FFF2-40B4-BE49-F238E27FC236}">
                <a16:creationId xmlns:a16="http://schemas.microsoft.com/office/drawing/2014/main" id="{8C83A90B-9A20-4ECF-A965-08AA7958E30D}"/>
              </a:ext>
            </a:extLst>
          </p:cNvPr>
          <p:cNvSpPr>
            <a:spLocks noGrp="1"/>
          </p:cNvSpPr>
          <p:nvPr/>
        </p:nvSpPr>
        <p:spPr>
          <a:xfrm>
            <a:off x="10591200" y="26014680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copy-93">
            <a:extLst>
              <a:ext uri="{FF2B5EF4-FFF2-40B4-BE49-F238E27FC236}">
                <a16:creationId xmlns:a16="http://schemas.microsoft.com/office/drawing/2014/main" id="{B4BD0935-2ABB-449A-BA05-986F68E42A4A}"/>
              </a:ext>
            </a:extLst>
          </p:cNvPr>
          <p:cNvSpPr>
            <a:spLocks noGrp="1"/>
          </p:cNvSpPr>
          <p:nvPr/>
        </p:nvSpPr>
        <p:spPr>
          <a:xfrm>
            <a:off x="105912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2" name="heat-candidate-0-3">
            <a:extLst>
              <a:ext uri="{FF2B5EF4-FFF2-40B4-BE49-F238E27FC236}">
                <a16:creationId xmlns:a16="http://schemas.microsoft.com/office/drawing/2014/main" id="{6E82C496-7FA6-4A8C-A13D-C6D5035D3A19}"/>
              </a:ext>
            </a:extLst>
          </p:cNvPr>
          <p:cNvSpPr>
            <a:spLocks noGrp="1"/>
          </p:cNvSpPr>
          <p:nvPr/>
        </p:nvSpPr>
        <p:spPr>
          <a:xfrm>
            <a:off x="11512800" y="26014680"/>
            <a:ext cx="885600" cy="329184"/>
          </a:xfrm>
          <a:prstGeom prst="rect">
            <a:avLst/>
          </a:prstGeom>
          <a:solidFill>
            <a:srgbClr val="E7A1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" name="copy-94">
            <a:extLst>
              <a:ext uri="{FF2B5EF4-FFF2-40B4-BE49-F238E27FC236}">
                <a16:creationId xmlns:a16="http://schemas.microsoft.com/office/drawing/2014/main" id="{9721CA65-E0B2-4C10-B8BB-CC088995F306}"/>
              </a:ext>
            </a:extLst>
          </p:cNvPr>
          <p:cNvSpPr>
            <a:spLocks noGrp="1"/>
          </p:cNvSpPr>
          <p:nvPr/>
        </p:nvSpPr>
        <p:spPr>
          <a:xfrm>
            <a:off x="115128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4" name="heat-candidate-0-4">
            <a:extLst>
              <a:ext uri="{FF2B5EF4-FFF2-40B4-BE49-F238E27FC236}">
                <a16:creationId xmlns:a16="http://schemas.microsoft.com/office/drawing/2014/main" id="{EFE1FD86-4A0F-4A5D-9B24-B244A4926A47}"/>
              </a:ext>
            </a:extLst>
          </p:cNvPr>
          <p:cNvSpPr>
            <a:spLocks noGrp="1"/>
          </p:cNvSpPr>
          <p:nvPr/>
        </p:nvSpPr>
        <p:spPr>
          <a:xfrm>
            <a:off x="12434400" y="26014680"/>
            <a:ext cx="885600" cy="329184"/>
          </a:xfrm>
          <a:prstGeom prst="rect">
            <a:avLst/>
          </a:prstGeom>
          <a:solidFill>
            <a:srgbClr val="D3733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5" name="copy-95">
            <a:extLst>
              <a:ext uri="{FF2B5EF4-FFF2-40B4-BE49-F238E27FC236}">
                <a16:creationId xmlns:a16="http://schemas.microsoft.com/office/drawing/2014/main" id="{A15B7556-A0E1-4792-803C-3DB4EE119C81}"/>
              </a:ext>
            </a:extLst>
          </p:cNvPr>
          <p:cNvSpPr>
            <a:spLocks noGrp="1"/>
          </p:cNvSpPr>
          <p:nvPr/>
        </p:nvSpPr>
        <p:spPr>
          <a:xfrm>
            <a:off x="12434400" y="26014680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6" name="heat-candidate-1-0">
            <a:extLst>
              <a:ext uri="{FF2B5EF4-FFF2-40B4-BE49-F238E27FC236}">
                <a16:creationId xmlns:a16="http://schemas.microsoft.com/office/drawing/2014/main" id="{71E53FF7-F559-4995-BCDA-CFDE6F4D13AF}"/>
              </a:ext>
            </a:extLst>
          </p:cNvPr>
          <p:cNvSpPr>
            <a:spLocks noGrp="1"/>
          </p:cNvSpPr>
          <p:nvPr/>
        </p:nvSpPr>
        <p:spPr>
          <a:xfrm>
            <a:off x="87480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7" name="copy-96">
            <a:extLst>
              <a:ext uri="{FF2B5EF4-FFF2-40B4-BE49-F238E27FC236}">
                <a16:creationId xmlns:a16="http://schemas.microsoft.com/office/drawing/2014/main" id="{6E805A1A-491B-4667-B789-807CC45583B1}"/>
              </a:ext>
            </a:extLst>
          </p:cNvPr>
          <p:cNvSpPr>
            <a:spLocks noGrp="1"/>
          </p:cNvSpPr>
          <p:nvPr/>
        </p:nvSpPr>
        <p:spPr>
          <a:xfrm>
            <a:off x="87480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8" name="heat-candidate-1-1">
            <a:extLst>
              <a:ext uri="{FF2B5EF4-FFF2-40B4-BE49-F238E27FC236}">
                <a16:creationId xmlns:a16="http://schemas.microsoft.com/office/drawing/2014/main" id="{22EA1CFB-14A1-4D30-BEEC-88D5F332D991}"/>
              </a:ext>
            </a:extLst>
          </p:cNvPr>
          <p:cNvSpPr>
            <a:spLocks noGrp="1"/>
          </p:cNvSpPr>
          <p:nvPr/>
        </p:nvSpPr>
        <p:spPr>
          <a:xfrm>
            <a:off x="96696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copy-97">
            <a:extLst>
              <a:ext uri="{FF2B5EF4-FFF2-40B4-BE49-F238E27FC236}">
                <a16:creationId xmlns:a16="http://schemas.microsoft.com/office/drawing/2014/main" id="{865BB842-DE6C-421E-88B9-2A6E33B84304}"/>
              </a:ext>
            </a:extLst>
          </p:cNvPr>
          <p:cNvSpPr>
            <a:spLocks noGrp="1"/>
          </p:cNvSpPr>
          <p:nvPr/>
        </p:nvSpPr>
        <p:spPr>
          <a:xfrm>
            <a:off x="96696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0" name="heat-candidate-1-2">
            <a:extLst>
              <a:ext uri="{FF2B5EF4-FFF2-40B4-BE49-F238E27FC236}">
                <a16:creationId xmlns:a16="http://schemas.microsoft.com/office/drawing/2014/main" id="{88A5CAD0-68DF-4FC2-A8C9-9CE8CD511CFE}"/>
              </a:ext>
            </a:extLst>
          </p:cNvPr>
          <p:cNvSpPr>
            <a:spLocks noGrp="1"/>
          </p:cNvSpPr>
          <p:nvPr/>
        </p:nvSpPr>
        <p:spPr>
          <a:xfrm>
            <a:off x="105912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1" name="copy-98">
            <a:extLst>
              <a:ext uri="{FF2B5EF4-FFF2-40B4-BE49-F238E27FC236}">
                <a16:creationId xmlns:a16="http://schemas.microsoft.com/office/drawing/2014/main" id="{5390709A-9128-400A-9DAC-9A05D66A6C88}"/>
              </a:ext>
            </a:extLst>
          </p:cNvPr>
          <p:cNvSpPr>
            <a:spLocks noGrp="1"/>
          </p:cNvSpPr>
          <p:nvPr/>
        </p:nvSpPr>
        <p:spPr>
          <a:xfrm>
            <a:off x="105912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2" name="heat-candidate-1-3">
            <a:extLst>
              <a:ext uri="{FF2B5EF4-FFF2-40B4-BE49-F238E27FC236}">
                <a16:creationId xmlns:a16="http://schemas.microsoft.com/office/drawing/2014/main" id="{9B800E69-7EB8-4AA5-82CC-0BFEF99EC778}"/>
              </a:ext>
            </a:extLst>
          </p:cNvPr>
          <p:cNvSpPr>
            <a:spLocks noGrp="1"/>
          </p:cNvSpPr>
          <p:nvPr/>
        </p:nvSpPr>
        <p:spPr>
          <a:xfrm>
            <a:off x="11512800" y="26362152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3" name="copy-99">
            <a:extLst>
              <a:ext uri="{FF2B5EF4-FFF2-40B4-BE49-F238E27FC236}">
                <a16:creationId xmlns:a16="http://schemas.microsoft.com/office/drawing/2014/main" id="{B056B83A-2C52-4F26-89B9-2772A74D2FED}"/>
              </a:ext>
            </a:extLst>
          </p:cNvPr>
          <p:cNvSpPr>
            <a:spLocks noGrp="1"/>
          </p:cNvSpPr>
          <p:nvPr/>
        </p:nvSpPr>
        <p:spPr>
          <a:xfrm>
            <a:off x="115128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4" name="heat-candidate-1-4">
            <a:extLst>
              <a:ext uri="{FF2B5EF4-FFF2-40B4-BE49-F238E27FC236}">
                <a16:creationId xmlns:a16="http://schemas.microsoft.com/office/drawing/2014/main" id="{5180155C-F919-4407-9D7F-58DC46DC3685}"/>
              </a:ext>
            </a:extLst>
          </p:cNvPr>
          <p:cNvSpPr>
            <a:spLocks noGrp="1"/>
          </p:cNvSpPr>
          <p:nvPr/>
        </p:nvSpPr>
        <p:spPr>
          <a:xfrm>
            <a:off x="12434400" y="26362152"/>
            <a:ext cx="885600" cy="329184"/>
          </a:xfrm>
          <a:prstGeom prst="rect">
            <a:avLst/>
          </a:prstGeom>
          <a:solidFill>
            <a:srgbClr val="E1935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5" name="copy-100">
            <a:extLst>
              <a:ext uri="{FF2B5EF4-FFF2-40B4-BE49-F238E27FC236}">
                <a16:creationId xmlns:a16="http://schemas.microsoft.com/office/drawing/2014/main" id="{C90B2C47-7AFC-494B-8807-958B0C36644C}"/>
              </a:ext>
            </a:extLst>
          </p:cNvPr>
          <p:cNvSpPr>
            <a:spLocks noGrp="1"/>
          </p:cNvSpPr>
          <p:nvPr/>
        </p:nvSpPr>
        <p:spPr>
          <a:xfrm>
            <a:off x="12434400" y="26362152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6" name="heat-candidate-2-0">
            <a:extLst>
              <a:ext uri="{FF2B5EF4-FFF2-40B4-BE49-F238E27FC236}">
                <a16:creationId xmlns:a16="http://schemas.microsoft.com/office/drawing/2014/main" id="{2AA214D6-6BD1-49A7-AC43-766E330713CB}"/>
              </a:ext>
            </a:extLst>
          </p:cNvPr>
          <p:cNvSpPr>
            <a:spLocks noGrp="1"/>
          </p:cNvSpPr>
          <p:nvPr/>
        </p:nvSpPr>
        <p:spPr>
          <a:xfrm>
            <a:off x="87480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copy-101">
            <a:extLst>
              <a:ext uri="{FF2B5EF4-FFF2-40B4-BE49-F238E27FC236}">
                <a16:creationId xmlns:a16="http://schemas.microsoft.com/office/drawing/2014/main" id="{CBE44D69-B275-4D65-B5DC-BD23720CFF88}"/>
              </a:ext>
            </a:extLst>
          </p:cNvPr>
          <p:cNvSpPr>
            <a:spLocks noGrp="1"/>
          </p:cNvSpPr>
          <p:nvPr/>
        </p:nvSpPr>
        <p:spPr>
          <a:xfrm>
            <a:off x="87480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8" name="heat-candidate-2-1">
            <a:extLst>
              <a:ext uri="{FF2B5EF4-FFF2-40B4-BE49-F238E27FC236}">
                <a16:creationId xmlns:a16="http://schemas.microsoft.com/office/drawing/2014/main" id="{D2D17CAA-C890-4559-A53A-BE5DDEB6FD20}"/>
              </a:ext>
            </a:extLst>
          </p:cNvPr>
          <p:cNvSpPr>
            <a:spLocks noGrp="1"/>
          </p:cNvSpPr>
          <p:nvPr/>
        </p:nvSpPr>
        <p:spPr>
          <a:xfrm>
            <a:off x="96696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copy-102">
            <a:extLst>
              <a:ext uri="{FF2B5EF4-FFF2-40B4-BE49-F238E27FC236}">
                <a16:creationId xmlns:a16="http://schemas.microsoft.com/office/drawing/2014/main" id="{6746F8A2-8113-410D-8195-57FEC9892E92}"/>
              </a:ext>
            </a:extLst>
          </p:cNvPr>
          <p:cNvSpPr>
            <a:spLocks noGrp="1"/>
          </p:cNvSpPr>
          <p:nvPr/>
        </p:nvSpPr>
        <p:spPr>
          <a:xfrm>
            <a:off x="96696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0" name="heat-candidate-2-2">
            <a:extLst>
              <a:ext uri="{FF2B5EF4-FFF2-40B4-BE49-F238E27FC236}">
                <a16:creationId xmlns:a16="http://schemas.microsoft.com/office/drawing/2014/main" id="{1EBC9657-D36F-4AFC-A91E-2E1776CD8111}"/>
              </a:ext>
            </a:extLst>
          </p:cNvPr>
          <p:cNvSpPr>
            <a:spLocks noGrp="1"/>
          </p:cNvSpPr>
          <p:nvPr/>
        </p:nvSpPr>
        <p:spPr>
          <a:xfrm>
            <a:off x="105912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copy-103">
            <a:extLst>
              <a:ext uri="{FF2B5EF4-FFF2-40B4-BE49-F238E27FC236}">
                <a16:creationId xmlns:a16="http://schemas.microsoft.com/office/drawing/2014/main" id="{AAAD80FD-75AE-46BE-9CC6-F1EA482EB47C}"/>
              </a:ext>
            </a:extLst>
          </p:cNvPr>
          <p:cNvSpPr>
            <a:spLocks noGrp="1"/>
          </p:cNvSpPr>
          <p:nvPr/>
        </p:nvSpPr>
        <p:spPr>
          <a:xfrm>
            <a:off x="105912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2" name="heat-candidate-2-3">
            <a:extLst>
              <a:ext uri="{FF2B5EF4-FFF2-40B4-BE49-F238E27FC236}">
                <a16:creationId xmlns:a16="http://schemas.microsoft.com/office/drawing/2014/main" id="{74758B4A-BF77-402F-9B06-FD58ECDAF06D}"/>
              </a:ext>
            </a:extLst>
          </p:cNvPr>
          <p:cNvSpPr>
            <a:spLocks noGrp="1"/>
          </p:cNvSpPr>
          <p:nvPr/>
        </p:nvSpPr>
        <p:spPr>
          <a:xfrm>
            <a:off x="11512800" y="26709624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3" name="copy-104">
            <a:extLst>
              <a:ext uri="{FF2B5EF4-FFF2-40B4-BE49-F238E27FC236}">
                <a16:creationId xmlns:a16="http://schemas.microsoft.com/office/drawing/2014/main" id="{48A20491-8485-4386-9D28-FC794122E9FD}"/>
              </a:ext>
            </a:extLst>
          </p:cNvPr>
          <p:cNvSpPr>
            <a:spLocks noGrp="1"/>
          </p:cNvSpPr>
          <p:nvPr/>
        </p:nvSpPr>
        <p:spPr>
          <a:xfrm>
            <a:off x="115128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4" name="heat-candidate-2-4">
            <a:extLst>
              <a:ext uri="{FF2B5EF4-FFF2-40B4-BE49-F238E27FC236}">
                <a16:creationId xmlns:a16="http://schemas.microsoft.com/office/drawing/2014/main" id="{D2EF552F-BFE2-4132-B09E-A027B488B0B6}"/>
              </a:ext>
            </a:extLst>
          </p:cNvPr>
          <p:cNvSpPr>
            <a:spLocks noGrp="1"/>
          </p:cNvSpPr>
          <p:nvPr/>
        </p:nvSpPr>
        <p:spPr>
          <a:xfrm>
            <a:off x="12434400" y="26709624"/>
            <a:ext cx="885600" cy="329184"/>
          </a:xfrm>
          <a:prstGeom prst="rect">
            <a:avLst/>
          </a:prstGeom>
          <a:solidFill>
            <a:srgbClr val="B7563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copy-105">
            <a:extLst>
              <a:ext uri="{FF2B5EF4-FFF2-40B4-BE49-F238E27FC236}">
                <a16:creationId xmlns:a16="http://schemas.microsoft.com/office/drawing/2014/main" id="{E85AEF08-D03B-4F57-9D4D-3E9ABEF7270B}"/>
              </a:ext>
            </a:extLst>
          </p:cNvPr>
          <p:cNvSpPr>
            <a:spLocks noGrp="1"/>
          </p:cNvSpPr>
          <p:nvPr/>
        </p:nvSpPr>
        <p:spPr>
          <a:xfrm>
            <a:off x="12434400" y="26709624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96" name="heat-candidate-3-0">
            <a:extLst>
              <a:ext uri="{FF2B5EF4-FFF2-40B4-BE49-F238E27FC236}">
                <a16:creationId xmlns:a16="http://schemas.microsoft.com/office/drawing/2014/main" id="{E5C8EC99-300F-487B-B4B1-2098C4261915}"/>
              </a:ext>
            </a:extLst>
          </p:cNvPr>
          <p:cNvSpPr>
            <a:spLocks noGrp="1"/>
          </p:cNvSpPr>
          <p:nvPr/>
        </p:nvSpPr>
        <p:spPr>
          <a:xfrm>
            <a:off x="87480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7" name="copy-106">
            <a:extLst>
              <a:ext uri="{FF2B5EF4-FFF2-40B4-BE49-F238E27FC236}">
                <a16:creationId xmlns:a16="http://schemas.microsoft.com/office/drawing/2014/main" id="{8F963C74-B1DD-4D06-90B5-294707AF351A}"/>
              </a:ext>
            </a:extLst>
          </p:cNvPr>
          <p:cNvSpPr>
            <a:spLocks noGrp="1"/>
          </p:cNvSpPr>
          <p:nvPr/>
        </p:nvSpPr>
        <p:spPr>
          <a:xfrm>
            <a:off x="87480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8" name="heat-candidate-3-1">
            <a:extLst>
              <a:ext uri="{FF2B5EF4-FFF2-40B4-BE49-F238E27FC236}">
                <a16:creationId xmlns:a16="http://schemas.microsoft.com/office/drawing/2014/main" id="{4E3E20C7-2599-4BAD-878C-A81D603D05BA}"/>
              </a:ext>
            </a:extLst>
          </p:cNvPr>
          <p:cNvSpPr>
            <a:spLocks noGrp="1"/>
          </p:cNvSpPr>
          <p:nvPr/>
        </p:nvSpPr>
        <p:spPr>
          <a:xfrm>
            <a:off x="96696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copy-107">
            <a:extLst>
              <a:ext uri="{FF2B5EF4-FFF2-40B4-BE49-F238E27FC236}">
                <a16:creationId xmlns:a16="http://schemas.microsoft.com/office/drawing/2014/main" id="{35F210E7-353E-4CB2-A5DC-4250F09B8AA8}"/>
              </a:ext>
            </a:extLst>
          </p:cNvPr>
          <p:cNvSpPr>
            <a:spLocks noGrp="1"/>
          </p:cNvSpPr>
          <p:nvPr/>
        </p:nvSpPr>
        <p:spPr>
          <a:xfrm>
            <a:off x="96696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0" name="heat-candidate-3-2">
            <a:extLst>
              <a:ext uri="{FF2B5EF4-FFF2-40B4-BE49-F238E27FC236}">
                <a16:creationId xmlns:a16="http://schemas.microsoft.com/office/drawing/2014/main" id="{21F34906-BD0D-49F3-B946-D01D8224609F}"/>
              </a:ext>
            </a:extLst>
          </p:cNvPr>
          <p:cNvSpPr>
            <a:spLocks noGrp="1"/>
          </p:cNvSpPr>
          <p:nvPr/>
        </p:nvSpPr>
        <p:spPr>
          <a:xfrm>
            <a:off x="105912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" name="copy-108">
            <a:extLst>
              <a:ext uri="{FF2B5EF4-FFF2-40B4-BE49-F238E27FC236}">
                <a16:creationId xmlns:a16="http://schemas.microsoft.com/office/drawing/2014/main" id="{61EEC705-44B7-441F-8457-723BC882B549}"/>
              </a:ext>
            </a:extLst>
          </p:cNvPr>
          <p:cNvSpPr>
            <a:spLocks noGrp="1"/>
          </p:cNvSpPr>
          <p:nvPr/>
        </p:nvSpPr>
        <p:spPr>
          <a:xfrm>
            <a:off x="105912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2" name="heat-candidate-3-3">
            <a:extLst>
              <a:ext uri="{FF2B5EF4-FFF2-40B4-BE49-F238E27FC236}">
                <a16:creationId xmlns:a16="http://schemas.microsoft.com/office/drawing/2014/main" id="{E04C14B8-4C5D-4307-A827-0B3DBA9D2895}"/>
              </a:ext>
            </a:extLst>
          </p:cNvPr>
          <p:cNvSpPr>
            <a:spLocks noGrp="1"/>
          </p:cNvSpPr>
          <p:nvPr/>
        </p:nvSpPr>
        <p:spPr>
          <a:xfrm>
            <a:off x="11512800" y="27057096"/>
            <a:ext cx="885600" cy="329184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copy-109">
            <a:extLst>
              <a:ext uri="{FF2B5EF4-FFF2-40B4-BE49-F238E27FC236}">
                <a16:creationId xmlns:a16="http://schemas.microsoft.com/office/drawing/2014/main" id="{6648F9AA-96E5-44CB-B1FB-36D7851542C0}"/>
              </a:ext>
            </a:extLst>
          </p:cNvPr>
          <p:cNvSpPr>
            <a:spLocks noGrp="1"/>
          </p:cNvSpPr>
          <p:nvPr/>
        </p:nvSpPr>
        <p:spPr>
          <a:xfrm>
            <a:off x="115128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022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4" name="heat-candidate-3-4">
            <a:extLst>
              <a:ext uri="{FF2B5EF4-FFF2-40B4-BE49-F238E27FC236}">
                <a16:creationId xmlns:a16="http://schemas.microsoft.com/office/drawing/2014/main" id="{AB8F1095-77B3-4072-B82C-13D144C09A31}"/>
              </a:ext>
            </a:extLst>
          </p:cNvPr>
          <p:cNvSpPr>
            <a:spLocks noGrp="1"/>
          </p:cNvSpPr>
          <p:nvPr/>
        </p:nvSpPr>
        <p:spPr>
          <a:xfrm>
            <a:off x="12434400" y="27057096"/>
            <a:ext cx="885600" cy="329184"/>
          </a:xfrm>
          <a:prstGeom prst="rect">
            <a:avLst/>
          </a:prstGeom>
          <a:solidFill>
            <a:srgbClr val="7A182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copy-110">
            <a:extLst>
              <a:ext uri="{FF2B5EF4-FFF2-40B4-BE49-F238E27FC236}">
                <a16:creationId xmlns:a16="http://schemas.microsoft.com/office/drawing/2014/main" id="{E6320DF2-B652-4229-856B-66760C374E9C}"/>
              </a:ext>
            </a:extLst>
          </p:cNvPr>
          <p:cNvSpPr>
            <a:spLocks noGrp="1"/>
          </p:cNvSpPr>
          <p:nvPr/>
        </p:nvSpPr>
        <p:spPr>
          <a:xfrm>
            <a:off x="12434400" y="27057096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06" name="copy-111">
            <a:extLst>
              <a:ext uri="{FF2B5EF4-FFF2-40B4-BE49-F238E27FC236}">
                <a16:creationId xmlns:a16="http://schemas.microsoft.com/office/drawing/2014/main" id="{E89EE39C-869F-4B01-B7A0-CAD2D2F7C390}"/>
              </a:ext>
            </a:extLst>
          </p:cNvPr>
          <p:cNvSpPr>
            <a:spLocks noGrp="1"/>
          </p:cNvSpPr>
          <p:nvPr/>
        </p:nvSpPr>
        <p:spPr>
          <a:xfrm>
            <a:off x="87480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07" name="copy-112">
            <a:extLst>
              <a:ext uri="{FF2B5EF4-FFF2-40B4-BE49-F238E27FC236}">
                <a16:creationId xmlns:a16="http://schemas.microsoft.com/office/drawing/2014/main" id="{C45A83A5-D699-473B-9D72-0C761F796003}"/>
              </a:ext>
            </a:extLst>
          </p:cNvPr>
          <p:cNvSpPr>
            <a:spLocks noGrp="1"/>
          </p:cNvSpPr>
          <p:nvPr/>
        </p:nvSpPr>
        <p:spPr>
          <a:xfrm>
            <a:off x="96696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08" name="copy-113">
            <a:extLst>
              <a:ext uri="{FF2B5EF4-FFF2-40B4-BE49-F238E27FC236}">
                <a16:creationId xmlns:a16="http://schemas.microsoft.com/office/drawing/2014/main" id="{9362FC4C-791A-4A06-9D29-774812789F9B}"/>
              </a:ext>
            </a:extLst>
          </p:cNvPr>
          <p:cNvSpPr>
            <a:spLocks noGrp="1"/>
          </p:cNvSpPr>
          <p:nvPr/>
        </p:nvSpPr>
        <p:spPr>
          <a:xfrm>
            <a:off x="105912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09" name="copy-114">
            <a:extLst>
              <a:ext uri="{FF2B5EF4-FFF2-40B4-BE49-F238E27FC236}">
                <a16:creationId xmlns:a16="http://schemas.microsoft.com/office/drawing/2014/main" id="{D41B2508-59A6-4323-B9E6-C27EC8B07B03}"/>
              </a:ext>
            </a:extLst>
          </p:cNvPr>
          <p:cNvSpPr>
            <a:spLocks noGrp="1"/>
          </p:cNvSpPr>
          <p:nvPr/>
        </p:nvSpPr>
        <p:spPr>
          <a:xfrm>
            <a:off x="115128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10" name="copy-115">
            <a:extLst>
              <a:ext uri="{FF2B5EF4-FFF2-40B4-BE49-F238E27FC236}">
                <a16:creationId xmlns:a16="http://schemas.microsoft.com/office/drawing/2014/main" id="{9EB823E5-D4C6-4E4F-8B0D-DAB337CBE579}"/>
              </a:ext>
            </a:extLst>
          </p:cNvPr>
          <p:cNvSpPr>
            <a:spLocks noGrp="1"/>
          </p:cNvSpPr>
          <p:nvPr/>
        </p:nvSpPr>
        <p:spPr>
          <a:xfrm>
            <a:off x="12434400" y="27404568"/>
            <a:ext cx="885600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411" name="panel-116">
            <a:extLst>
              <a:ext uri="{FF2B5EF4-FFF2-40B4-BE49-F238E27FC236}">
                <a16:creationId xmlns:a16="http://schemas.microsoft.com/office/drawing/2014/main" id="{BF2990A2-3FA3-43FE-831E-FC739158EA15}"/>
              </a:ext>
            </a:extLst>
          </p:cNvPr>
          <p:cNvSpPr>
            <a:spLocks noGrp="1"/>
          </p:cNvSpPr>
          <p:nvPr/>
        </p:nvSpPr>
        <p:spPr>
          <a:xfrm>
            <a:off x="13896000" y="26014680"/>
            <a:ext cx="180000" cy="27432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" name="panel-117">
            <a:extLst>
              <a:ext uri="{FF2B5EF4-FFF2-40B4-BE49-F238E27FC236}">
                <a16:creationId xmlns:a16="http://schemas.microsoft.com/office/drawing/2014/main" id="{A2EF048F-0A58-4569-A566-D70B683BECEB}"/>
              </a:ext>
            </a:extLst>
          </p:cNvPr>
          <p:cNvSpPr>
            <a:spLocks noGrp="1"/>
          </p:cNvSpPr>
          <p:nvPr/>
        </p:nvSpPr>
        <p:spPr>
          <a:xfrm>
            <a:off x="13896000" y="26289000"/>
            <a:ext cx="180000" cy="274320"/>
          </a:xfrm>
          <a:prstGeom prst="rect">
            <a:avLst/>
          </a:prstGeom>
          <a:solidFill>
            <a:srgbClr val="E7A16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panel-118">
            <a:extLst>
              <a:ext uri="{FF2B5EF4-FFF2-40B4-BE49-F238E27FC236}">
                <a16:creationId xmlns:a16="http://schemas.microsoft.com/office/drawing/2014/main" id="{5EC1F63E-F551-49B6-9CBD-8C61E83B78A5}"/>
              </a:ext>
            </a:extLst>
          </p:cNvPr>
          <p:cNvSpPr>
            <a:spLocks noGrp="1"/>
          </p:cNvSpPr>
          <p:nvPr/>
        </p:nvSpPr>
        <p:spPr>
          <a:xfrm>
            <a:off x="13896000" y="26563320"/>
            <a:ext cx="180000" cy="274320"/>
          </a:xfrm>
          <a:prstGeom prst="rect">
            <a:avLst/>
          </a:prstGeom>
          <a:solidFill>
            <a:srgbClr val="D3733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4" name="panel-119">
            <a:extLst>
              <a:ext uri="{FF2B5EF4-FFF2-40B4-BE49-F238E27FC236}">
                <a16:creationId xmlns:a16="http://schemas.microsoft.com/office/drawing/2014/main" id="{25048A06-2DE3-4223-8F96-59380D92AE17}"/>
              </a:ext>
            </a:extLst>
          </p:cNvPr>
          <p:cNvSpPr>
            <a:spLocks noGrp="1"/>
          </p:cNvSpPr>
          <p:nvPr/>
        </p:nvSpPr>
        <p:spPr>
          <a:xfrm>
            <a:off x="13896000" y="26837640"/>
            <a:ext cx="180000" cy="274320"/>
          </a:xfrm>
          <a:prstGeom prst="rect">
            <a:avLst/>
          </a:prstGeom>
          <a:solidFill>
            <a:srgbClr val="B7563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5" name="panel-120">
            <a:extLst>
              <a:ext uri="{FF2B5EF4-FFF2-40B4-BE49-F238E27FC236}">
                <a16:creationId xmlns:a16="http://schemas.microsoft.com/office/drawing/2014/main" id="{E59B24E2-D37F-4185-9AE0-FE5AB0AB1D33}"/>
              </a:ext>
            </a:extLst>
          </p:cNvPr>
          <p:cNvSpPr>
            <a:spLocks noGrp="1"/>
          </p:cNvSpPr>
          <p:nvPr/>
        </p:nvSpPr>
        <p:spPr>
          <a:xfrm>
            <a:off x="13896000" y="27111960"/>
            <a:ext cx="180000" cy="274320"/>
          </a:xfrm>
          <a:prstGeom prst="rect">
            <a:avLst/>
          </a:prstGeom>
          <a:solidFill>
            <a:srgbClr val="7A182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6" name="copy-121">
            <a:extLst>
              <a:ext uri="{FF2B5EF4-FFF2-40B4-BE49-F238E27FC236}">
                <a16:creationId xmlns:a16="http://schemas.microsoft.com/office/drawing/2014/main" id="{80848185-2238-4469-B98B-060E1555CB05}"/>
              </a:ext>
            </a:extLst>
          </p:cNvPr>
          <p:cNvSpPr>
            <a:spLocks noGrp="1"/>
          </p:cNvSpPr>
          <p:nvPr/>
        </p:nvSpPr>
        <p:spPr>
          <a:xfrm>
            <a:off x="14184000" y="26014680"/>
            <a:ext cx="576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7" name="copy-122">
            <a:extLst>
              <a:ext uri="{FF2B5EF4-FFF2-40B4-BE49-F238E27FC236}">
                <a16:creationId xmlns:a16="http://schemas.microsoft.com/office/drawing/2014/main" id="{9D0F1857-728D-47DD-8377-729BFAD4B9F4}"/>
              </a:ext>
            </a:extLst>
          </p:cNvPr>
          <p:cNvSpPr>
            <a:spLocks noGrp="1"/>
          </p:cNvSpPr>
          <p:nvPr/>
        </p:nvSpPr>
        <p:spPr>
          <a:xfrm>
            <a:off x="14184000" y="27130248"/>
            <a:ext cx="720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18" name="copy-123">
            <a:extLst>
              <a:ext uri="{FF2B5EF4-FFF2-40B4-BE49-F238E27FC236}">
                <a16:creationId xmlns:a16="http://schemas.microsoft.com/office/drawing/2014/main" id="{996FF95B-D010-42F4-B377-0C89F080986B}"/>
              </a:ext>
            </a:extLst>
          </p:cNvPr>
          <p:cNvSpPr>
            <a:spLocks noGrp="1"/>
          </p:cNvSpPr>
          <p:nvPr/>
        </p:nvSpPr>
        <p:spPr>
          <a:xfrm>
            <a:off x="6264000" y="27706320"/>
            <a:ext cx="4176000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900" b="0">
                <a:solidFill>
                  <a:srgbClr val="6B7E91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Delay (ms)</a:t>
            </a:r>
          </a:p>
        </p:txBody>
      </p:sp>
      <p:sp>
        <p:nvSpPr>
          <p:cNvPr id="419" name="copy-124">
            <a:extLst>
              <a:ext uri="{FF2B5EF4-FFF2-40B4-BE49-F238E27FC236}">
                <a16:creationId xmlns:a16="http://schemas.microsoft.com/office/drawing/2014/main" id="{F466F783-D2D8-4999-99EE-B8A61F098418}"/>
              </a:ext>
            </a:extLst>
          </p:cNvPr>
          <p:cNvSpPr>
            <a:spLocks noGrp="1"/>
          </p:cNvSpPr>
          <p:nvPr/>
        </p:nvSpPr>
        <p:spPr>
          <a:xfrm>
            <a:off x="900000" y="27962352"/>
            <a:ext cx="14040000" cy="8961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lang="en-US" b="1">
                <a:solidFill>
                  <a:srgbClr val="173149"/>
                </a:solidFill>
              </a:rPr>
              <a:t>Takeaway: </a:t>
            </a:r>
            <a:r>
              <a:rPr lang="en-US"/>
              <a:t>Zero termination events up to 40 ms support a provisional </a:t>
            </a:r>
            <a:r>
              <a:rPr lang="en-US" b="1">
                <a:solidFill>
                  <a:srgbClr val="173149"/>
                </a:solidFill>
              </a:rPr>
              <a:t>≤40 ms control latency budget</a:t>
            </a:r>
            <a:r>
              <a:rPr lang="en-US"/>
              <a:t>. Beyond that, learned corrections become fragile—hardware validation is the next step.</a:t>
            </a:r>
            <a:endParaRPr/>
          </a:p>
        </p:txBody>
      </p:sp>
      <p:sp>
        <p:nvSpPr>
          <p:cNvPr id="420" name="copy-125">
            <a:extLst>
              <a:ext uri="{FF2B5EF4-FFF2-40B4-BE49-F238E27FC236}">
                <a16:creationId xmlns:a16="http://schemas.microsoft.com/office/drawing/2014/main" id="{9F0A601D-F84A-4C0D-BFE6-F655E59403EE}"/>
              </a:ext>
            </a:extLst>
          </p:cNvPr>
          <p:cNvSpPr>
            <a:spLocks noGrp="1"/>
          </p:cNvSpPr>
          <p:nvPr/>
        </p:nvSpPr>
        <p:spPr>
          <a:xfrm>
            <a:off x="15588000" y="24696000"/>
            <a:ext cx="4896000" cy="50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900" b="1">
                <a:solidFill>
                  <a:srgbClr val="002244"/>
                </a:solidFill>
                <a:latin typeface="Arial"/>
                <a:ea typeface="Arial"/>
                <a:cs typeface="Arial"/>
              </a:defRPr>
            </a:pPr>
            <a:r>
              <a:rPr sz="2900" b="1" dirty="0">
                <a:solidFill>
                  <a:srgbClr val="002244"/>
                </a:solidFill>
                <a:latin typeface="Arial"/>
                <a:ea typeface="Arial"/>
                <a:cs typeface="Arial"/>
              </a:rPr>
              <a:t>04  Simulation demo</a:t>
            </a:r>
          </a:p>
        </p:txBody>
      </p:sp>
      <p:sp>
        <p:nvSpPr>
          <p:cNvPr id="422" name="demo-cta">
            <a:extLst>
              <a:ext uri="{FF2B5EF4-FFF2-40B4-BE49-F238E27FC236}">
                <a16:creationId xmlns:a16="http://schemas.microsoft.com/office/drawing/2014/main" id="{ABDCC4B1-5AD5-47AD-A684-34286BDFB4D3}"/>
              </a:ext>
            </a:extLst>
          </p:cNvPr>
          <p:cNvSpPr>
            <a:spLocks noGrp="1"/>
          </p:cNvSpPr>
          <p:nvPr/>
        </p:nvSpPr>
        <p:spPr>
          <a:xfrm>
            <a:off x="15408000" y="27576000"/>
            <a:ext cx="5076000" cy="61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Scan for Push-Recovery Demo</a:t>
            </a:r>
          </a:p>
        </p:txBody>
      </p:sp>
      <p:sp>
        <p:nvSpPr>
          <p:cNvPr id="424" name="demo-subtitle">
            <a:extLst>
              <a:ext uri="{FF2B5EF4-FFF2-40B4-BE49-F238E27FC236}">
                <a16:creationId xmlns:a16="http://schemas.microsoft.com/office/drawing/2014/main" id="{30FA05B4-0811-40B3-91C0-9511ACFD1759}"/>
              </a:ext>
            </a:extLst>
          </p:cNvPr>
          <p:cNvSpPr>
            <a:spLocks noGrp="1"/>
          </p:cNvSpPr>
          <p:nvPr/>
        </p:nvSpPr>
        <p:spPr>
          <a:xfrm>
            <a:off x="15408000" y="28116000"/>
            <a:ext cx="5076000" cy="7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165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149"/>
                </a:solidFill>
                <a:latin typeface="Arial"/>
                <a:ea typeface="Arial"/>
                <a:cs typeface="Arial"/>
              </a:rPr>
              <a:t>MuJoCo physics · Side-by-side comparison</a:t>
            </a:r>
          </a:p>
          <a:p>
            <a:pPr algn="ctr">
              <a:defRPr sz="1650">
                <a:solidFill>
                  <a:srgbClr val="173149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3149"/>
                </a:solidFill>
                <a:latin typeface="Arial"/>
                <a:ea typeface="Arial"/>
                <a:cs typeface="Arial"/>
              </a:rPr>
              <a:t>Reproducible simulation workflow</a:t>
            </a:r>
          </a:p>
        </p:txBody>
      </p:sp>
      <p:cxnSp>
        <p:nvCxnSpPr>
          <p:cNvPr id="5" name="direct-leader-after">
            <a:extLst>
              <a:ext uri="{FF2B5EF4-FFF2-40B4-BE49-F238E27FC236}">
                <a16:creationId xmlns:a16="http://schemas.microsoft.com/office/drawing/2014/main" id="{499A74D4-E68B-F875-F72A-6C362FDD985B}"/>
              </a:ext>
            </a:extLst>
          </p:cNvPr>
          <p:cNvCxnSpPr/>
          <p:nvPr/>
        </p:nvCxnSpPr>
        <p:spPr>
          <a:xfrm flipV="1">
            <a:off x="7050760" y="14706000"/>
            <a:ext cx="221240" cy="20562"/>
          </a:xfrm>
          <a:prstGeom prst="line">
            <a:avLst/>
          </a:prstGeom>
          <a:ln w="12700">
            <a:solidFill>
              <a:srgbClr val="087F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irect-leader-before">
            <a:extLst>
              <a:ext uri="{FF2B5EF4-FFF2-40B4-BE49-F238E27FC236}">
                <a16:creationId xmlns:a16="http://schemas.microsoft.com/office/drawing/2014/main" id="{66F213FB-44BF-41FE-ECE2-20C7260DB1E1}"/>
              </a:ext>
            </a:extLst>
          </p:cNvPr>
          <p:cNvCxnSpPr/>
          <p:nvPr/>
        </p:nvCxnSpPr>
        <p:spPr>
          <a:xfrm>
            <a:off x="7050760" y="15494877"/>
            <a:ext cx="221240" cy="39124"/>
          </a:xfrm>
          <a:prstGeom prst="line">
            <a:avLst/>
          </a:prstGeom>
          <a:ln w="12700">
            <a:solidFill>
              <a:srgbClr val="6B7E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1A6464D0-8C3D-CF16-8E6E-3356C82B91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4315151"/>
            <a:ext cx="8557011" cy="6302082"/>
          </a:xfrm>
          <a:prstGeom prst="rect">
            <a:avLst/>
          </a:prstGeom>
        </p:spPr>
      </p:pic>
      <p:sp>
        <p:nvSpPr>
          <p:cNvPr id="9001" name="safe-zone-classical"/>
          <p:cNvSpPr/>
          <p:nvPr/>
        </p:nvSpPr>
        <p:spPr>
          <a:xfrm>
            <a:off x="3366000" y="25987248"/>
            <a:ext cx="2764000" cy="1380744"/>
          </a:xfrm>
          <a:prstGeom prst="rect">
            <a:avLst/>
          </a:prstGeom>
          <a:noFill/>
          <a:ln w="38100">
            <a:solidFill>
              <a:srgbClr val="087F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002" name="safe-zone-hybrid"/>
          <p:cNvSpPr/>
          <p:nvPr/>
        </p:nvSpPr>
        <p:spPr>
          <a:xfrm>
            <a:off x="8730000" y="25987248"/>
            <a:ext cx="2760000" cy="1380744"/>
          </a:xfrm>
          <a:prstGeom prst="rect">
            <a:avLst/>
          </a:prstGeom>
          <a:noFill/>
          <a:ln w="38100">
            <a:solidFill>
              <a:srgbClr val="087F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9011" name="icon-problem" descr="Exclamation mark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11219688"/>
            <a:ext cx="502920" cy="502920"/>
          </a:xfrm>
          <a:prstGeom prst="rect">
            <a:avLst/>
          </a:prstGeom>
        </p:spPr>
      </p:pic>
      <p:pic>
        <p:nvPicPr>
          <p:cNvPr id="9012" name="icon-approach" descr="Key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128" y="12015216"/>
            <a:ext cx="502920" cy="502920"/>
          </a:xfrm>
          <a:prstGeom prst="rect">
            <a:avLst/>
          </a:prstGeom>
        </p:spPr>
      </p:pic>
      <p:sp>
        <p:nvSpPr>
          <p:cNvPr id="9021" name="footer-references"/>
          <p:cNvSpPr txBox="1"/>
          <p:nvPr/>
        </p:nvSpPr>
        <p:spPr>
          <a:xfrm>
            <a:off x="896112" y="29303999"/>
            <a:ext cx="969264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0">
                <a:solidFill>
                  <a:srgbClr val="D0D7DE"/>
                </a:solidFill>
                <a:latin typeface="Arial"/>
                <a:ea typeface="Arial"/>
                <a:cs typeface="Arial"/>
              </a:rPr>
              <a:t>References: Johannink et al., ICRA 2019 · Schulman et al., PPO 2017</a:t>
            </a:r>
          </a:p>
        </p:txBody>
      </p:sp>
      <p:sp>
        <p:nvSpPr>
          <p:cNvPr id="9022" name="colorbar-label"/>
          <p:cNvSpPr txBox="1"/>
          <p:nvPr/>
        </p:nvSpPr>
        <p:spPr>
          <a:xfrm>
            <a:off x="13700000" y="25676352"/>
            <a:ext cx="1188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0">
                <a:solidFill>
                  <a:srgbClr val="6B7E91"/>
                </a:solidFill>
                <a:latin typeface="Arial"/>
                <a:ea typeface="Arial"/>
                <a:cs typeface="Arial"/>
              </a:rPr>
              <a:t>Failures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2095EF3-F3D4-F931-A732-25F63D18ED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3122" y="24822185"/>
            <a:ext cx="3023630" cy="302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1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9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9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9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100000" fill="hold"/>
                                        <p:tgtEl>
                                          <p:spTgt spid="9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19255</Words>
  <Application>Microsoft Office PowerPoint</Application>
  <DocSecurity>0</DocSecurity>
  <PresentationFormat>自定义</PresentationFormat>
  <Paragraphs>249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 Gundom</cp:lastModifiedBy>
  <cp:revision>7</cp:revision>
  <dcterms:created xsi:type="dcterms:W3CDTF">2026-10-01T12:23:07Z</dcterms:created>
  <dcterms:modified xsi:type="dcterms:W3CDTF">2026-10-02T11:11:53Z</dcterms:modified>
</cp:coreProperties>
</file>